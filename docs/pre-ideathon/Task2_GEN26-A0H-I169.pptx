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6" r:id="rId1"/>
  </p:sldMasterIdLst>
  <p:notesMasterIdLst>
    <p:notesMasterId r:id="rId10"/>
  </p:notesMasterIdLst>
  <p:sldIdLst>
    <p:sldId id="269" r:id="rId2"/>
    <p:sldId id="270" r:id="rId3"/>
    <p:sldId id="258" r:id="rId4"/>
    <p:sldId id="259" r:id="rId5"/>
    <p:sldId id="260" r:id="rId6"/>
    <p:sldId id="273" r:id="rId7"/>
    <p:sldId id="272" r:id="rId8"/>
    <p:sldId id="274"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enesis Ideathon" id="{738414BB-E90B-39D7-38DA-935763612684}">
          <p14:sldIdLst>
            <p14:sldId id="269"/>
            <p14:sldId id="270"/>
            <p14:sldId id="258"/>
            <p14:sldId id="259"/>
            <p14:sldId id="260"/>
            <p14:sldId id="273"/>
            <p14:sldId id="272"/>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413"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51981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problem: small farmers plant before they know who will buy or at what price, so agents set the terms at harvest. FLORAVISION flips that: buyers post demand and commit before planting. Domain 5 is Food Security, Agriculture and Rural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problem in one breath: farmers plant blind. Buyers have the mirror problem: they cannot commit early safely. Then give the three research points. More buyer competition raised farm-gate prices by about 6.4% per standard deviation (Chatterjee 2023). Price data alone changed nothing on average for West Bengal potato farmers (Mitra et al. 2018). Direct buyer access raised soy prices (Goyal 2010). Land on: buyers commit before planting.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users are small farmers and farmer groups. Secondary stakeholders include institutional buyers, agents who can become delivery partners, and transport and payment providers. 86% of about 146 million holdings are under 2 hectares (Agriculture Census 2015-16). Name the pilot: one farmer group near Coimbatore.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steps quickly. The point: the price is decided at harvest, when the farmer has the least power. Agents are not villains: farmers lean on them for loans and quick cash. eNAM digitised the mandi, but bidding still starts after produce arrives. In the West Bengal potato study middlemen kept large margins.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columns: difficulties, root causes, consequences. Key line: agents supply credit, cash and pick-up, and there is no trusted way to guarantee a deal between strangers. Evidence says informal deals break through side-selling and non-delivery (Barrett et al. 2012). End on the bar: the hard part is making a promise before planting safe for both sides.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each approach. Agents give credit and cash. eNAM works at harvest. Contract farming gains are uneven and non-compliance is significant. Price apps alone did not raise average prices. Our gap: a small farmer cannot know before planting that a buyer has committed with the money protected. If asked about private agri-marketplaces, say we differ on pre-planting commitment and escrow, and check their current offerings first.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side: each insight leads to a design choice. Right side: what we need. Be clear this is a software-only prototype. Mention the roadmap in one breath: photo quality grading, price forecasts, weather alerts, disease detection.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six-step loop: post, plan, accept, grow, deliver, settle. Then the outcomes. The pilot targets are our starting goals and we will refine them after talking to farmers and buyers. Close: certainty and trust before planting.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GENESIS COVER">
    <p:bg>
      <p:bgPr>
        <a:solidFill>
          <a:schemeClr val="tx2"/>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GENESIS CONTENT">
    <p:bg>
      <p:bgPr>
        <a:solidFill>
          <a:schemeClr val="bg2"/>
        </a:solidFill>
        <a:effectLst/>
      </p:bgPr>
    </p:bg>
    <p:spTree>
      <p:nvGrpSpPr>
        <p:cNvPr id="1" name=""/>
        <p:cNvGrpSpPr/>
        <p:nvPr/>
      </p:nvGrpSpPr>
      <p:grpSpPr>
        <a:xfrm>
          <a:off x="0" y="0"/>
          <a:ext cx="0" cy="0"/>
          <a:chOff x="0" y="0"/>
          <a:chExt cx="0" cy="0"/>
        </a:xfrm>
      </p:grpSpPr>
      <p:sp>
        <p:nvSpPr>
          <p:cNvPr id="2" name="Text 0"/>
          <p:cNvSpPr/>
          <p:nvPr/>
        </p:nvSpPr>
        <p:spPr>
          <a:xfrm>
            <a:off x="10911535" y="320040"/>
            <a:ext cx="822960" cy="822960"/>
          </a:xfrm>
          <a:prstGeom prst="roundRect">
            <a:avLst>
              <a:gd name="adj" fmla="val 13333"/>
            </a:avLst>
          </a:prstGeom>
          <a:solidFill>
            <a:schemeClr val="bg1"/>
          </a:solidFill>
          <a:ln w="9525">
            <a:solidFill>
              <a:schemeClr val="accent6"/>
            </a:solidFill>
          </a:ln>
        </p:spPr>
        <p:txBody>
          <a:bodyPr wrap="square" rtlCol="0" anchor="ctr"/>
          <a:lstStyle/>
          <a:p>
            <a:pPr marL="0" indent="0">
              <a:buNone/>
            </a:pPr>
            <a:endParaRPr lang="en-US" dirty="0"/>
          </a:p>
        </p:txBody>
      </p:sp>
      <p:pic>
        <p:nvPicPr>
          <p:cNvPr id="3" name="Image 0" descr="Genesis logo"/>
          <p:cNvPicPr>
            <a:picLocks noChangeAspect="1"/>
          </p:cNvPicPr>
          <p:nvPr/>
        </p:nvPicPr>
        <p:blipFill>
          <a:blip r:embed="rId2"/>
          <a:stretch>
            <a:fillRect/>
          </a:stretch>
        </p:blipFill>
        <p:spPr>
          <a:xfrm>
            <a:off x="11055950" y="384048"/>
            <a:ext cx="534131" cy="694944"/>
          </a:xfrm>
          <a:prstGeom prst="rect">
            <a:avLst/>
          </a:prstGeom>
        </p:spPr>
      </p:pic>
      <p:sp>
        <p:nvSpPr>
          <p:cNvPr id="4" name="Shape 1"/>
          <p:cNvSpPr/>
          <p:nvPr/>
        </p:nvSpPr>
        <p:spPr>
          <a:xfrm>
            <a:off x="0" y="6355080"/>
            <a:ext cx="12191695" cy="502920"/>
          </a:xfrm>
          <a:prstGeom prst="rect">
            <a:avLst/>
          </a:prstGeom>
          <a:solidFill>
            <a:schemeClr val="tx2"/>
          </a:solidFill>
          <a:ln/>
        </p:spPr>
        <p:txBody>
          <a:bodyPr/>
          <a:lstStyle/>
          <a:p>
            <a:endParaRPr lang="en-IN"/>
          </a:p>
        </p:txBody>
      </p:sp>
      <p:sp>
        <p:nvSpPr>
          <p:cNvPr id="5" name="Text 2"/>
          <p:cNvSpPr/>
          <p:nvPr/>
        </p:nvSpPr>
        <p:spPr>
          <a:xfrm>
            <a:off x="2286000" y="6355080"/>
            <a:ext cx="7619695" cy="502920"/>
          </a:xfrm>
          <a:prstGeom prst="rect">
            <a:avLst/>
          </a:prstGeom>
          <a:noFill/>
          <a:ln/>
        </p:spPr>
        <p:txBody>
          <a:bodyPr wrap="square" lIns="0" tIns="0" rIns="0" bIns="0" rtlCol="0" anchor="ctr"/>
          <a:lstStyle/>
          <a:p>
            <a:pPr marL="0" indent="0" algn="ctr">
              <a:buNone/>
            </a:pPr>
            <a:r>
              <a:rPr lang="en-US" sz="1050" kern="0" spc="100" dirty="0">
                <a:solidFill>
                  <a:schemeClr val="accent6"/>
                </a:solidFill>
              </a:rPr>
              <a:t>Genesis Ideathon · Team Comet 502</a:t>
            </a:r>
            <a:endParaRPr lang="en-US" sz="1050" dirty="0"/>
          </a:p>
        </p:txBody>
      </p:sp>
      <p:sp>
        <p:nvSpPr>
          <p:cNvPr id="6" name="Text 3"/>
          <p:cNvSpPr/>
          <p:nvPr/>
        </p:nvSpPr>
        <p:spPr>
          <a:xfrm>
            <a:off x="11259007" y="6409944"/>
            <a:ext cx="457200" cy="395935"/>
          </a:xfrm>
          <a:prstGeom prst="hexagon">
            <a:avLst/>
          </a:prstGeom>
          <a:solidFill>
            <a:schemeClr val="accent3"/>
          </a:solidFill>
          <a:ln/>
        </p:spPr>
        <p:txBody>
          <a:bodyPr wrap="square" rtlCol="0" anchor="ctr"/>
          <a:lstStyle/>
          <a:p>
            <a:pPr marL="0" indent="0">
              <a:buNone/>
            </a:pPr>
            <a:endParaRPr lang="en-US" dirty="0"/>
          </a:p>
        </p:txBody>
      </p:sp>
      <p:sp>
        <p:nvSpPr>
          <p:cNvPr id="7" name="Text 4"/>
          <p:cNvSpPr/>
          <p:nvPr/>
        </p:nvSpPr>
        <p:spPr>
          <a:xfrm rot="5400000">
            <a:off x="10610311" y="4686300"/>
            <a:ext cx="1425408" cy="1234440"/>
          </a:xfrm>
          <a:prstGeom prst="hexagon">
            <a:avLst/>
          </a:prstGeom>
          <a:ln w="15875">
            <a:solidFill>
              <a:schemeClr val="accent4">
                <a:alpha val="28000"/>
              </a:schemeClr>
            </a:solidFill>
          </a:ln>
        </p:spPr>
        <p:txBody>
          <a:bodyPr wrap="square" rtlCol="0" anchor="ctr"/>
          <a:lstStyle/>
          <a:p>
            <a:pPr marL="0" indent="0">
              <a:buNone/>
            </a:pPr>
            <a:endParaRPr lang="en-US" dirty="0"/>
          </a:p>
        </p:txBody>
      </p:sp>
      <p:sp>
        <p:nvSpPr>
          <p:cNvPr id="8" name="Text 5"/>
          <p:cNvSpPr/>
          <p:nvPr/>
        </p:nvSpPr>
        <p:spPr>
          <a:xfrm rot="5400000">
            <a:off x="9750599" y="5349240"/>
            <a:ext cx="950272" cy="822960"/>
          </a:xfrm>
          <a:prstGeom prst="hexagon">
            <a:avLst/>
          </a:prstGeom>
          <a:ln w="15875">
            <a:solidFill>
              <a:schemeClr val="accent4">
                <a:alpha val="20000"/>
              </a:schemeClr>
            </a:solidFill>
          </a:ln>
        </p:spPr>
        <p:txBody>
          <a:bodyPr wrap="square" rtlCol="0" anchor="ctr"/>
          <a:lstStyle/>
          <a:p>
            <a:pPr marL="0" indent="0">
              <a:buNone/>
            </a:pPr>
            <a:endParaRPr lang="en-US" dirty="0"/>
          </a:p>
        </p:txBody>
      </p:sp>
      <p:sp>
        <p:nvSpPr>
          <p:cNvPr id="9" name="Text 6"/>
          <p:cNvSpPr/>
          <p:nvPr/>
        </p:nvSpPr>
        <p:spPr>
          <a:xfrm rot="5400000">
            <a:off x="11579399" y="3840480"/>
            <a:ext cx="950272" cy="822960"/>
          </a:xfrm>
          <a:prstGeom prst="hexagon">
            <a:avLst/>
          </a:prstGeom>
          <a:ln w="15875">
            <a:solidFill>
              <a:schemeClr val="accent4">
                <a:alpha val="18000"/>
              </a:schemeClr>
            </a:solidFill>
          </a:ln>
        </p:spPr>
        <p:txBody>
          <a:bodyPr wrap="square" rtlCol="0" anchor="ctr"/>
          <a:lstStyle/>
          <a:p>
            <a:pPr marL="0" indent="0">
              <a:buNone/>
            </a:pPr>
            <a:endParaRPr lang="en-US" dirty="0"/>
          </a:p>
        </p:txBody>
      </p:sp>
      <p:sp>
        <p:nvSpPr>
          <p:cNvPr id="10" name="Text 7"/>
          <p:cNvSpPr>
            <a:spLocks noGrp="1"/>
          </p:cNvSpPr>
          <p:nvPr>
            <p:ph type="title" idx="108" hasCustomPrompt="1"/>
          </p:nvPr>
        </p:nvSpPr>
        <p:spPr>
          <a:xfrm>
            <a:off x="3246120" y="320040"/>
            <a:ext cx="7498080" cy="822960"/>
          </a:xfrm>
          <a:prstGeom prst="rect">
            <a:avLst/>
          </a:prstGeom>
          <a:noFill/>
          <a:ln/>
        </p:spPr>
        <p:txBody>
          <a:bodyPr wrap="square" rtlCol="0"/>
          <a:lstStyle>
            <a:lvl1pPr marL="0" indent="0" algn="ctr">
              <a:buNone/>
              <a:defRPr lang="en-US" sz="2400" b="1" kern="0" spc="100" dirty="0">
                <a:solidFill>
                  <a:schemeClr val="tx2"/>
                </a:solidFill>
                <a:latin typeface="Cambria" pitchFamily="34" charset="0"/>
                <a:ea typeface="Cambria" pitchFamily="34" charset="-122"/>
                <a:cs typeface="Cambria" pitchFamily="34" charset="-120"/>
              </a:defRPr>
            </a:lvl1pPr>
          </a:lstStyle>
          <a:p>
            <a:pPr marL="0" indent="0" algn="ctr">
              <a:buNone/>
            </a:pPr>
            <a:r>
              <a:rPr lang="en-US" sz="2400" b="1" kern="0" spc="100" dirty="0">
                <a:solidFill>
                  <a:schemeClr val="tx2"/>
                </a:solidFill>
                <a:latin typeface="Cambria" pitchFamily="34" charset="0"/>
                <a:ea typeface="Cambria" pitchFamily="34" charset="-122"/>
                <a:cs typeface="Cambria" pitchFamily="34" charset="-120"/>
              </a:rPr>
              <a:t>SLIDE TITLE</a:t>
            </a:r>
            <a:endParaRPr lang="en-US" sz="2400" dirty="0"/>
          </a:p>
        </p:txBody>
      </p:sp>
      <p:sp>
        <p:nvSpPr>
          <p:cNvPr id="25" name="Slide Number Placeholder 0"/>
          <p:cNvSpPr>
            <a:spLocks noGrp="1"/>
          </p:cNvSpPr>
          <p:nvPr>
            <p:ph type="sldNum" sz="quarter" idx="4294967295"/>
          </p:nvPr>
        </p:nvSpPr>
        <p:spPr>
          <a:xfrm>
            <a:off x="11259007" y="6409944"/>
            <a:ext cx="457200" cy="395935"/>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100">
                <a:solidFill>
                  <a:schemeClr val="tx2"/>
                </a:solidFill>
                <a:latin typeface="Calibri"/>
                <a:ea typeface="Calibri"/>
                <a:cs typeface="Calibri"/>
              </a:defRPr>
            </a:lvl1pPr>
          </a:lstStyle>
          <a:p>
            <a:pPr algn="ctr"/>
            <a:fld id="{F7021451-1387-4CA6-816F-3879F97B5CBC}" type="slidenum">
              <a:rPr lang="en-US" b="1"/>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59007" y="6409944"/>
            <a:ext cx="457200" cy="395935"/>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100">
                <a:solidFill>
                  <a:schemeClr val="tx2"/>
                </a:solidFill>
                <a:latin typeface="Calibri"/>
                <a:ea typeface="Calibri"/>
                <a:cs typeface="Calibri"/>
              </a:defRPr>
            </a:lvl1pPr>
          </a:lstStyle>
          <a:p>
            <a:pPr algn="ct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ver Hexagon"/>
          <p:cNvSpPr/>
          <p:nvPr/>
        </p:nvSpPr>
        <p:spPr>
          <a:xfrm rot="5400000">
            <a:off x="8841585" y="-1222527"/>
            <a:ext cx="3695502" cy="3200400"/>
          </a:xfrm>
          <a:prstGeom prst="hexagon">
            <a:avLst/>
          </a:prstGeom>
          <a:ln w="15875">
            <a:solidFill>
              <a:schemeClr val="accent4">
                <a:alpha val="50000"/>
              </a:schemeClr>
            </a:solidFill>
            <a:prstDash val="solid"/>
          </a:ln>
        </p:spPr>
        <p:txBody>
          <a:bodyPr/>
          <a:lstStyle/>
          <a:p>
            <a:endParaRPr lang="en-IN"/>
          </a:p>
        </p:txBody>
      </p:sp>
      <p:sp>
        <p:nvSpPr>
          <p:cNvPr id="3" name="Cover Hexagon"/>
          <p:cNvSpPr/>
          <p:nvPr/>
        </p:nvSpPr>
        <p:spPr>
          <a:xfrm rot="5400000">
            <a:off x="10524081" y="1691640"/>
            <a:ext cx="3695502" cy="3200400"/>
          </a:xfrm>
          <a:prstGeom prst="hexagon">
            <a:avLst/>
          </a:prstGeom>
          <a:solidFill>
            <a:schemeClr val="accent1">
              <a:alpha val="25000"/>
            </a:schemeClr>
          </a:solidFill>
          <a:ln w="15875">
            <a:solidFill>
              <a:schemeClr val="accent4">
                <a:alpha val="45000"/>
              </a:schemeClr>
            </a:solidFill>
            <a:prstDash val="solid"/>
          </a:ln>
        </p:spPr>
        <p:txBody>
          <a:bodyPr/>
          <a:lstStyle/>
          <a:p>
            <a:endParaRPr lang="en-IN"/>
          </a:p>
        </p:txBody>
      </p:sp>
      <p:sp>
        <p:nvSpPr>
          <p:cNvPr id="4" name="Cover Hexagon"/>
          <p:cNvSpPr/>
          <p:nvPr/>
        </p:nvSpPr>
        <p:spPr>
          <a:xfrm rot="5400000">
            <a:off x="8841585" y="4605807"/>
            <a:ext cx="3695502" cy="3200400"/>
          </a:xfrm>
          <a:prstGeom prst="hexagon">
            <a:avLst/>
          </a:prstGeom>
          <a:ln w="15875">
            <a:solidFill>
              <a:schemeClr val="accent4">
                <a:alpha val="50000"/>
              </a:schemeClr>
            </a:solidFill>
            <a:prstDash val="solid"/>
          </a:ln>
        </p:spPr>
        <p:txBody>
          <a:bodyPr/>
          <a:lstStyle/>
          <a:p>
            <a:endParaRPr lang="en-IN"/>
          </a:p>
        </p:txBody>
      </p:sp>
      <p:sp>
        <p:nvSpPr>
          <p:cNvPr id="5" name="Cover Hexagon"/>
          <p:cNvSpPr/>
          <p:nvPr/>
        </p:nvSpPr>
        <p:spPr>
          <a:xfrm rot="5400000">
            <a:off x="6613359" y="3177540"/>
            <a:ext cx="580722" cy="502920"/>
          </a:xfrm>
          <a:prstGeom prst="hexagon">
            <a:avLst/>
          </a:prstGeom>
          <a:solidFill>
            <a:schemeClr val="accent3"/>
          </a:solidFill>
          <a:ln/>
        </p:spPr>
        <p:txBody>
          <a:bodyPr/>
          <a:lstStyle/>
          <a:p>
            <a:endParaRPr lang="en-IN"/>
          </a:p>
        </p:txBody>
      </p:sp>
      <p:sp>
        <p:nvSpPr>
          <p:cNvPr id="6" name="Cover Hexagon"/>
          <p:cNvSpPr/>
          <p:nvPr/>
        </p:nvSpPr>
        <p:spPr>
          <a:xfrm rot="5400000">
            <a:off x="10849583" y="1728216"/>
            <a:ext cx="337874" cy="292608"/>
          </a:xfrm>
          <a:prstGeom prst="hexagon">
            <a:avLst/>
          </a:prstGeom>
          <a:solidFill>
            <a:schemeClr val="accent3">
              <a:alpha val="70000"/>
            </a:schemeClr>
          </a:solidFill>
          <a:ln/>
        </p:spPr>
        <p:txBody>
          <a:bodyPr/>
          <a:lstStyle/>
          <a:p>
            <a:endParaRPr lang="en-IN"/>
          </a:p>
        </p:txBody>
      </p:sp>
      <p:sp>
        <p:nvSpPr>
          <p:cNvPr id="7" name="Cover Hexagon"/>
          <p:cNvSpPr/>
          <p:nvPr/>
        </p:nvSpPr>
        <p:spPr>
          <a:xfrm rot="5400000">
            <a:off x="6868728" y="1440180"/>
            <a:ext cx="4276224" cy="3703320"/>
          </a:xfrm>
          <a:prstGeom prst="hexagon">
            <a:avLst/>
          </a:prstGeom>
          <a:solidFill>
            <a:schemeClr val="accent1">
              <a:alpha val="45000"/>
            </a:schemeClr>
          </a:solidFill>
          <a:ln/>
        </p:spPr>
        <p:txBody>
          <a:bodyPr/>
          <a:lstStyle/>
          <a:p>
            <a:endParaRPr lang="en-IN"/>
          </a:p>
        </p:txBody>
      </p:sp>
      <p:sp>
        <p:nvSpPr>
          <p:cNvPr id="8" name="Cover Hexagon"/>
          <p:cNvSpPr/>
          <p:nvPr/>
        </p:nvSpPr>
        <p:spPr>
          <a:xfrm rot="5400000">
            <a:off x="6755697" y="4800600"/>
            <a:ext cx="844686" cy="731520"/>
          </a:xfrm>
          <a:prstGeom prst="hexagon">
            <a:avLst/>
          </a:prstGeom>
          <a:ln w="19050">
            <a:solidFill>
              <a:schemeClr val="accent3">
                <a:alpha val="65000"/>
              </a:schemeClr>
            </a:solidFill>
            <a:prstDash val="solid"/>
          </a:ln>
        </p:spPr>
        <p:txBody>
          <a:bodyPr/>
          <a:lstStyle/>
          <a:p>
            <a:endParaRPr lang="en-IN"/>
          </a:p>
        </p:txBody>
      </p:sp>
      <p:sp>
        <p:nvSpPr>
          <p:cNvPr id="9" name="Cover Hexagon"/>
          <p:cNvSpPr/>
          <p:nvPr/>
        </p:nvSpPr>
        <p:spPr>
          <a:xfrm rot="5400000">
            <a:off x="7159089" y="1691640"/>
            <a:ext cx="3695502" cy="3200400"/>
          </a:xfrm>
          <a:prstGeom prst="hexagon">
            <a:avLst/>
          </a:prstGeom>
          <a:solidFill>
            <a:schemeClr val="bg1"/>
          </a:solidFill>
          <a:ln w="38100">
            <a:solidFill>
              <a:schemeClr val="accent3"/>
            </a:solidFill>
            <a:prstDash val="solid"/>
          </a:ln>
        </p:spPr>
        <p:txBody>
          <a:bodyPr/>
          <a:lstStyle/>
          <a:p>
            <a:endParaRPr lang="en-IN"/>
          </a:p>
        </p:txBody>
      </p:sp>
      <p:pic>
        <p:nvPicPr>
          <p:cNvPr id="10" name="Genesis Logo" descr="Genesis logo"/>
          <p:cNvPicPr>
            <a:picLocks noChangeAspect="1"/>
          </p:cNvPicPr>
          <p:nvPr/>
        </p:nvPicPr>
        <p:blipFill>
          <a:blip r:embed="rId3"/>
          <a:stretch>
            <a:fillRect/>
          </a:stretch>
        </p:blipFill>
        <p:spPr>
          <a:xfrm>
            <a:off x="8110766" y="2125980"/>
            <a:ext cx="1792148" cy="2331720"/>
          </a:xfrm>
          <a:prstGeom prst="rect">
            <a:avLst/>
          </a:prstGeom>
        </p:spPr>
      </p:pic>
      <p:sp>
        <p:nvSpPr>
          <p:cNvPr id="11" name="Kicker"/>
          <p:cNvSpPr txBox="1"/>
          <p:nvPr/>
        </p:nvSpPr>
        <p:spPr>
          <a:xfrm>
            <a:off x="549528" y="91440"/>
            <a:ext cx="5303520" cy="320040"/>
          </a:xfrm>
          <a:prstGeom prst="rect">
            <a:avLst/>
          </a:prstGeom>
          <a:noFill/>
          <a:ln/>
        </p:spPr>
        <p:txBody>
          <a:bodyPr wrap="square" lIns="0" tIns="0" rIns="0" bIns="0" rtlCol="0" anchor="ctr"/>
          <a:lstStyle/>
          <a:p>
            <a:pPr marL="0" indent="0">
              <a:buNone/>
            </a:pPr>
            <a:endParaRPr lang="en-US" sz="1200" dirty="0"/>
          </a:p>
        </p:txBody>
      </p:sp>
      <p:sp>
        <p:nvSpPr>
          <p:cNvPr id="12" name="Event Title"/>
          <p:cNvSpPr txBox="1"/>
          <p:nvPr/>
        </p:nvSpPr>
        <p:spPr>
          <a:xfrm>
            <a:off x="502920" y="274320"/>
            <a:ext cx="5669280" cy="1600200"/>
          </a:xfrm>
          <a:prstGeom prst="rect">
            <a:avLst/>
          </a:prstGeom>
          <a:noFill/>
          <a:ln/>
        </p:spPr>
        <p:txBody>
          <a:bodyPr wrap="square" lIns="0" tIns="0" rIns="0" bIns="0" rtlCol="0" anchor="t"/>
          <a:lstStyle/>
          <a:p>
            <a:pPr marL="0" indent="0">
              <a:lnSpc>
                <a:spcPct val="90000"/>
              </a:lnSpc>
              <a:buNone/>
            </a:pPr>
            <a:r>
              <a:rPr lang="en-US" sz="5400" b="1" kern="0" spc="200" dirty="0">
                <a:solidFill>
                  <a:schemeClr val="bg1"/>
                </a:solidFill>
                <a:latin typeface="Cambria" pitchFamily="34" charset="0"/>
                <a:ea typeface="Cambria" pitchFamily="34" charset="-122"/>
                <a:cs typeface="Cambria" pitchFamily="34" charset="-120"/>
              </a:rPr>
              <a:t>GENESIS</a:t>
            </a:r>
            <a:endParaRPr lang="en-US" sz="5400" dirty="0"/>
          </a:p>
          <a:p>
            <a:pPr marL="0" indent="0">
              <a:lnSpc>
                <a:spcPct val="90000"/>
              </a:lnSpc>
              <a:buNone/>
            </a:pPr>
            <a:r>
              <a:rPr lang="en-US" sz="5400" b="1" kern="0" spc="200" dirty="0">
                <a:solidFill>
                  <a:schemeClr val="accent3"/>
                </a:solidFill>
                <a:latin typeface="Cambria" pitchFamily="34" charset="0"/>
                <a:ea typeface="Cambria" pitchFamily="34" charset="-122"/>
                <a:cs typeface="Cambria" pitchFamily="34" charset="-120"/>
              </a:rPr>
              <a:t>IDEATHON</a:t>
            </a:r>
            <a:endParaRPr lang="en-US" sz="5400" dirty="0"/>
          </a:p>
        </p:txBody>
      </p:sp>
      <p:sp>
        <p:nvSpPr>
          <p:cNvPr id="13" name="Section Chip"/>
          <p:cNvSpPr/>
          <p:nvPr/>
        </p:nvSpPr>
        <p:spPr>
          <a:xfrm>
            <a:off x="502920" y="1741932"/>
            <a:ext cx="2103120" cy="384048"/>
          </a:xfrm>
          <a:prstGeom prst="roundRect">
            <a:avLst>
              <a:gd name="adj" fmla="val 50000"/>
            </a:avLst>
          </a:prstGeom>
          <a:ln w="15875">
            <a:solidFill>
              <a:schemeClr val="accent3"/>
            </a:solidFill>
          </a:ln>
        </p:spPr>
        <p:txBody>
          <a:bodyPr wrap="square" lIns="0" tIns="0" rIns="0" bIns="0" rtlCol="0" anchor="ctr"/>
          <a:lstStyle/>
          <a:p>
            <a:pPr marL="0" indent="0" algn="ctr">
              <a:buNone/>
            </a:pPr>
            <a:r>
              <a:rPr lang="en-US" sz="1300" b="1" kern="0" spc="300" dirty="0">
                <a:solidFill>
                  <a:schemeClr val="bg1"/>
                </a:solidFill>
              </a:rPr>
              <a:t>TEAM &amp; DOMAIN</a:t>
            </a:r>
            <a:endParaRPr lang="en-US" sz="1300" dirty="0"/>
          </a:p>
        </p:txBody>
      </p:sp>
      <p:sp>
        <p:nvSpPr>
          <p:cNvPr id="14" name="Cover Lead"/>
          <p:cNvSpPr txBox="1"/>
          <p:nvPr/>
        </p:nvSpPr>
        <p:spPr>
          <a:xfrm>
            <a:off x="502920" y="2240280"/>
            <a:ext cx="5669280" cy="365760"/>
          </a:xfrm>
          <a:prstGeom prst="rect">
            <a:avLst/>
          </a:prstGeom>
          <a:noFill/>
          <a:ln/>
        </p:spPr>
        <p:txBody>
          <a:bodyPr wrap="square" lIns="0" tIns="0" rIns="0" bIns="0" rtlCol="0" anchor="ctr"/>
          <a:lstStyle/>
          <a:p>
            <a:pPr marL="0" indent="0">
              <a:buNone/>
            </a:pPr>
            <a:endParaRPr lang="en-US" sz="1600" dirty="0"/>
          </a:p>
        </p:txBody>
      </p:sp>
      <p:sp>
        <p:nvSpPr>
          <p:cNvPr id="15" name="Cover Fields"/>
          <p:cNvSpPr txBox="1"/>
          <p:nvPr/>
        </p:nvSpPr>
        <p:spPr>
          <a:xfrm>
            <a:off x="502920" y="2606040"/>
            <a:ext cx="6035040" cy="3566160"/>
          </a:xfrm>
          <a:prstGeom prst="rect">
            <a:avLst/>
          </a:prstGeom>
          <a:noFill/>
          <a:ln/>
        </p:spPr>
        <p:txBody>
          <a:bodyPr wrap="square" lIns="0" tIns="0" rIns="0" bIns="0" rtlCol="0" anchor="t"/>
          <a:lstStyle/>
          <a:p>
            <a:pPr marL="279400" indent="-279400">
              <a:spcAft>
                <a:spcPts val="1000"/>
              </a:spcAft>
              <a:buClr>
                <a:schemeClr val="accent3"/>
              </a:buClr>
              <a:buSzPct val="100000"/>
              <a:buChar char="•"/>
            </a:pPr>
            <a:r>
              <a:rPr lang="en-US" sz="1800" dirty="0">
                <a:solidFill>
                  <a:schemeClr val="bg1"/>
                </a:solidFill>
              </a:rPr>
              <a:t>Team Name – </a:t>
            </a:r>
            <a:r>
              <a:rPr lang="en-US" dirty="0">
                <a:solidFill>
                  <a:schemeClr val="bg1"/>
                </a:solidFill>
              </a:rPr>
              <a:t>C</a:t>
            </a:r>
            <a:r>
              <a:rPr lang="en-US" sz="1800" dirty="0">
                <a:solidFill>
                  <a:schemeClr val="bg1"/>
                </a:solidFill>
              </a:rPr>
              <a:t>omet 502</a:t>
            </a:r>
            <a:endParaRPr lang="en-US" sz="1800" dirty="0"/>
          </a:p>
          <a:p>
            <a:pPr marL="279400" indent="-279400">
              <a:spcAft>
                <a:spcPts val="1000"/>
              </a:spcAft>
              <a:buClr>
                <a:schemeClr val="accent3"/>
              </a:buClr>
              <a:buSzPct val="100000"/>
              <a:buChar char="•"/>
            </a:pPr>
            <a:r>
              <a:rPr lang="en-US" sz="1800" dirty="0">
                <a:solidFill>
                  <a:schemeClr val="bg1"/>
                </a:solidFill>
              </a:rPr>
              <a:t>Team Members –</a:t>
            </a:r>
            <a:br>
              <a:rPr lang="en-US" sz="1800" dirty="0">
                <a:solidFill>
                  <a:schemeClr val="bg1"/>
                </a:solidFill>
              </a:rPr>
            </a:br>
            <a:r>
              <a:rPr lang="en-US" sz="1600" dirty="0">
                <a:solidFill>
                  <a:schemeClr val="bg1"/>
                </a:solidFill>
              </a:rPr>
              <a:t>1. SHASUWANTH VEERASEKHARAN (CB.SC.U4AIE26062)</a:t>
            </a:r>
            <a:br>
              <a:rPr lang="en-US" sz="1600" dirty="0">
                <a:solidFill>
                  <a:schemeClr val="bg1"/>
                </a:solidFill>
              </a:rPr>
            </a:br>
            <a:r>
              <a:rPr lang="en-US" sz="1600" dirty="0">
                <a:solidFill>
                  <a:schemeClr val="bg1"/>
                </a:solidFill>
              </a:rPr>
              <a:t>2. MUHIL S (CB.SC.U4AIE26038)</a:t>
            </a:r>
            <a:br>
              <a:rPr lang="en-US" sz="1600" dirty="0">
                <a:solidFill>
                  <a:schemeClr val="bg1"/>
                </a:solidFill>
              </a:rPr>
            </a:br>
            <a:r>
              <a:rPr lang="en-US" sz="1600" dirty="0">
                <a:solidFill>
                  <a:schemeClr val="bg1"/>
                </a:solidFill>
              </a:rPr>
              <a:t>3. Moulik Gupta (CB.SC.U4AIE26035)</a:t>
            </a:r>
            <a:br>
              <a:rPr lang="en-US" sz="1600" dirty="0">
                <a:solidFill>
                  <a:schemeClr val="bg1"/>
                </a:solidFill>
              </a:rPr>
            </a:br>
            <a:r>
              <a:rPr lang="en-US" sz="1600" dirty="0">
                <a:solidFill>
                  <a:schemeClr val="bg1"/>
                </a:solidFill>
              </a:rPr>
              <a:t>4. AASHMAN SINGH (CB.SC.U4AIE26001)</a:t>
            </a:r>
            <a:endParaRPr lang="en-US" sz="1600" dirty="0"/>
          </a:p>
          <a:p>
            <a:pPr marL="279400" indent="-279400">
              <a:spcAft>
                <a:spcPts val="1000"/>
              </a:spcAft>
              <a:buClr>
                <a:schemeClr val="accent3"/>
              </a:buClr>
              <a:buSzPct val="100000"/>
              <a:buChar char="•"/>
            </a:pPr>
            <a:r>
              <a:rPr lang="en-US" sz="1800" dirty="0">
                <a:solidFill>
                  <a:schemeClr val="bg1"/>
                </a:solidFill>
              </a:rPr>
              <a:t>Selected Domain – 5  </a:t>
            </a:r>
            <a:r>
              <a:rPr lang="en-US" sz="1400" dirty="0">
                <a:solidFill>
                  <a:schemeClr val="bg1"/>
                </a:solidFill>
              </a:rPr>
              <a:t>Food Security, Agriculture &amp; Rural Transformation</a:t>
            </a:r>
            <a:endParaRPr lang="en-US" sz="1800" dirty="0"/>
          </a:p>
          <a:p>
            <a:pPr marL="279400" indent="-279400">
              <a:spcAft>
                <a:spcPts val="1000"/>
              </a:spcAft>
              <a:buClr>
                <a:schemeClr val="accent3"/>
              </a:buClr>
              <a:buSzPct val="100000"/>
              <a:buChar char="•"/>
            </a:pPr>
            <a:r>
              <a:rPr lang="en-US" sz="1800" dirty="0">
                <a:solidFill>
                  <a:schemeClr val="bg1"/>
                </a:solidFill>
              </a:rPr>
              <a:t>Problem Statement – </a:t>
            </a:r>
            <a:r>
              <a:rPr lang="en-US" sz="1400" dirty="0">
                <a:solidFill>
                  <a:schemeClr val="bg1"/>
                </a:solidFill>
              </a:rPr>
              <a:t>Small farmers make planting decisions without reliable information, on both the market side (who will buy, and at what price) and the farm side (soil, weather, crop health). Without that, they plant blind and agents set the terms at harvest. FLORAVISION lets buyers post demand and commit before planting, and gives farmers the data to plan what to grow and when.</a:t>
            </a:r>
            <a:endParaRPr lang="en-US" sz="1400" dirty="0"/>
          </a:p>
        </p:txBody>
      </p:sp>
    </p:spTree>
    <p:extLst>
      <p:ext uri="{BB962C8B-B14F-4D97-AF65-F5344CB8AC3E}">
        <p14:creationId xmlns:p14="http://schemas.microsoft.com/office/powerpoint/2010/main" val="11716124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7"/>
          <p:cNvSpPr>
            <a:spLocks noGrp="1"/>
          </p:cNvSpPr>
          <p:nvPr>
            <p:ph type="title" idx="108" hasCustomPrompt="1"/>
          </p:nvPr>
        </p:nvSpPr>
        <p:spPr>
          <a:prstGeom prst="rect">
            <a:avLst/>
          </a:prstGeom>
          <a:noFill/>
          <a:ln/>
        </p:spPr>
        <p:txBody>
          <a:bodyPr wrap="square" lIns="0" tIns="0" rIns="0" bIns="0" rtlCol="0" anchor="ctr"/>
          <a:lstStyle/>
          <a:p>
            <a:pPr marL="0" indent="0" algn="ctr">
              <a:buNone/>
            </a:pPr>
            <a:r>
              <a:rPr lang="en-US" sz="2400" b="1" kern="0" spc="100" dirty="0">
                <a:solidFill>
                  <a:schemeClr val="tx2"/>
                </a:solidFill>
                <a:latin typeface="Cambria" pitchFamily="34" charset="0"/>
                <a:ea typeface="Cambria" pitchFamily="34" charset="-122"/>
                <a:cs typeface="Cambria" pitchFamily="34" charset="-120"/>
              </a:rPr>
              <a:t>DOMAIN PROBLEM IN OUR WORDS</a:t>
            </a:r>
            <a:endParaRPr lang="en-US" sz="2400" dirty="0"/>
          </a:p>
        </p:txBody>
      </p:sp>
      <p:sp>
        <p:nvSpPr>
          <p:cNvPr id="25" name="Slide Number Placeholder 0"/>
          <p:cNvSpPr>
            <a:spLocks noGrp="1"/>
          </p:cNvSpPr>
          <p:nvPr>
            <p:ph type="sldNum" sz="quarter" idx="4294967295"/>
          </p:nvPr>
        </p:nvSpPr>
        <p:spPr>
          <a:xfrm>
            <a:off x="11259007" y="6409944"/>
            <a:ext cx="457200" cy="395935"/>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100">
                <a:solidFill>
                  <a:schemeClr val="tx2"/>
                </a:solidFill>
                <a:latin typeface="Calibri"/>
                <a:ea typeface="Calibri"/>
                <a:cs typeface="Calibri"/>
              </a:defRPr>
            </a:lvl1pPr>
          </a:lstStyle>
          <a:p>
            <a:pPr algn="ctr"/>
            <a:fld id="{F7021451-1387-4CA6-816F-3879F97B5CBC}" type="slidenum">
              <a:rPr lang="en-US" b="1"/>
              <a:t>2</a:t>
            </a:fld>
            <a:endParaRPr lang="en-US"/>
          </a:p>
        </p:txBody>
      </p:sp>
      <p:sp>
        <p:nvSpPr>
          <p:cNvPr id="3" name="Team Badge"/>
          <p:cNvSpPr/>
          <p:nvPr/>
        </p:nvSpPr>
        <p:spPr>
          <a:xfrm>
            <a:off x="457200" y="320040"/>
            <a:ext cx="2606040" cy="822960"/>
          </a:xfrm>
          <a:prstGeom prst="roundRect">
            <a:avLst>
              <a:gd name="adj" fmla="val 13333"/>
            </a:avLst>
          </a:prstGeom>
          <a:solidFill>
            <a:schemeClr val="bg1"/>
          </a:solidFill>
          <a:ln w="9525">
            <a:solidFill>
              <a:schemeClr val="accent6"/>
            </a:solidFill>
            <a:prstDash val="solid"/>
          </a:ln>
        </p:spPr>
        <p:txBody>
          <a:bodyPr/>
          <a:lstStyle/>
          <a:p>
            <a:endParaRPr lang="en-IN"/>
          </a:p>
        </p:txBody>
      </p:sp>
      <p:sp>
        <p:nvSpPr>
          <p:cNvPr id="4" name="Team Icon Hex"/>
          <p:cNvSpPr/>
          <p:nvPr/>
        </p:nvSpPr>
        <p:spPr>
          <a:xfrm>
            <a:off x="603504" y="457200"/>
            <a:ext cx="630936" cy="548640"/>
          </a:xfrm>
          <a:prstGeom prst="hexagon">
            <a:avLst/>
          </a:prstGeom>
          <a:solidFill>
            <a:schemeClr val="bg2"/>
          </a:solidFill>
          <a:ln w="9525">
            <a:solidFill>
              <a:schemeClr val="accent6"/>
            </a:solidFill>
            <a:prstDash val="solid"/>
          </a:ln>
        </p:spPr>
        <p:txBody>
          <a:bodyPr/>
          <a:lstStyle/>
          <a:p>
            <a:endParaRPr lang="en-IN"/>
          </a:p>
        </p:txBody>
      </p:sp>
      <p:pic>
        <p:nvPicPr>
          <p:cNvPr id="5" name="Team Icon" descr="Team icon"/>
          <p:cNvPicPr>
            <a:picLocks noChangeAspect="1"/>
          </p:cNvPicPr>
          <p:nvPr/>
        </p:nvPicPr>
        <p:blipFill>
          <a:blip r:embed="rId3"/>
          <a:stretch>
            <a:fillRect/>
          </a:stretch>
        </p:blipFill>
        <p:spPr>
          <a:xfrm>
            <a:off x="736092" y="548640"/>
            <a:ext cx="365760" cy="365760"/>
          </a:xfrm>
          <a:prstGeom prst="rect">
            <a:avLst/>
          </a:prstGeom>
        </p:spPr>
      </p:pic>
      <p:sp>
        <p:nvSpPr>
          <p:cNvPr id="6" name="Team Name"/>
          <p:cNvSpPr txBox="1"/>
          <p:nvPr/>
        </p:nvSpPr>
        <p:spPr>
          <a:xfrm>
            <a:off x="1371600" y="384048"/>
            <a:ext cx="1627632" cy="694944"/>
          </a:xfrm>
          <a:prstGeom prst="rect">
            <a:avLst/>
          </a:prstGeom>
          <a:noFill/>
          <a:ln/>
        </p:spPr>
        <p:txBody>
          <a:bodyPr wrap="square" lIns="0" tIns="0" rIns="0" bIns="0" rtlCol="0" anchor="ctr">
            <a:normAutofit/>
          </a:bodyPr>
          <a:lstStyle/>
          <a:p>
            <a:pPr marL="0" indent="0">
              <a:buNone/>
            </a:pPr>
            <a:r>
              <a:rPr lang="en-US" sz="900" b="1" kern="0" spc="300" dirty="0">
                <a:solidFill>
                  <a:schemeClr val="accent5"/>
                </a:solidFill>
              </a:rPr>
              <a:t>TEAM</a:t>
            </a:r>
          </a:p>
          <a:p>
            <a:pPr marL="0" indent="0">
              <a:buNone/>
            </a:pPr>
            <a:r>
              <a:rPr lang="en-US" sz="1500" b="1" dirty="0">
                <a:solidFill>
                  <a:schemeClr val="accent1"/>
                </a:solidFill>
              </a:rPr>
              <a:t>COMET 502</a:t>
            </a:r>
            <a:endParaRPr lang="en-US" sz="900" dirty="0"/>
          </a:p>
        </p:txBody>
      </p:sp>
      <p:sp>
        <p:nvSpPr>
          <p:cNvPr id="7" name="Lead Icon Hex"/>
          <p:cNvSpPr/>
          <p:nvPr/>
        </p:nvSpPr>
        <p:spPr>
          <a:xfrm>
            <a:off x="548640" y="1463040"/>
            <a:ext cx="457200" cy="395935"/>
          </a:xfrm>
          <a:prstGeom prst="hexagon">
            <a:avLst/>
          </a:prstGeom>
          <a:solidFill>
            <a:schemeClr val="accent3"/>
          </a:solidFill>
          <a:ln/>
        </p:spPr>
        <p:txBody>
          <a:bodyPr/>
          <a:lstStyle/>
          <a:p>
            <a:endParaRPr lang="en-IN" dirty="0"/>
          </a:p>
        </p:txBody>
      </p:sp>
      <p:pic>
        <p:nvPicPr>
          <p:cNvPr id="8" name="Lead Icon" descr="Lightbulb icon"/>
          <p:cNvPicPr>
            <a:picLocks noChangeAspect="1"/>
          </p:cNvPicPr>
          <p:nvPr/>
        </p:nvPicPr>
        <p:blipFill>
          <a:blip r:embed="rId4"/>
          <a:stretch>
            <a:fillRect/>
          </a:stretch>
        </p:blipFill>
        <p:spPr>
          <a:xfrm>
            <a:off x="640080" y="1523390"/>
            <a:ext cx="274320" cy="274320"/>
          </a:xfrm>
          <a:prstGeom prst="rect">
            <a:avLst/>
          </a:prstGeom>
        </p:spPr>
      </p:pic>
      <p:sp>
        <p:nvSpPr>
          <p:cNvPr id="9" name="Lead Text"/>
          <p:cNvSpPr txBox="1"/>
          <p:nvPr/>
        </p:nvSpPr>
        <p:spPr>
          <a:xfrm>
            <a:off x="1170432" y="1417320"/>
            <a:ext cx="9601200" cy="502920"/>
          </a:xfrm>
          <a:prstGeom prst="rect">
            <a:avLst/>
          </a:prstGeom>
          <a:noFill/>
          <a:ln/>
        </p:spPr>
        <p:txBody>
          <a:bodyPr wrap="square" lIns="0" tIns="0" rIns="0" bIns="0" rtlCol="0" anchor="ctr"/>
          <a:lstStyle/>
          <a:p>
            <a:pPr marL="0" indent="0">
              <a:buNone/>
            </a:pPr>
            <a:r>
              <a:rPr lang="en-US" sz="1800" b="1" dirty="0">
                <a:solidFill>
                  <a:schemeClr val="accent2"/>
                </a:solidFill>
              </a:rPr>
              <a:t>The problem we are solving, and why it matters now</a:t>
            </a:r>
            <a:endParaRPr lang="en-US" sz="1800" dirty="0"/>
          </a:p>
        </p:txBody>
      </p:sp>
      <p:sp>
        <p:nvSpPr>
          <p:cNvPr id="101" name="Problem Card"/>
          <p:cNvSpPr/>
          <p:nvPr/>
        </p:nvSpPr>
        <p:spPr>
          <a:xfrm>
            <a:off x="594360" y="2057400"/>
            <a:ext cx="5440680" cy="4160520"/>
          </a:xfrm>
          <a:prstGeom prst="roundRect">
            <a:avLst>
              <a:gd name="adj" fmla="val 2637"/>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2" name="Problem Text"/>
          <p:cNvSpPr txBox="1"/>
          <p:nvPr/>
        </p:nvSpPr>
        <p:spPr>
          <a:xfrm>
            <a:off x="868680" y="2286000"/>
            <a:ext cx="4892040" cy="2606040"/>
          </a:xfrm>
          <a:prstGeom prst="rect">
            <a:avLst/>
          </a:prstGeom>
          <a:noFill/>
          <a:ln>
            <a:noFill/>
          </a:ln>
        </p:spPr>
        <p:txBody>
          <a:bodyPr wrap="square" lIns="0" tIns="0" rIns="0" bIns="0" rtlCol="0" anchor="t">
            <a:noAutofit/>
          </a:bodyPr>
          <a:lstStyle/>
          <a:p>
            <a:pPr marL="0" indent="0" algn="l">
              <a:spcBef>
                <a:spcPts val="0"/>
              </a:spcBef>
              <a:spcAft>
                <a:spcPts val="400"/>
              </a:spcAft>
              <a:buNone/>
            </a:pPr>
            <a:r>
              <a:rPr lang="en-US" sz="1600" b="1" i="0" dirty="0">
                <a:solidFill>
                  <a:schemeClr val="accent1"/>
                </a:solidFill>
              </a:rPr>
              <a:t>What exactly needs to be solved?</a:t>
            </a:r>
          </a:p>
          <a:p>
            <a:pPr marL="0" indent="0" algn="l">
              <a:spcBef>
                <a:spcPts val="0"/>
              </a:spcBef>
              <a:spcAft>
                <a:spcPts val="1000"/>
              </a:spcAft>
              <a:buNone/>
            </a:pPr>
            <a:r>
              <a:rPr lang="en-US" sz="2200" b="1" i="0" dirty="0">
                <a:solidFill>
                  <a:schemeClr val="tx2"/>
                </a:solidFill>
              </a:rPr>
              <a:t>Small farmers plant blind: no confirmed buyer or price until harvest, so the agent sets the terms.</a:t>
            </a:r>
          </a:p>
          <a:p>
            <a:pPr marL="0" indent="0" algn="l">
              <a:spcBef>
                <a:spcPts val="0"/>
              </a:spcBef>
              <a:spcAft>
                <a:spcPts val="0"/>
              </a:spcAft>
              <a:buNone/>
            </a:pPr>
            <a:r>
              <a:rPr lang="en-US" sz="1600" b="0" i="0" dirty="0">
                <a:solidFill>
                  <a:schemeClr val="tx1"/>
                </a:solidFill>
              </a:rPr>
              <a:t>Buyers face the mirror problem. Restaurants, kitchens and retailers cannot commit early to a farmer without risking their money, so supply stays unreliable.</a:t>
            </a:r>
          </a:p>
        </p:txBody>
      </p:sp>
      <p:sp>
        <p:nvSpPr>
          <p:cNvPr id="103" name="Our Answer"/>
          <p:cNvSpPr/>
          <p:nvPr/>
        </p:nvSpPr>
        <p:spPr>
          <a:xfrm>
            <a:off x="868680" y="5029200"/>
            <a:ext cx="4892040" cy="914400"/>
          </a:xfrm>
          <a:prstGeom prst="roundRect">
            <a:avLst>
              <a:gd name="adj" fmla="val 12000"/>
            </a:avLst>
          </a:prstGeom>
          <a:solidFill>
            <a:schemeClr val="tx2"/>
          </a:solidFill>
          <a:ln>
            <a:noFill/>
          </a:ln>
        </p:spPr>
        <p:txBody>
          <a:bodyPr wrap="square" lIns="228600" tIns="73152" rIns="228600" bIns="73152" rtlCol="0" anchor="ctr">
            <a:noAutofit/>
          </a:bodyPr>
          <a:lstStyle/>
          <a:p>
            <a:pPr marL="0" indent="0" algn="l">
              <a:spcBef>
                <a:spcPts val="0"/>
              </a:spcBef>
              <a:spcAft>
                <a:spcPts val="0"/>
              </a:spcAft>
              <a:buNone/>
            </a:pPr>
            <a:r>
              <a:rPr lang="en-US" sz="1800" b="1" i="0" dirty="0">
                <a:solidFill>
                  <a:schemeClr val="accent3"/>
                </a:solidFill>
              </a:rPr>
              <a:t>Our answer: </a:t>
            </a:r>
            <a:r>
              <a:rPr lang="en-US" sz="1800" b="1" i="0" dirty="0">
                <a:solidFill>
                  <a:schemeClr val="bg1"/>
                </a:solidFill>
              </a:rPr>
              <a:t>buyers post demand and commit before planting.</a:t>
            </a:r>
          </a:p>
        </p:txBody>
      </p:sp>
      <p:sp>
        <p:nvSpPr>
          <p:cNvPr id="104" name="Why Now Heading"/>
          <p:cNvSpPr txBox="1"/>
          <p:nvPr/>
        </p:nvSpPr>
        <p:spPr>
          <a:xfrm>
            <a:off x="6309360" y="2057400"/>
            <a:ext cx="5212080" cy="292608"/>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600" b="1" i="0" dirty="0">
                <a:solidFill>
                  <a:schemeClr val="accent1"/>
                </a:solidFill>
              </a:rPr>
              <a:t>Why it matters now</a:t>
            </a:r>
          </a:p>
        </p:txBody>
      </p:sp>
      <p:sp>
        <p:nvSpPr>
          <p:cNvPr id="105" name="Evidence Tile 1"/>
          <p:cNvSpPr/>
          <p:nvPr/>
        </p:nvSpPr>
        <p:spPr>
          <a:xfrm>
            <a:off x="6309360" y="2468880"/>
            <a:ext cx="5285232" cy="1170432"/>
          </a:xfrm>
          <a:prstGeom prst="roundRect">
            <a:avLst>
              <a:gd name="adj" fmla="val 9375"/>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6" name="Evidence Stat 1"/>
          <p:cNvSpPr txBox="1"/>
          <p:nvPr/>
        </p:nvSpPr>
        <p:spPr>
          <a:xfrm>
            <a:off x="6446520" y="2468880"/>
            <a:ext cx="1600200" cy="1170432"/>
          </a:xfrm>
          <a:prstGeom prst="rect">
            <a:avLst/>
          </a:prstGeom>
          <a:noFill/>
          <a:ln>
            <a:noFill/>
          </a:ln>
        </p:spPr>
        <p:txBody>
          <a:bodyPr wrap="square" lIns="0" tIns="0" rIns="0" bIns="0" rtlCol="0" anchor="ctr">
            <a:noAutofit/>
          </a:bodyPr>
          <a:lstStyle/>
          <a:p>
            <a:pPr marL="0" indent="0" algn="ctr">
              <a:spcBef>
                <a:spcPts val="0"/>
              </a:spcBef>
              <a:spcAft>
                <a:spcPts val="0"/>
              </a:spcAft>
              <a:buNone/>
            </a:pPr>
            <a:r>
              <a:rPr lang="en-US" sz="2800" b="1" i="0" dirty="0">
                <a:solidFill>
                  <a:schemeClr val="accent1"/>
                </a:solidFill>
                <a:latin typeface="Cambria"/>
              </a:rPr>
              <a:t>+6.4%</a:t>
            </a:r>
          </a:p>
        </p:txBody>
      </p:sp>
      <p:sp>
        <p:nvSpPr>
          <p:cNvPr id="107" name="Evidence Text 1"/>
          <p:cNvSpPr txBox="1"/>
          <p:nvPr/>
        </p:nvSpPr>
        <p:spPr>
          <a:xfrm>
            <a:off x="8183880" y="2542032"/>
            <a:ext cx="3246120" cy="1024128"/>
          </a:xfrm>
          <a:prstGeom prst="rect">
            <a:avLst/>
          </a:prstGeom>
          <a:noFill/>
          <a:ln>
            <a:noFill/>
          </a:ln>
        </p:spPr>
        <p:txBody>
          <a:bodyPr wrap="square" lIns="0" tIns="0" rIns="0" bIns="0" rtlCol="0" anchor="ctr">
            <a:noAutofit/>
          </a:bodyPr>
          <a:lstStyle/>
          <a:p>
            <a:pPr marL="0" indent="0" algn="l">
              <a:spcBef>
                <a:spcPts val="0"/>
              </a:spcBef>
              <a:spcAft>
                <a:spcPts val="200"/>
              </a:spcAft>
              <a:buNone/>
            </a:pPr>
            <a:r>
              <a:rPr lang="en-US" sz="1400" b="0" i="0" dirty="0">
                <a:solidFill>
                  <a:schemeClr val="tx1"/>
                </a:solidFill>
              </a:rPr>
              <a:t>Farm-gate price gain for each standard deviation of extra competition among buyers in India.</a:t>
            </a:r>
          </a:p>
          <a:p>
            <a:pPr marL="0" indent="0" algn="l">
              <a:spcBef>
                <a:spcPts val="0"/>
              </a:spcBef>
              <a:spcAft>
                <a:spcPts val="0"/>
              </a:spcAft>
              <a:buNone/>
            </a:pPr>
            <a:r>
              <a:rPr lang="en-US" sz="1100" b="0" i="0" dirty="0">
                <a:solidFill>
                  <a:schemeClr val="accent5"/>
                </a:solidFill>
              </a:rPr>
              <a:t>Chatterjee, QJE 2023</a:t>
            </a:r>
          </a:p>
        </p:txBody>
      </p:sp>
      <p:sp>
        <p:nvSpPr>
          <p:cNvPr id="108" name="Evidence Tile 2"/>
          <p:cNvSpPr/>
          <p:nvPr/>
        </p:nvSpPr>
        <p:spPr>
          <a:xfrm>
            <a:off x="6309360" y="3749040"/>
            <a:ext cx="5285232" cy="1170432"/>
          </a:xfrm>
          <a:prstGeom prst="roundRect">
            <a:avLst>
              <a:gd name="adj" fmla="val 9375"/>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9" name="Evidence Stat 2"/>
          <p:cNvSpPr txBox="1"/>
          <p:nvPr/>
        </p:nvSpPr>
        <p:spPr>
          <a:xfrm>
            <a:off x="6446520" y="3749040"/>
            <a:ext cx="1600200" cy="1170432"/>
          </a:xfrm>
          <a:prstGeom prst="rect">
            <a:avLst/>
          </a:prstGeom>
          <a:noFill/>
          <a:ln>
            <a:noFill/>
          </a:ln>
        </p:spPr>
        <p:txBody>
          <a:bodyPr wrap="square" lIns="0" tIns="0" rIns="0" bIns="0" rtlCol="0" anchor="ctr">
            <a:noAutofit/>
          </a:bodyPr>
          <a:lstStyle/>
          <a:p>
            <a:pPr marL="0" indent="0" algn="ctr">
              <a:spcBef>
                <a:spcPts val="0"/>
              </a:spcBef>
              <a:spcAft>
                <a:spcPts val="0"/>
              </a:spcAft>
              <a:buNone/>
            </a:pPr>
            <a:r>
              <a:rPr lang="en-US" sz="2800" b="1" i="0" dirty="0">
                <a:solidFill>
                  <a:schemeClr val="accent1"/>
                </a:solidFill>
                <a:latin typeface="Cambria"/>
              </a:rPr>
              <a:t>0%</a:t>
            </a:r>
          </a:p>
        </p:txBody>
      </p:sp>
      <p:sp>
        <p:nvSpPr>
          <p:cNvPr id="110" name="Evidence Text 2"/>
          <p:cNvSpPr txBox="1"/>
          <p:nvPr/>
        </p:nvSpPr>
        <p:spPr>
          <a:xfrm>
            <a:off x="8183880" y="3822192"/>
            <a:ext cx="3246120" cy="1024128"/>
          </a:xfrm>
          <a:prstGeom prst="rect">
            <a:avLst/>
          </a:prstGeom>
          <a:noFill/>
          <a:ln>
            <a:noFill/>
          </a:ln>
        </p:spPr>
        <p:txBody>
          <a:bodyPr wrap="square" lIns="0" tIns="0" rIns="0" bIns="0" rtlCol="0" anchor="ctr">
            <a:noAutofit/>
          </a:bodyPr>
          <a:lstStyle/>
          <a:p>
            <a:pPr marL="0" indent="0" algn="l">
              <a:spcBef>
                <a:spcPts val="0"/>
              </a:spcBef>
              <a:spcAft>
                <a:spcPts val="200"/>
              </a:spcAft>
              <a:buNone/>
            </a:pPr>
            <a:r>
              <a:rPr lang="en-US" sz="1400" b="0" i="0" dirty="0">
                <a:solidFill>
                  <a:schemeClr val="tx1"/>
                </a:solidFill>
              </a:rPr>
              <a:t>Change in average farm-gate prices when West Bengal potato farmers were told wholesale prices.</a:t>
            </a:r>
          </a:p>
          <a:p>
            <a:pPr marL="0" indent="0" algn="l">
              <a:spcBef>
                <a:spcPts val="0"/>
              </a:spcBef>
              <a:spcAft>
                <a:spcPts val="0"/>
              </a:spcAft>
              <a:buNone/>
            </a:pPr>
            <a:r>
              <a:rPr lang="en-US" sz="1100" b="0" i="0" dirty="0">
                <a:solidFill>
                  <a:schemeClr val="accent5"/>
                </a:solidFill>
              </a:rPr>
              <a:t>Mitra et al., REStat 2018</a:t>
            </a:r>
          </a:p>
        </p:txBody>
      </p:sp>
      <p:sp>
        <p:nvSpPr>
          <p:cNvPr id="111" name="Evidence Tile 3"/>
          <p:cNvSpPr/>
          <p:nvPr/>
        </p:nvSpPr>
        <p:spPr>
          <a:xfrm>
            <a:off x="6309360" y="5029200"/>
            <a:ext cx="5285232" cy="1170432"/>
          </a:xfrm>
          <a:prstGeom prst="roundRect">
            <a:avLst>
              <a:gd name="adj" fmla="val 9375"/>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12" name="Evidence Stat 3"/>
          <p:cNvSpPr txBox="1"/>
          <p:nvPr/>
        </p:nvSpPr>
        <p:spPr>
          <a:xfrm>
            <a:off x="6446520" y="5029200"/>
            <a:ext cx="1600200" cy="1170432"/>
          </a:xfrm>
          <a:prstGeom prst="rect">
            <a:avLst/>
          </a:prstGeom>
          <a:noFill/>
          <a:ln>
            <a:noFill/>
          </a:ln>
        </p:spPr>
        <p:txBody>
          <a:bodyPr wrap="square" lIns="0" tIns="0" rIns="0" bIns="0" rtlCol="0" anchor="ctr">
            <a:noAutofit/>
          </a:bodyPr>
          <a:lstStyle/>
          <a:p>
            <a:pPr marL="0" indent="0" algn="ctr">
              <a:spcBef>
                <a:spcPts val="0"/>
              </a:spcBef>
              <a:spcAft>
                <a:spcPts val="0"/>
              </a:spcAft>
              <a:buNone/>
            </a:pPr>
            <a:r>
              <a:rPr lang="en-US" sz="2800" b="1" i="0" dirty="0">
                <a:solidFill>
                  <a:schemeClr val="accent1"/>
                </a:solidFill>
                <a:latin typeface="Cambria"/>
              </a:rPr>
              <a:t>Higher</a:t>
            </a:r>
          </a:p>
        </p:txBody>
      </p:sp>
      <p:sp>
        <p:nvSpPr>
          <p:cNvPr id="113" name="Evidence Text 3"/>
          <p:cNvSpPr txBox="1"/>
          <p:nvPr/>
        </p:nvSpPr>
        <p:spPr>
          <a:xfrm>
            <a:off x="8183880" y="5102352"/>
            <a:ext cx="3246120" cy="1024128"/>
          </a:xfrm>
          <a:prstGeom prst="rect">
            <a:avLst/>
          </a:prstGeom>
          <a:noFill/>
          <a:ln>
            <a:noFill/>
          </a:ln>
        </p:spPr>
        <p:txBody>
          <a:bodyPr wrap="square" lIns="0" tIns="0" rIns="0" bIns="0" rtlCol="0" anchor="ctr">
            <a:noAutofit/>
          </a:bodyPr>
          <a:lstStyle/>
          <a:p>
            <a:pPr marL="0" indent="0" algn="l">
              <a:spcBef>
                <a:spcPts val="0"/>
              </a:spcBef>
              <a:spcAft>
                <a:spcPts val="200"/>
              </a:spcAft>
              <a:buNone/>
            </a:pPr>
            <a:r>
              <a:rPr lang="en-US" sz="1400" b="0" i="0" dirty="0">
                <a:solidFill>
                  <a:schemeClr val="tx1"/>
                </a:solidFill>
              </a:rPr>
              <a:t>Soy prices rose after ITC gave farmers price kiosks and an alternative buyer.</a:t>
            </a:r>
          </a:p>
          <a:p>
            <a:pPr marL="0" indent="0" algn="l">
              <a:spcBef>
                <a:spcPts val="0"/>
              </a:spcBef>
              <a:spcAft>
                <a:spcPts val="0"/>
              </a:spcAft>
              <a:buNone/>
            </a:pPr>
            <a:r>
              <a:rPr lang="en-US" sz="1100" b="0" i="0" dirty="0">
                <a:solidFill>
                  <a:schemeClr val="accent5"/>
                </a:solidFill>
              </a:rPr>
              <a:t>Goyal, AEJ: Applied 2010</a:t>
            </a:r>
          </a:p>
        </p:txBody>
      </p:sp>
    </p:spTree>
    <p:extLst>
      <p:ext uri="{BB962C8B-B14F-4D97-AF65-F5344CB8AC3E}">
        <p14:creationId xmlns:p14="http://schemas.microsoft.com/office/powerpoint/2010/main" val="28690110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7"/>
          <p:cNvSpPr>
            <a:spLocks noGrp="1"/>
          </p:cNvSpPr>
          <p:nvPr>
            <p:ph type="title" idx="108" hasCustomPrompt="1"/>
          </p:nvPr>
        </p:nvSpPr>
        <p:spPr>
          <a:prstGeom prst="rect">
            <a:avLst/>
          </a:prstGeom>
          <a:noFill/>
          <a:ln/>
        </p:spPr>
        <p:txBody>
          <a:bodyPr wrap="square" lIns="0" tIns="0" rIns="0" bIns="0" rtlCol="0" anchor="ctr"/>
          <a:lstStyle/>
          <a:p>
            <a:pPr marL="0" indent="0" algn="ctr">
              <a:buNone/>
            </a:pPr>
            <a:r>
              <a:rPr lang="en-US" sz="2400" b="1" kern="0" spc="100" dirty="0">
                <a:solidFill>
                  <a:schemeClr val="tx2"/>
                </a:solidFill>
                <a:latin typeface="Cambria" pitchFamily="34" charset="0"/>
                <a:ea typeface="Cambria" pitchFamily="34" charset="-122"/>
                <a:cs typeface="Cambria" pitchFamily="34" charset="-120"/>
              </a:rPr>
              <a:t>WHO IS AFFECTED?</a:t>
            </a:r>
            <a:endParaRPr lang="en-US" sz="2400" dirty="0"/>
          </a:p>
        </p:txBody>
      </p:sp>
      <p:sp>
        <p:nvSpPr>
          <p:cNvPr id="25"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nchor="ctr"/>
          <a:lstStyle>
            <a:lvl1pPr>
              <a:defRPr sz="1100">
                <a:solidFill>
                  <a:schemeClr val="tx2"/>
                </a:solidFill>
                <a:latin typeface="Calibri"/>
                <a:ea typeface="Calibri"/>
                <a:cs typeface="Calibri"/>
              </a:defRPr>
            </a:lvl1pPr>
          </a:lstStyle>
          <a:p>
            <a:pPr algn="ctr"/>
            <a:fld id="{F7021451-1387-4CA6-816F-3879F97B5CBC}" type="slidenum">
              <a:rPr lang="en-US" b="1"/>
              <a:t>3</a:t>
            </a:fld>
            <a:endParaRPr lang="en-US"/>
          </a:p>
        </p:txBody>
      </p:sp>
      <p:sp>
        <p:nvSpPr>
          <p:cNvPr id="3" name="Team Badge"/>
          <p:cNvSpPr/>
          <p:nvPr/>
        </p:nvSpPr>
        <p:spPr>
          <a:xfrm>
            <a:off x="457200" y="320040"/>
            <a:ext cx="2606040" cy="822960"/>
          </a:xfrm>
          <a:prstGeom prst="roundRect">
            <a:avLst>
              <a:gd name="adj" fmla="val 13333"/>
            </a:avLst>
          </a:prstGeom>
          <a:solidFill>
            <a:schemeClr val="bg1"/>
          </a:solidFill>
          <a:ln w="9525">
            <a:solidFill>
              <a:schemeClr val="accent6"/>
            </a:solidFill>
            <a:prstDash val="solid"/>
          </a:ln>
        </p:spPr>
        <p:txBody>
          <a:bodyPr/>
          <a:lstStyle/>
          <a:p>
            <a:endParaRPr lang="en-IN"/>
          </a:p>
        </p:txBody>
      </p:sp>
      <p:sp>
        <p:nvSpPr>
          <p:cNvPr id="4" name="Team Icon Hex"/>
          <p:cNvSpPr/>
          <p:nvPr/>
        </p:nvSpPr>
        <p:spPr>
          <a:xfrm>
            <a:off x="603504" y="457200"/>
            <a:ext cx="630936" cy="548640"/>
          </a:xfrm>
          <a:prstGeom prst="hexagon">
            <a:avLst/>
          </a:prstGeom>
          <a:solidFill>
            <a:schemeClr val="bg2"/>
          </a:solidFill>
          <a:ln w="9525">
            <a:solidFill>
              <a:schemeClr val="accent6"/>
            </a:solidFill>
            <a:prstDash val="solid"/>
          </a:ln>
        </p:spPr>
        <p:txBody>
          <a:bodyPr/>
          <a:lstStyle/>
          <a:p>
            <a:endParaRPr lang="en-IN"/>
          </a:p>
        </p:txBody>
      </p:sp>
      <p:pic>
        <p:nvPicPr>
          <p:cNvPr id="5" name="Team Icon" descr="Team icon"/>
          <p:cNvPicPr>
            <a:picLocks noChangeAspect="1"/>
          </p:cNvPicPr>
          <p:nvPr/>
        </p:nvPicPr>
        <p:blipFill>
          <a:blip r:embed="rId3"/>
          <a:stretch>
            <a:fillRect/>
          </a:stretch>
        </p:blipFill>
        <p:spPr>
          <a:xfrm>
            <a:off x="736092" y="548640"/>
            <a:ext cx="365760" cy="365760"/>
          </a:xfrm>
          <a:prstGeom prst="rect">
            <a:avLst/>
          </a:prstGeom>
        </p:spPr>
      </p:pic>
      <p:sp>
        <p:nvSpPr>
          <p:cNvPr id="6" name="Team Name"/>
          <p:cNvSpPr txBox="1"/>
          <p:nvPr/>
        </p:nvSpPr>
        <p:spPr>
          <a:xfrm>
            <a:off x="1371600" y="384048"/>
            <a:ext cx="1627632" cy="694944"/>
          </a:xfrm>
          <a:prstGeom prst="rect">
            <a:avLst/>
          </a:prstGeom>
          <a:noFill/>
          <a:ln/>
        </p:spPr>
        <p:txBody>
          <a:bodyPr wrap="square" lIns="0" tIns="0" rIns="0" bIns="0" rtlCol="0" anchor="ctr">
            <a:normAutofit/>
          </a:bodyPr>
          <a:lstStyle/>
          <a:p>
            <a:pPr marL="0" indent="0">
              <a:buNone/>
            </a:pPr>
            <a:r>
              <a:rPr lang="en-US" sz="900" b="1" kern="0" spc="300" dirty="0">
                <a:solidFill>
                  <a:schemeClr val="accent5"/>
                </a:solidFill>
              </a:rPr>
              <a:t>TEAM</a:t>
            </a:r>
            <a:endParaRPr lang="en-US" sz="900" dirty="0"/>
          </a:p>
          <a:p>
            <a:pPr marL="0" indent="0">
              <a:buNone/>
            </a:pPr>
            <a:r>
              <a:rPr lang="en-US" sz="1500" b="1" dirty="0">
                <a:solidFill>
                  <a:schemeClr val="accent1"/>
                </a:solidFill>
              </a:rPr>
              <a:t>COMET 502</a:t>
            </a:r>
            <a:endParaRPr lang="en-US" sz="900" dirty="0"/>
          </a:p>
        </p:txBody>
      </p:sp>
      <p:sp>
        <p:nvSpPr>
          <p:cNvPr id="7" name="Lead Icon Hex"/>
          <p:cNvSpPr/>
          <p:nvPr/>
        </p:nvSpPr>
        <p:spPr>
          <a:xfrm>
            <a:off x="548640" y="1463040"/>
            <a:ext cx="457200" cy="395935"/>
          </a:xfrm>
          <a:prstGeom prst="hexagon">
            <a:avLst/>
          </a:prstGeom>
          <a:solidFill>
            <a:schemeClr val="accent3"/>
          </a:solidFill>
          <a:ln/>
        </p:spPr>
        <p:txBody>
          <a:bodyPr/>
          <a:lstStyle/>
          <a:p>
            <a:endParaRPr lang="en-IN"/>
          </a:p>
        </p:txBody>
      </p:sp>
      <p:pic>
        <p:nvPicPr>
          <p:cNvPr id="8" name="Lead Icon" descr="Lightbulb icon"/>
          <p:cNvPicPr>
            <a:picLocks noChangeAspect="1"/>
          </p:cNvPicPr>
          <p:nvPr/>
        </p:nvPicPr>
        <p:blipFill>
          <a:blip r:embed="rId4"/>
          <a:stretch>
            <a:fillRect/>
          </a:stretch>
        </p:blipFill>
        <p:spPr>
          <a:xfrm>
            <a:off x="640080" y="1523390"/>
            <a:ext cx="274320" cy="274320"/>
          </a:xfrm>
          <a:prstGeom prst="rect">
            <a:avLst/>
          </a:prstGeom>
        </p:spPr>
      </p:pic>
      <p:sp>
        <p:nvSpPr>
          <p:cNvPr id="9" name="Lead Text"/>
          <p:cNvSpPr txBox="1"/>
          <p:nvPr/>
        </p:nvSpPr>
        <p:spPr>
          <a:xfrm>
            <a:off x="1170432" y="1417320"/>
            <a:ext cx="9601200" cy="502920"/>
          </a:xfrm>
          <a:prstGeom prst="rect">
            <a:avLst/>
          </a:prstGeom>
          <a:noFill/>
          <a:ln/>
        </p:spPr>
        <p:txBody>
          <a:bodyPr wrap="square" lIns="0" tIns="0" rIns="0" bIns="0" rtlCol="0" anchor="ctr"/>
          <a:lstStyle/>
          <a:p>
            <a:pPr marL="0" indent="0">
              <a:buNone/>
            </a:pPr>
            <a:r>
              <a:rPr lang="en-US" sz="1800" b="1" dirty="0">
                <a:solidFill>
                  <a:schemeClr val="accent2"/>
                </a:solidFill>
              </a:rPr>
              <a:t>Target users, stakeholders, beneficiaries</a:t>
            </a:r>
            <a:endParaRPr lang="en-US" sz="1800" dirty="0"/>
          </a:p>
        </p:txBody>
      </p:sp>
      <p:sp>
        <p:nvSpPr>
          <p:cNvPr id="101" name="Stakeholder Card 1"/>
          <p:cNvSpPr/>
          <p:nvPr/>
        </p:nvSpPr>
        <p:spPr>
          <a:xfrm>
            <a:off x="594360" y="2057400"/>
            <a:ext cx="3520440" cy="2743200"/>
          </a:xfrm>
          <a:prstGeom prst="roundRect">
            <a:avLst>
              <a:gd name="adj" fmla="val 4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2" name="Stakeholder Number 1"/>
          <p:cNvSpPr/>
          <p:nvPr/>
        </p:nvSpPr>
        <p:spPr>
          <a:xfrm>
            <a:off x="795528" y="2240280"/>
            <a:ext cx="384048" cy="33284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1</a:t>
            </a:r>
          </a:p>
        </p:txBody>
      </p:sp>
      <p:sp>
        <p:nvSpPr>
          <p:cNvPr id="103" name="Stakeholder Heading 1"/>
          <p:cNvSpPr txBox="1"/>
          <p:nvPr/>
        </p:nvSpPr>
        <p:spPr>
          <a:xfrm>
            <a:off x="1307592" y="2194560"/>
            <a:ext cx="2651760" cy="420624"/>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Primary users</a:t>
            </a:r>
          </a:p>
        </p:txBody>
      </p:sp>
      <p:sp>
        <p:nvSpPr>
          <p:cNvPr id="104" name="Stakeholder List 1"/>
          <p:cNvSpPr txBox="1"/>
          <p:nvPr/>
        </p:nvSpPr>
        <p:spPr>
          <a:xfrm>
            <a:off x="795528" y="2788920"/>
            <a:ext cx="3118104" cy="1920240"/>
          </a:xfrm>
          <a:prstGeom prst="rect">
            <a:avLst/>
          </a:prstGeom>
          <a:noFill/>
          <a:ln>
            <a:noFill/>
          </a:ln>
        </p:spPr>
        <p:txBody>
          <a:bodyPr wrap="square" lIns="0" tIns="0" rIns="0" bIns="0" rtlCol="0" anchor="t">
            <a:noAutofit/>
          </a:bodyPr>
          <a:lstStyle/>
          <a:p>
            <a:pPr marL="228600" indent="-228600" algn="l">
              <a:spcBef>
                <a:spcPts val="0"/>
              </a:spcBef>
              <a:spcAft>
                <a:spcPts val="700"/>
              </a:spcAft>
              <a:buClr>
                <a:schemeClr val="accent3"/>
              </a:buClr>
              <a:buSzPct val="100000"/>
              <a:buChar char="•"/>
            </a:pPr>
            <a:r>
              <a:rPr lang="en-US" sz="1400" b="0" i="0" dirty="0">
                <a:solidFill>
                  <a:schemeClr val="tx1"/>
                </a:solidFill>
              </a:rPr>
              <a:t>Small and marginal farmers growing vegetables and other perishables</a:t>
            </a:r>
          </a:p>
          <a:p>
            <a:pPr marL="228600" indent="-228600" algn="l">
              <a:spcBef>
                <a:spcPts val="0"/>
              </a:spcBef>
              <a:spcAft>
                <a:spcPts val="700"/>
              </a:spcAft>
              <a:buClr>
                <a:schemeClr val="accent3"/>
              </a:buClr>
              <a:buSzPct val="100000"/>
              <a:buChar char="•"/>
            </a:pPr>
            <a:r>
              <a:rPr lang="en-US" sz="1400" b="0" i="0" dirty="0">
                <a:solidFill>
                  <a:schemeClr val="tx1"/>
                </a:solidFill>
              </a:rPr>
              <a:t>Farmer groups (FPOs) that sell together</a:t>
            </a:r>
          </a:p>
          <a:p>
            <a:pPr marL="228600" indent="-228600" algn="l">
              <a:spcBef>
                <a:spcPts val="0"/>
              </a:spcBef>
              <a:spcAft>
                <a:spcPts val="700"/>
              </a:spcAft>
              <a:buClr>
                <a:schemeClr val="accent3"/>
              </a:buClr>
              <a:buSzPct val="100000"/>
              <a:buChar char="•"/>
            </a:pPr>
            <a:r>
              <a:rPr lang="en-US" sz="1400" b="0" i="0" dirty="0">
                <a:solidFill>
                  <a:schemeClr val="tx1"/>
                </a:solidFill>
              </a:rPr>
              <a:t>First pilot: one farmer group near Coimbatore</a:t>
            </a:r>
          </a:p>
        </p:txBody>
      </p:sp>
      <p:sp>
        <p:nvSpPr>
          <p:cNvPr id="105" name="Stakeholder Card 2"/>
          <p:cNvSpPr/>
          <p:nvPr/>
        </p:nvSpPr>
        <p:spPr>
          <a:xfrm>
            <a:off x="4334256" y="2057400"/>
            <a:ext cx="3520440" cy="2743200"/>
          </a:xfrm>
          <a:prstGeom prst="roundRect">
            <a:avLst>
              <a:gd name="adj" fmla="val 4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6" name="Stakeholder Number 2"/>
          <p:cNvSpPr/>
          <p:nvPr/>
        </p:nvSpPr>
        <p:spPr>
          <a:xfrm>
            <a:off x="4535424" y="2240280"/>
            <a:ext cx="384048" cy="33284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2</a:t>
            </a:r>
          </a:p>
        </p:txBody>
      </p:sp>
      <p:sp>
        <p:nvSpPr>
          <p:cNvPr id="107" name="Stakeholder Heading 2"/>
          <p:cNvSpPr txBox="1"/>
          <p:nvPr/>
        </p:nvSpPr>
        <p:spPr>
          <a:xfrm>
            <a:off x="5047488" y="2194560"/>
            <a:ext cx="2651760" cy="420624"/>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Secondary stakeholders</a:t>
            </a:r>
          </a:p>
        </p:txBody>
      </p:sp>
      <p:sp>
        <p:nvSpPr>
          <p:cNvPr id="108" name="Stakeholder List 2"/>
          <p:cNvSpPr txBox="1"/>
          <p:nvPr/>
        </p:nvSpPr>
        <p:spPr>
          <a:xfrm>
            <a:off x="4535424" y="2788920"/>
            <a:ext cx="3118104" cy="1920240"/>
          </a:xfrm>
          <a:prstGeom prst="rect">
            <a:avLst/>
          </a:prstGeom>
          <a:noFill/>
          <a:ln>
            <a:noFill/>
          </a:ln>
        </p:spPr>
        <p:txBody>
          <a:bodyPr wrap="square" lIns="0" tIns="0" rIns="0" bIns="0" rtlCol="0" anchor="t">
            <a:noAutofit/>
          </a:bodyPr>
          <a:lstStyle/>
          <a:p>
            <a:pPr marL="228600" indent="-228600" algn="l">
              <a:spcBef>
                <a:spcPts val="0"/>
              </a:spcBef>
              <a:spcAft>
                <a:spcPts val="700"/>
              </a:spcAft>
              <a:buClr>
                <a:schemeClr val="accent3"/>
              </a:buClr>
              <a:buSzPct val="100000"/>
              <a:buChar char="•"/>
            </a:pPr>
            <a:r>
              <a:rPr lang="en-US" sz="1400" b="0" i="0" dirty="0">
                <a:solidFill>
                  <a:schemeClr val="tx1"/>
                </a:solidFill>
              </a:rPr>
              <a:t>Institutional buyers: hostel messes, restaurants, retailers, processors</a:t>
            </a:r>
          </a:p>
          <a:p>
            <a:pPr marL="228600" indent="-228600" algn="l">
              <a:spcBef>
                <a:spcPts val="0"/>
              </a:spcBef>
              <a:spcAft>
                <a:spcPts val="700"/>
              </a:spcAft>
              <a:buClr>
                <a:schemeClr val="accent3"/>
              </a:buClr>
              <a:buSzPct val="100000"/>
              <a:buChar char="•"/>
            </a:pPr>
            <a:r>
              <a:rPr lang="en-US" sz="1400" b="0" i="0" dirty="0">
                <a:solidFill>
                  <a:schemeClr val="tx1"/>
                </a:solidFill>
              </a:rPr>
              <a:t>Local agents and aggregators, who can become delivery partners</a:t>
            </a:r>
          </a:p>
          <a:p>
            <a:pPr marL="228600" indent="-228600" algn="l">
              <a:spcBef>
                <a:spcPts val="0"/>
              </a:spcBef>
              <a:spcAft>
                <a:spcPts val="700"/>
              </a:spcAft>
              <a:buClr>
                <a:schemeClr val="accent3"/>
              </a:buClr>
              <a:buSzPct val="100000"/>
              <a:buChar char="•"/>
            </a:pPr>
            <a:r>
              <a:rPr lang="en-US" sz="1400" b="0" i="0" dirty="0">
                <a:solidFill>
                  <a:schemeClr val="tx1"/>
                </a:solidFill>
              </a:rPr>
              <a:t>Transporters, cold storage and payment providers</a:t>
            </a:r>
          </a:p>
        </p:txBody>
      </p:sp>
      <p:sp>
        <p:nvSpPr>
          <p:cNvPr id="109" name="Stakeholder Card 3"/>
          <p:cNvSpPr/>
          <p:nvPr/>
        </p:nvSpPr>
        <p:spPr>
          <a:xfrm>
            <a:off x="8074152" y="2057400"/>
            <a:ext cx="3520440" cy="2743200"/>
          </a:xfrm>
          <a:prstGeom prst="roundRect">
            <a:avLst>
              <a:gd name="adj" fmla="val 4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10" name="Stakeholder Number 3"/>
          <p:cNvSpPr/>
          <p:nvPr/>
        </p:nvSpPr>
        <p:spPr>
          <a:xfrm>
            <a:off x="8275320" y="2240280"/>
            <a:ext cx="384048" cy="33284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3</a:t>
            </a:r>
          </a:p>
        </p:txBody>
      </p:sp>
      <p:sp>
        <p:nvSpPr>
          <p:cNvPr id="111" name="Stakeholder Heading 3"/>
          <p:cNvSpPr txBox="1"/>
          <p:nvPr/>
        </p:nvSpPr>
        <p:spPr>
          <a:xfrm>
            <a:off x="8787384" y="2194560"/>
            <a:ext cx="2651760" cy="420624"/>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Who benefits</a:t>
            </a:r>
          </a:p>
        </p:txBody>
      </p:sp>
      <p:sp>
        <p:nvSpPr>
          <p:cNvPr id="112" name="Stakeholder List 3"/>
          <p:cNvSpPr txBox="1"/>
          <p:nvPr/>
        </p:nvSpPr>
        <p:spPr>
          <a:xfrm>
            <a:off x="8275320" y="2788920"/>
            <a:ext cx="3118104" cy="1920240"/>
          </a:xfrm>
          <a:prstGeom prst="rect">
            <a:avLst/>
          </a:prstGeom>
          <a:noFill/>
          <a:ln>
            <a:noFill/>
          </a:ln>
        </p:spPr>
        <p:txBody>
          <a:bodyPr wrap="square" lIns="0" tIns="0" rIns="0" bIns="0" rtlCol="0" anchor="t">
            <a:noAutofit/>
          </a:bodyPr>
          <a:lstStyle/>
          <a:p>
            <a:pPr marL="228600" indent="-228600" algn="l">
              <a:spcBef>
                <a:spcPts val="0"/>
              </a:spcBef>
              <a:spcAft>
                <a:spcPts val="700"/>
              </a:spcAft>
              <a:buClr>
                <a:schemeClr val="accent3"/>
              </a:buClr>
              <a:buSzPct val="100000"/>
              <a:buChar char="•"/>
            </a:pPr>
            <a:r>
              <a:rPr lang="en-US" sz="1400" b="0" i="0" dirty="0">
                <a:solidFill>
                  <a:schemeClr val="tx1"/>
                </a:solidFill>
              </a:rPr>
              <a:t>Farmers: a buyer and price band before planting, and quick payment</a:t>
            </a:r>
          </a:p>
          <a:p>
            <a:pPr marL="228600" indent="-228600" algn="l">
              <a:spcBef>
                <a:spcPts val="0"/>
              </a:spcBef>
              <a:spcAft>
                <a:spcPts val="700"/>
              </a:spcAft>
              <a:buClr>
                <a:schemeClr val="accent3"/>
              </a:buClr>
              <a:buSzPct val="100000"/>
              <a:buChar char="•"/>
            </a:pPr>
            <a:r>
              <a:rPr lang="en-US" sz="1400" b="0" i="0" dirty="0">
                <a:solidFill>
                  <a:schemeClr val="tx1"/>
                </a:solidFill>
              </a:rPr>
              <a:t>Buyers: dependable supply of the grade they ordered</a:t>
            </a:r>
          </a:p>
          <a:p>
            <a:pPr marL="228600" indent="-228600" algn="l">
              <a:spcBef>
                <a:spcPts val="0"/>
              </a:spcBef>
              <a:spcAft>
                <a:spcPts val="700"/>
              </a:spcAft>
              <a:buClr>
                <a:schemeClr val="accent3"/>
              </a:buClr>
              <a:buSzPct val="100000"/>
              <a:buChar char="•"/>
            </a:pPr>
            <a:r>
              <a:rPr lang="en-US" sz="1400" b="0" i="0" dirty="0">
                <a:solidFill>
                  <a:schemeClr val="tx1"/>
                </a:solidFill>
              </a:rPr>
              <a:t>Consumers: fresher produce with less spoilage</a:t>
            </a:r>
          </a:p>
        </p:txBody>
      </p:sp>
      <p:sp>
        <p:nvSpPr>
          <p:cNvPr id="113" name="Holdings Band"/>
          <p:cNvSpPr/>
          <p:nvPr/>
        </p:nvSpPr>
        <p:spPr>
          <a:xfrm>
            <a:off x="594360" y="4983480"/>
            <a:ext cx="11000232" cy="1234440"/>
          </a:xfrm>
          <a:prstGeom prst="roundRect">
            <a:avLst>
              <a:gd name="adj" fmla="val 8888"/>
            </a:avLst>
          </a:prstGeom>
          <a:solidFill>
            <a:schemeClr val="tx2"/>
          </a:solidFill>
          <a:ln>
            <a:noFill/>
          </a:ln>
        </p:spPr>
        <p:txBody>
          <a:bodyPr wrap="square" lIns="91440" tIns="45720" rIns="91440" bIns="45720" rtlCol="0" anchor="t">
            <a:noAutofit/>
          </a:bodyPr>
          <a:lstStyle/>
          <a:p>
            <a:endParaRPr lang="en-US"/>
          </a:p>
        </p:txBody>
      </p:sp>
      <p:sp>
        <p:nvSpPr>
          <p:cNvPr id="114" name="Holdings Stat"/>
          <p:cNvSpPr txBox="1"/>
          <p:nvPr/>
        </p:nvSpPr>
        <p:spPr>
          <a:xfrm>
            <a:off x="914400" y="4983480"/>
            <a:ext cx="2103120" cy="1234440"/>
          </a:xfrm>
          <a:prstGeom prst="rect">
            <a:avLst/>
          </a:prstGeom>
          <a:noFill/>
          <a:ln>
            <a:noFill/>
          </a:ln>
        </p:spPr>
        <p:txBody>
          <a:bodyPr wrap="square" lIns="0" tIns="0" rIns="0" bIns="0" rtlCol="0" anchor="ctr">
            <a:noAutofit/>
          </a:bodyPr>
          <a:lstStyle/>
          <a:p>
            <a:pPr marL="0" indent="0" algn="ctr">
              <a:spcBef>
                <a:spcPts val="0"/>
              </a:spcBef>
              <a:spcAft>
                <a:spcPts val="0"/>
              </a:spcAft>
              <a:buNone/>
            </a:pPr>
            <a:r>
              <a:rPr lang="en-US" sz="4400" b="1" i="0" dirty="0">
                <a:solidFill>
                  <a:schemeClr val="accent3"/>
                </a:solidFill>
                <a:latin typeface="Cambria"/>
              </a:rPr>
              <a:t>86%</a:t>
            </a:r>
          </a:p>
        </p:txBody>
      </p:sp>
      <p:sp>
        <p:nvSpPr>
          <p:cNvPr id="115" name="Holdings Text"/>
          <p:cNvSpPr txBox="1"/>
          <p:nvPr/>
        </p:nvSpPr>
        <p:spPr>
          <a:xfrm>
            <a:off x="3200400" y="4983480"/>
            <a:ext cx="8092440" cy="1234440"/>
          </a:xfrm>
          <a:prstGeom prst="rect">
            <a:avLst/>
          </a:prstGeom>
          <a:noFill/>
          <a:ln>
            <a:noFill/>
          </a:ln>
        </p:spPr>
        <p:txBody>
          <a:bodyPr wrap="square" lIns="0" tIns="0" rIns="0" bIns="0" rtlCol="0" anchor="ctr">
            <a:noAutofit/>
          </a:bodyPr>
          <a:lstStyle/>
          <a:p>
            <a:pPr marL="0" indent="0" algn="l">
              <a:spcBef>
                <a:spcPts val="0"/>
              </a:spcBef>
              <a:spcAft>
                <a:spcPts val="300"/>
              </a:spcAft>
              <a:buNone/>
            </a:pPr>
            <a:r>
              <a:rPr lang="en-US" sz="1600" b="0" i="0" dirty="0">
                <a:solidFill>
                  <a:schemeClr val="bg1"/>
                </a:solidFill>
              </a:rPr>
              <a:t>of India's ~146 million farm holdings are under 2 hectares: many small lots, and no single seller with bargaining power.</a:t>
            </a:r>
          </a:p>
          <a:p>
            <a:pPr marL="0" indent="0" algn="l">
              <a:spcBef>
                <a:spcPts val="0"/>
              </a:spcBef>
              <a:spcAft>
                <a:spcPts val="0"/>
              </a:spcAft>
              <a:buNone/>
            </a:pPr>
            <a:r>
              <a:rPr lang="en-US" sz="1100" b="0" i="0" dirty="0">
                <a:solidFill>
                  <a:schemeClr val="accent6"/>
                </a:solidFill>
              </a:rPr>
              <a:t>Agriculture Census 2015-16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7"/>
          <p:cNvSpPr>
            <a:spLocks noGrp="1"/>
          </p:cNvSpPr>
          <p:nvPr>
            <p:ph type="title" idx="108" hasCustomPrompt="1"/>
          </p:nvPr>
        </p:nvSpPr>
        <p:spPr>
          <a:prstGeom prst="rect">
            <a:avLst/>
          </a:prstGeom>
          <a:noFill/>
          <a:ln/>
        </p:spPr>
        <p:txBody>
          <a:bodyPr wrap="square" lIns="0" tIns="0" rIns="0" bIns="0" rtlCol="0" anchor="ctr"/>
          <a:lstStyle/>
          <a:p>
            <a:pPr marL="0" indent="0" algn="ctr">
              <a:buNone/>
            </a:pPr>
            <a:r>
              <a:rPr lang="en-US" sz="2400" b="1" kern="0" spc="100" dirty="0">
                <a:solidFill>
                  <a:schemeClr val="tx2"/>
                </a:solidFill>
                <a:latin typeface="Cambria" pitchFamily="34" charset="0"/>
                <a:ea typeface="Cambria" pitchFamily="34" charset="-122"/>
                <a:cs typeface="Cambria" pitchFamily="34" charset="-120"/>
              </a:rPr>
              <a:t>CURRENT SITUATION &amp; CONTEXT</a:t>
            </a:r>
            <a:endParaRPr lang="en-US" sz="2400" dirty="0"/>
          </a:p>
        </p:txBody>
      </p:sp>
      <p:sp>
        <p:nvSpPr>
          <p:cNvPr id="25"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nchor="ctr"/>
          <a:lstStyle>
            <a:lvl1pPr>
              <a:defRPr sz="1100">
                <a:solidFill>
                  <a:schemeClr val="tx2"/>
                </a:solidFill>
                <a:latin typeface="Calibri"/>
                <a:ea typeface="Calibri"/>
                <a:cs typeface="Calibri"/>
              </a:defRPr>
            </a:lvl1pPr>
          </a:lstStyle>
          <a:p>
            <a:pPr algn="ctr"/>
            <a:fld id="{F7021451-1387-4CA6-816F-3879F97B5CBC}" type="slidenum">
              <a:rPr lang="en-US" b="1"/>
              <a:t>4</a:t>
            </a:fld>
            <a:endParaRPr lang="en-US"/>
          </a:p>
        </p:txBody>
      </p:sp>
      <p:sp>
        <p:nvSpPr>
          <p:cNvPr id="3" name="Team Badge"/>
          <p:cNvSpPr/>
          <p:nvPr/>
        </p:nvSpPr>
        <p:spPr>
          <a:xfrm>
            <a:off x="457200" y="320040"/>
            <a:ext cx="2606040" cy="822960"/>
          </a:xfrm>
          <a:prstGeom prst="roundRect">
            <a:avLst>
              <a:gd name="adj" fmla="val 13333"/>
            </a:avLst>
          </a:prstGeom>
          <a:solidFill>
            <a:schemeClr val="bg1"/>
          </a:solidFill>
          <a:ln w="9525">
            <a:solidFill>
              <a:schemeClr val="accent6"/>
            </a:solidFill>
            <a:prstDash val="solid"/>
          </a:ln>
        </p:spPr>
        <p:txBody>
          <a:bodyPr/>
          <a:lstStyle/>
          <a:p>
            <a:endParaRPr lang="en-IN"/>
          </a:p>
        </p:txBody>
      </p:sp>
      <p:sp>
        <p:nvSpPr>
          <p:cNvPr id="4" name="Team Icon Hex"/>
          <p:cNvSpPr/>
          <p:nvPr/>
        </p:nvSpPr>
        <p:spPr>
          <a:xfrm>
            <a:off x="603504" y="457200"/>
            <a:ext cx="630936" cy="548640"/>
          </a:xfrm>
          <a:prstGeom prst="hexagon">
            <a:avLst/>
          </a:prstGeom>
          <a:solidFill>
            <a:schemeClr val="bg2"/>
          </a:solidFill>
          <a:ln w="9525">
            <a:solidFill>
              <a:schemeClr val="accent6"/>
            </a:solidFill>
            <a:prstDash val="solid"/>
          </a:ln>
        </p:spPr>
        <p:txBody>
          <a:bodyPr/>
          <a:lstStyle/>
          <a:p>
            <a:endParaRPr lang="en-IN"/>
          </a:p>
        </p:txBody>
      </p:sp>
      <p:pic>
        <p:nvPicPr>
          <p:cNvPr id="5" name="Team Icon" descr="Team icon"/>
          <p:cNvPicPr>
            <a:picLocks noChangeAspect="1"/>
          </p:cNvPicPr>
          <p:nvPr/>
        </p:nvPicPr>
        <p:blipFill>
          <a:blip r:embed="rId3"/>
          <a:stretch>
            <a:fillRect/>
          </a:stretch>
        </p:blipFill>
        <p:spPr>
          <a:xfrm>
            <a:off x="736092" y="548640"/>
            <a:ext cx="365760" cy="365760"/>
          </a:xfrm>
          <a:prstGeom prst="rect">
            <a:avLst/>
          </a:prstGeom>
        </p:spPr>
      </p:pic>
      <p:sp>
        <p:nvSpPr>
          <p:cNvPr id="6" name="Team Name"/>
          <p:cNvSpPr txBox="1"/>
          <p:nvPr/>
        </p:nvSpPr>
        <p:spPr>
          <a:xfrm>
            <a:off x="1371600" y="384048"/>
            <a:ext cx="1627632" cy="694944"/>
          </a:xfrm>
          <a:prstGeom prst="rect">
            <a:avLst/>
          </a:prstGeom>
          <a:noFill/>
          <a:ln/>
        </p:spPr>
        <p:txBody>
          <a:bodyPr wrap="square" lIns="0" tIns="0" rIns="0" bIns="0" rtlCol="0" anchor="ctr">
            <a:normAutofit/>
          </a:bodyPr>
          <a:lstStyle/>
          <a:p>
            <a:pPr marL="0" indent="0">
              <a:buNone/>
            </a:pPr>
            <a:r>
              <a:rPr lang="en-US" sz="900" b="1" kern="0" spc="300" dirty="0">
                <a:solidFill>
                  <a:schemeClr val="accent5"/>
                </a:solidFill>
              </a:rPr>
              <a:t>TEAM</a:t>
            </a:r>
            <a:endParaRPr lang="en-US" sz="900" dirty="0"/>
          </a:p>
          <a:p>
            <a:pPr marL="0" indent="0">
              <a:buNone/>
            </a:pPr>
            <a:r>
              <a:rPr lang="en-US" sz="1500" b="1" dirty="0">
                <a:solidFill>
                  <a:schemeClr val="accent1"/>
                </a:solidFill>
              </a:rPr>
              <a:t>COMET 502</a:t>
            </a:r>
            <a:endParaRPr lang="en-US" sz="900" dirty="0"/>
          </a:p>
        </p:txBody>
      </p:sp>
      <p:sp>
        <p:nvSpPr>
          <p:cNvPr id="7" name="Lead Icon Hex"/>
          <p:cNvSpPr/>
          <p:nvPr/>
        </p:nvSpPr>
        <p:spPr>
          <a:xfrm>
            <a:off x="548640" y="1463040"/>
            <a:ext cx="457200" cy="395935"/>
          </a:xfrm>
          <a:prstGeom prst="hexagon">
            <a:avLst/>
          </a:prstGeom>
          <a:solidFill>
            <a:schemeClr val="accent3"/>
          </a:solidFill>
          <a:ln/>
        </p:spPr>
        <p:txBody>
          <a:bodyPr/>
          <a:lstStyle/>
          <a:p>
            <a:endParaRPr lang="en-IN"/>
          </a:p>
        </p:txBody>
      </p:sp>
      <p:pic>
        <p:nvPicPr>
          <p:cNvPr id="8" name="Lead Icon" descr="Lightbulb icon"/>
          <p:cNvPicPr>
            <a:picLocks noChangeAspect="1"/>
          </p:cNvPicPr>
          <p:nvPr/>
        </p:nvPicPr>
        <p:blipFill>
          <a:blip r:embed="rId4"/>
          <a:stretch>
            <a:fillRect/>
          </a:stretch>
        </p:blipFill>
        <p:spPr>
          <a:xfrm>
            <a:off x="640080" y="1523390"/>
            <a:ext cx="274320" cy="274320"/>
          </a:xfrm>
          <a:prstGeom prst="rect">
            <a:avLst/>
          </a:prstGeom>
        </p:spPr>
      </p:pic>
      <p:sp>
        <p:nvSpPr>
          <p:cNvPr id="9" name="Lead Text"/>
          <p:cNvSpPr txBox="1"/>
          <p:nvPr/>
        </p:nvSpPr>
        <p:spPr>
          <a:xfrm>
            <a:off x="1170432" y="1417320"/>
            <a:ext cx="9601200" cy="502920"/>
          </a:xfrm>
          <a:prstGeom prst="rect">
            <a:avLst/>
          </a:prstGeom>
          <a:noFill/>
          <a:ln/>
        </p:spPr>
        <p:txBody>
          <a:bodyPr wrap="square" lIns="0" tIns="0" rIns="0" bIns="0" rtlCol="0" anchor="ctr"/>
          <a:lstStyle/>
          <a:p>
            <a:pPr marL="0" indent="0">
              <a:buNone/>
            </a:pPr>
            <a:r>
              <a:rPr lang="en-US" sz="1800" b="1" dirty="0">
                <a:solidFill>
                  <a:schemeClr val="accent2"/>
                </a:solidFill>
              </a:rPr>
              <a:t>Existing scenario, background and how things work today</a:t>
            </a:r>
            <a:endParaRPr lang="en-US" sz="1800" dirty="0"/>
          </a:p>
        </p:txBody>
      </p:sp>
      <p:sp>
        <p:nvSpPr>
          <p:cNvPr id="101" name="Workflow Heading"/>
          <p:cNvSpPr txBox="1"/>
          <p:nvPr/>
        </p:nvSpPr>
        <p:spPr>
          <a:xfrm>
            <a:off x="594360" y="2011680"/>
            <a:ext cx="7315200" cy="292608"/>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600" b="1" i="0" dirty="0">
                <a:solidFill>
                  <a:schemeClr val="accent1"/>
                </a:solidFill>
              </a:rPr>
              <a:t>How a sale works today</a:t>
            </a:r>
          </a:p>
        </p:txBody>
      </p:sp>
      <p:sp>
        <p:nvSpPr>
          <p:cNvPr id="102" name="Step Card 1"/>
          <p:cNvSpPr/>
          <p:nvPr/>
        </p:nvSpPr>
        <p:spPr>
          <a:xfrm>
            <a:off x="594360" y="2359152"/>
            <a:ext cx="2011680" cy="1371600"/>
          </a:xfrm>
          <a:prstGeom prst="roundRect">
            <a:avLst>
              <a:gd name="adj" fmla="val 8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3" name="Step Number 1"/>
          <p:cNvSpPr/>
          <p:nvPr/>
        </p:nvSpPr>
        <p:spPr>
          <a:xfrm>
            <a:off x="731520" y="2496312"/>
            <a:ext cx="384048" cy="33284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1</a:t>
            </a:r>
          </a:p>
        </p:txBody>
      </p:sp>
      <p:sp>
        <p:nvSpPr>
          <p:cNvPr id="104" name="Step Title 1"/>
          <p:cNvSpPr txBox="1"/>
          <p:nvPr/>
        </p:nvSpPr>
        <p:spPr>
          <a:xfrm>
            <a:off x="1216152" y="2468880"/>
            <a:ext cx="1298448" cy="384048"/>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Plant</a:t>
            </a:r>
          </a:p>
        </p:txBody>
      </p:sp>
      <p:sp>
        <p:nvSpPr>
          <p:cNvPr id="105" name="Step Caption 1"/>
          <p:cNvSpPr txBox="1"/>
          <p:nvPr/>
        </p:nvSpPr>
        <p:spPr>
          <a:xfrm>
            <a:off x="731520" y="2971800"/>
            <a:ext cx="1737360" cy="73152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0" i="0" dirty="0">
                <a:solidFill>
                  <a:schemeClr val="tx1"/>
                </a:solidFill>
              </a:rPr>
              <a:t>Chosen by habit and last season's price</a:t>
            </a:r>
          </a:p>
        </p:txBody>
      </p:sp>
      <p:sp>
        <p:nvSpPr>
          <p:cNvPr id="106" name="Step Arrow 1"/>
          <p:cNvSpPr/>
          <p:nvPr/>
        </p:nvSpPr>
        <p:spPr>
          <a:xfrm>
            <a:off x="2646045" y="2898648"/>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07" name="Step Card 2"/>
          <p:cNvSpPr/>
          <p:nvPr/>
        </p:nvSpPr>
        <p:spPr>
          <a:xfrm>
            <a:off x="2841498" y="2359152"/>
            <a:ext cx="2011680" cy="1371600"/>
          </a:xfrm>
          <a:prstGeom prst="roundRect">
            <a:avLst>
              <a:gd name="adj" fmla="val 8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8" name="Step Number 2"/>
          <p:cNvSpPr/>
          <p:nvPr/>
        </p:nvSpPr>
        <p:spPr>
          <a:xfrm>
            <a:off x="2978658" y="2496312"/>
            <a:ext cx="384048" cy="33284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2</a:t>
            </a:r>
          </a:p>
        </p:txBody>
      </p:sp>
      <p:sp>
        <p:nvSpPr>
          <p:cNvPr id="109" name="Step Title 2"/>
          <p:cNvSpPr txBox="1"/>
          <p:nvPr/>
        </p:nvSpPr>
        <p:spPr>
          <a:xfrm>
            <a:off x="3463290" y="2468880"/>
            <a:ext cx="1298448" cy="384048"/>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Grow</a:t>
            </a:r>
          </a:p>
        </p:txBody>
      </p:sp>
      <p:sp>
        <p:nvSpPr>
          <p:cNvPr id="110" name="Step Caption 2"/>
          <p:cNvSpPr txBox="1"/>
          <p:nvPr/>
        </p:nvSpPr>
        <p:spPr>
          <a:xfrm>
            <a:off x="2978658" y="2971800"/>
            <a:ext cx="1737360" cy="73152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0" i="0" dirty="0">
                <a:solidFill>
                  <a:schemeClr val="tx1"/>
                </a:solidFill>
              </a:rPr>
              <a:t>No buyer or price confirmed yet</a:t>
            </a:r>
          </a:p>
        </p:txBody>
      </p:sp>
      <p:sp>
        <p:nvSpPr>
          <p:cNvPr id="111" name="Step Arrow 2"/>
          <p:cNvSpPr/>
          <p:nvPr/>
        </p:nvSpPr>
        <p:spPr>
          <a:xfrm>
            <a:off x="4893183" y="2898648"/>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12" name="Step Card 3"/>
          <p:cNvSpPr/>
          <p:nvPr/>
        </p:nvSpPr>
        <p:spPr>
          <a:xfrm>
            <a:off x="5088636" y="2359152"/>
            <a:ext cx="2011680" cy="1371600"/>
          </a:xfrm>
          <a:prstGeom prst="roundRect">
            <a:avLst>
              <a:gd name="adj" fmla="val 8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13" name="Step Number 3"/>
          <p:cNvSpPr/>
          <p:nvPr/>
        </p:nvSpPr>
        <p:spPr>
          <a:xfrm>
            <a:off x="5225796" y="2496312"/>
            <a:ext cx="384048" cy="33284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3</a:t>
            </a:r>
          </a:p>
        </p:txBody>
      </p:sp>
      <p:sp>
        <p:nvSpPr>
          <p:cNvPr id="114" name="Step Title 3"/>
          <p:cNvSpPr txBox="1"/>
          <p:nvPr/>
        </p:nvSpPr>
        <p:spPr>
          <a:xfrm>
            <a:off x="5710428" y="2468880"/>
            <a:ext cx="1298448" cy="384048"/>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Harvest</a:t>
            </a:r>
          </a:p>
        </p:txBody>
      </p:sp>
      <p:sp>
        <p:nvSpPr>
          <p:cNvPr id="115" name="Step Caption 3"/>
          <p:cNvSpPr txBox="1"/>
          <p:nvPr/>
        </p:nvSpPr>
        <p:spPr>
          <a:xfrm>
            <a:off x="5225796" y="2971800"/>
            <a:ext cx="1737360" cy="73152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0" i="0" dirty="0">
                <a:solidFill>
                  <a:schemeClr val="tx1"/>
                </a:solidFill>
              </a:rPr>
              <a:t>Perishable produce, so the clock starts</a:t>
            </a:r>
          </a:p>
        </p:txBody>
      </p:sp>
      <p:sp>
        <p:nvSpPr>
          <p:cNvPr id="116" name="Step Arrow 3"/>
          <p:cNvSpPr/>
          <p:nvPr/>
        </p:nvSpPr>
        <p:spPr>
          <a:xfrm>
            <a:off x="7140321" y="2898648"/>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17" name="Step Card 4"/>
          <p:cNvSpPr/>
          <p:nvPr/>
        </p:nvSpPr>
        <p:spPr>
          <a:xfrm>
            <a:off x="7335774" y="2359152"/>
            <a:ext cx="2011680" cy="1371600"/>
          </a:xfrm>
          <a:prstGeom prst="roundRect">
            <a:avLst>
              <a:gd name="adj" fmla="val 8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18" name="Step Number 4"/>
          <p:cNvSpPr/>
          <p:nvPr/>
        </p:nvSpPr>
        <p:spPr>
          <a:xfrm>
            <a:off x="7472934" y="2496312"/>
            <a:ext cx="384048" cy="33284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4</a:t>
            </a:r>
          </a:p>
        </p:txBody>
      </p:sp>
      <p:sp>
        <p:nvSpPr>
          <p:cNvPr id="119" name="Step Title 4"/>
          <p:cNvSpPr txBox="1"/>
          <p:nvPr/>
        </p:nvSpPr>
        <p:spPr>
          <a:xfrm>
            <a:off x="7957566" y="2468880"/>
            <a:ext cx="1298448" cy="384048"/>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Agent offers</a:t>
            </a:r>
          </a:p>
        </p:txBody>
      </p:sp>
      <p:sp>
        <p:nvSpPr>
          <p:cNvPr id="120" name="Step Caption 4"/>
          <p:cNvSpPr txBox="1"/>
          <p:nvPr/>
        </p:nvSpPr>
        <p:spPr>
          <a:xfrm>
            <a:off x="7472934" y="2971800"/>
            <a:ext cx="1737360" cy="73152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0" i="0" dirty="0">
                <a:solidFill>
                  <a:schemeClr val="tx1"/>
                </a:solidFill>
              </a:rPr>
              <a:t>Price set at the farm gate; cash or credit</a:t>
            </a:r>
          </a:p>
        </p:txBody>
      </p:sp>
      <p:sp>
        <p:nvSpPr>
          <p:cNvPr id="121" name="Step Arrow 4"/>
          <p:cNvSpPr/>
          <p:nvPr/>
        </p:nvSpPr>
        <p:spPr>
          <a:xfrm>
            <a:off x="9387459" y="2898648"/>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22" name="Step Card 5"/>
          <p:cNvSpPr/>
          <p:nvPr/>
        </p:nvSpPr>
        <p:spPr>
          <a:xfrm>
            <a:off x="9582912" y="2359152"/>
            <a:ext cx="2011680" cy="1371600"/>
          </a:xfrm>
          <a:prstGeom prst="roundRect">
            <a:avLst>
              <a:gd name="adj" fmla="val 8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23" name="Step Number 5"/>
          <p:cNvSpPr/>
          <p:nvPr/>
        </p:nvSpPr>
        <p:spPr>
          <a:xfrm>
            <a:off x="9720072" y="2496312"/>
            <a:ext cx="384048" cy="33284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5</a:t>
            </a:r>
          </a:p>
        </p:txBody>
      </p:sp>
      <p:sp>
        <p:nvSpPr>
          <p:cNvPr id="124" name="Step Title 5"/>
          <p:cNvSpPr txBox="1"/>
          <p:nvPr/>
        </p:nvSpPr>
        <p:spPr>
          <a:xfrm>
            <a:off x="10204704" y="2468880"/>
            <a:ext cx="1298448" cy="384048"/>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Resale</a:t>
            </a:r>
          </a:p>
        </p:txBody>
      </p:sp>
      <p:sp>
        <p:nvSpPr>
          <p:cNvPr id="125" name="Step Caption 5"/>
          <p:cNvSpPr txBox="1"/>
          <p:nvPr/>
        </p:nvSpPr>
        <p:spPr>
          <a:xfrm>
            <a:off x="9720072" y="2971800"/>
            <a:ext cx="1737360" cy="73152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0" i="0" dirty="0">
                <a:solidFill>
                  <a:schemeClr val="tx1"/>
                </a:solidFill>
              </a:rPr>
              <a:t>Agent sells on; the farmer sees little of the margin</a:t>
            </a:r>
          </a:p>
        </p:txBody>
      </p:sp>
      <p:sp>
        <p:nvSpPr>
          <p:cNvPr id="126" name="Fact Card 1"/>
          <p:cNvSpPr/>
          <p:nvPr/>
        </p:nvSpPr>
        <p:spPr>
          <a:xfrm>
            <a:off x="594360" y="3931920"/>
            <a:ext cx="3520440" cy="1463040"/>
          </a:xfrm>
          <a:prstGeom prst="roundRect">
            <a:avLst>
              <a:gd name="adj" fmla="val 75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27" name="Fact Text 1"/>
          <p:cNvSpPr txBox="1"/>
          <p:nvPr/>
        </p:nvSpPr>
        <p:spPr>
          <a:xfrm>
            <a:off x="795528" y="4041648"/>
            <a:ext cx="3118104" cy="1280160"/>
          </a:xfrm>
          <a:prstGeom prst="rect">
            <a:avLst/>
          </a:prstGeom>
          <a:noFill/>
          <a:ln>
            <a:noFill/>
          </a:ln>
        </p:spPr>
        <p:txBody>
          <a:bodyPr wrap="square" lIns="0" tIns="0" rIns="0" bIns="0" rtlCol="0" anchor="t">
            <a:noAutofit/>
          </a:bodyPr>
          <a:lstStyle/>
          <a:p>
            <a:pPr marL="0" indent="0" algn="l">
              <a:spcBef>
                <a:spcPts val="0"/>
              </a:spcBef>
              <a:spcAft>
                <a:spcPts val="300"/>
              </a:spcAft>
              <a:buNone/>
            </a:pPr>
            <a:r>
              <a:rPr lang="en-US" sz="1600" b="1" i="0" dirty="0">
                <a:solidFill>
                  <a:schemeClr val="accent1"/>
                </a:solidFill>
              </a:rPr>
              <a:t>Agents do real work</a:t>
            </a:r>
          </a:p>
          <a:p>
            <a:pPr marL="0" indent="0" algn="l">
              <a:spcBef>
                <a:spcPts val="0"/>
              </a:spcBef>
              <a:spcAft>
                <a:spcPts val="200"/>
              </a:spcAft>
              <a:buNone/>
            </a:pPr>
            <a:r>
              <a:rPr lang="en-US" sz="1400" b="0" i="0" dirty="0">
                <a:solidFill>
                  <a:schemeClr val="tx1"/>
                </a:solidFill>
              </a:rPr>
              <a:t>Farmers lean on commission agents for loans and quick cash payment.</a:t>
            </a:r>
          </a:p>
          <a:p>
            <a:pPr marL="0" indent="0" algn="l">
              <a:spcBef>
                <a:spcPts val="0"/>
              </a:spcBef>
              <a:spcAft>
                <a:spcPts val="0"/>
              </a:spcAft>
              <a:buNone/>
            </a:pPr>
            <a:r>
              <a:rPr lang="en-US" sz="1100" b="0" i="0" dirty="0">
                <a:solidFill>
                  <a:schemeClr val="accent5"/>
                </a:solidFill>
              </a:rPr>
              <a:t>Chaudhary &amp; Suri, 2022</a:t>
            </a:r>
          </a:p>
        </p:txBody>
      </p:sp>
      <p:sp>
        <p:nvSpPr>
          <p:cNvPr id="128" name="Fact Card 2"/>
          <p:cNvSpPr/>
          <p:nvPr/>
        </p:nvSpPr>
        <p:spPr>
          <a:xfrm>
            <a:off x="4334256" y="3931920"/>
            <a:ext cx="3520440" cy="1463040"/>
          </a:xfrm>
          <a:prstGeom prst="roundRect">
            <a:avLst>
              <a:gd name="adj" fmla="val 75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29" name="Fact Text 2"/>
          <p:cNvSpPr txBox="1"/>
          <p:nvPr/>
        </p:nvSpPr>
        <p:spPr>
          <a:xfrm>
            <a:off x="4535424" y="4041648"/>
            <a:ext cx="3118104" cy="1280160"/>
          </a:xfrm>
          <a:prstGeom prst="rect">
            <a:avLst/>
          </a:prstGeom>
          <a:noFill/>
          <a:ln>
            <a:noFill/>
          </a:ln>
        </p:spPr>
        <p:txBody>
          <a:bodyPr wrap="square" lIns="0" tIns="0" rIns="0" bIns="0" rtlCol="0" anchor="t">
            <a:noAutofit/>
          </a:bodyPr>
          <a:lstStyle/>
          <a:p>
            <a:pPr marL="0" indent="0" algn="l">
              <a:spcBef>
                <a:spcPts val="0"/>
              </a:spcBef>
              <a:spcAft>
                <a:spcPts val="300"/>
              </a:spcAft>
              <a:buNone/>
            </a:pPr>
            <a:r>
              <a:rPr lang="en-US" sz="1600" b="1" i="0" dirty="0">
                <a:solidFill>
                  <a:schemeClr val="accent1"/>
                </a:solidFill>
              </a:rPr>
              <a:t>Digital markets start at harvest</a:t>
            </a:r>
          </a:p>
          <a:p>
            <a:pPr marL="0" indent="0" algn="l">
              <a:spcBef>
                <a:spcPts val="0"/>
              </a:spcBef>
              <a:spcAft>
                <a:spcPts val="200"/>
              </a:spcAft>
              <a:buNone/>
            </a:pPr>
            <a:r>
              <a:rPr lang="en-US" sz="1400" b="0" i="0" dirty="0">
                <a:solidFill>
                  <a:schemeClr val="tx1"/>
                </a:solidFill>
              </a:rPr>
              <a:t>eNAM has 17.3 million registered farmers (Apr 2022), but bidding begins after produce reaches the mandi.</a:t>
            </a:r>
          </a:p>
          <a:p>
            <a:pPr marL="0" indent="0" algn="l">
              <a:spcBef>
                <a:spcPts val="0"/>
              </a:spcBef>
              <a:spcAft>
                <a:spcPts val="0"/>
              </a:spcAft>
              <a:buNone/>
            </a:pPr>
            <a:r>
              <a:rPr lang="en-US" sz="1100" b="0" i="0" dirty="0">
                <a:solidFill>
                  <a:schemeClr val="accent5"/>
                </a:solidFill>
              </a:rPr>
              <a:t>Chaudhary &amp; Suri, 2022</a:t>
            </a:r>
          </a:p>
        </p:txBody>
      </p:sp>
      <p:sp>
        <p:nvSpPr>
          <p:cNvPr id="130" name="Fact Card 3"/>
          <p:cNvSpPr/>
          <p:nvPr/>
        </p:nvSpPr>
        <p:spPr>
          <a:xfrm>
            <a:off x="8074152" y="3931920"/>
            <a:ext cx="3520440" cy="1463040"/>
          </a:xfrm>
          <a:prstGeom prst="roundRect">
            <a:avLst>
              <a:gd name="adj" fmla="val 75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31" name="Fact Text 3"/>
          <p:cNvSpPr txBox="1"/>
          <p:nvPr/>
        </p:nvSpPr>
        <p:spPr>
          <a:xfrm>
            <a:off x="8275320" y="4041648"/>
            <a:ext cx="3118104" cy="1280160"/>
          </a:xfrm>
          <a:prstGeom prst="rect">
            <a:avLst/>
          </a:prstGeom>
          <a:noFill/>
          <a:ln>
            <a:noFill/>
          </a:ln>
        </p:spPr>
        <p:txBody>
          <a:bodyPr wrap="square" lIns="0" tIns="0" rIns="0" bIns="0" rtlCol="0" anchor="t">
            <a:noAutofit/>
          </a:bodyPr>
          <a:lstStyle/>
          <a:p>
            <a:pPr marL="0" indent="0" algn="l">
              <a:spcBef>
                <a:spcPts val="0"/>
              </a:spcBef>
              <a:spcAft>
                <a:spcPts val="300"/>
              </a:spcAft>
              <a:buNone/>
            </a:pPr>
            <a:r>
              <a:rPr lang="en-US" sz="1600" b="1" i="0" dirty="0">
                <a:solidFill>
                  <a:schemeClr val="accent1"/>
                </a:solidFill>
              </a:rPr>
              <a:t>Margins stay with middlemen</a:t>
            </a:r>
          </a:p>
          <a:p>
            <a:pPr marL="0" indent="0" algn="l">
              <a:spcBef>
                <a:spcPts val="0"/>
              </a:spcBef>
              <a:spcAft>
                <a:spcPts val="200"/>
              </a:spcAft>
              <a:buNone/>
            </a:pPr>
            <a:r>
              <a:rPr lang="en-US" sz="1400" b="0" i="0" dirty="0">
                <a:solidFill>
                  <a:schemeClr val="tx1"/>
                </a:solidFill>
              </a:rPr>
              <a:t>In a West Bengal potato study, middlemen earned large margins and wholesale prices barely reached the farm gate.</a:t>
            </a:r>
          </a:p>
          <a:p>
            <a:pPr marL="0" indent="0" algn="l">
              <a:spcBef>
                <a:spcPts val="0"/>
              </a:spcBef>
              <a:spcAft>
                <a:spcPts val="0"/>
              </a:spcAft>
              <a:buNone/>
            </a:pPr>
            <a:r>
              <a:rPr lang="en-US" sz="1100" b="0" i="0" dirty="0">
                <a:solidFill>
                  <a:schemeClr val="accent5"/>
                </a:solidFill>
              </a:rPr>
              <a:t>Mitra et al., 2018</a:t>
            </a:r>
          </a:p>
        </p:txBody>
      </p:sp>
      <p:sp>
        <p:nvSpPr>
          <p:cNvPr id="132" name="Takeaway Bar"/>
          <p:cNvSpPr/>
          <p:nvPr/>
        </p:nvSpPr>
        <p:spPr>
          <a:xfrm>
            <a:off x="594360" y="5559552"/>
            <a:ext cx="11000232" cy="658368"/>
          </a:xfrm>
          <a:prstGeom prst="roundRect">
            <a:avLst>
              <a:gd name="adj" fmla="val 16666"/>
            </a:avLst>
          </a:prstGeom>
          <a:solidFill>
            <a:schemeClr val="tx2"/>
          </a:solidFill>
          <a:ln>
            <a:noFill/>
          </a:ln>
        </p:spPr>
        <p:txBody>
          <a:bodyPr wrap="square" lIns="228600" tIns="73152" rIns="228600" bIns="73152" rtlCol="0" anchor="ctr">
            <a:noAutofit/>
          </a:bodyPr>
          <a:lstStyle/>
          <a:p>
            <a:pPr marL="0" indent="0" algn="l">
              <a:spcBef>
                <a:spcPts val="0"/>
              </a:spcBef>
              <a:spcAft>
                <a:spcPts val="0"/>
              </a:spcAft>
              <a:buNone/>
            </a:pPr>
            <a:r>
              <a:rPr lang="en-US" sz="1600" b="1" i="0" dirty="0">
                <a:solidFill>
                  <a:schemeClr val="accent3"/>
                </a:solidFill>
              </a:rPr>
              <a:t>Takeaway: </a:t>
            </a:r>
            <a:r>
              <a:rPr lang="en-US" sz="1600" b="1" i="0" dirty="0">
                <a:solidFill>
                  <a:schemeClr val="bg1"/>
                </a:solidFill>
              </a:rPr>
              <a:t>the price is decided at harvest, when the farmer has the least power.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7"/>
          <p:cNvSpPr>
            <a:spLocks noGrp="1"/>
          </p:cNvSpPr>
          <p:nvPr>
            <p:ph type="title" idx="108" hasCustomPrompt="1"/>
          </p:nvPr>
        </p:nvSpPr>
        <p:spPr>
          <a:prstGeom prst="rect">
            <a:avLst/>
          </a:prstGeom>
          <a:noFill/>
          <a:ln/>
        </p:spPr>
        <p:txBody>
          <a:bodyPr wrap="square" lIns="0" tIns="0" rIns="0" bIns="0" rtlCol="0" anchor="ctr"/>
          <a:lstStyle/>
          <a:p>
            <a:pPr marL="0" indent="0" algn="ctr">
              <a:buNone/>
            </a:pPr>
            <a:r>
              <a:rPr lang="en-US" sz="2400" b="1" kern="0" spc="100" dirty="0">
                <a:solidFill>
                  <a:schemeClr val="tx2"/>
                </a:solidFill>
                <a:latin typeface="Cambria" pitchFamily="34" charset="0"/>
                <a:ea typeface="Cambria" pitchFamily="34" charset="-122"/>
                <a:cs typeface="Cambria" pitchFamily="34" charset="-120"/>
              </a:rPr>
              <a:t>KEY CHALLENGES</a:t>
            </a:r>
            <a:endParaRPr lang="en-US" sz="2400" dirty="0"/>
          </a:p>
        </p:txBody>
      </p:sp>
      <p:sp>
        <p:nvSpPr>
          <p:cNvPr id="25" name="Slide Number Placeholder 0"/>
          <p:cNvSpPr>
            <a:spLocks noGrp="1"/>
          </p:cNvSpPr>
          <p:nvPr>
            <p:ph type="sldNum" sz="quarter" idx="4294967295"/>
          </p:nvPr>
        </p:nvSpPr>
        <p:spPr>
          <a:prstGeom prst="rect">
            <a:avLst/>
          </a:prstGeom>
          <a:extLst>
            <a:ext uri="{C572A759-6A51-4108-AA02-DFA0A04FC94B}">
              <ma14:wrappingTextBoxFlag xmlns="" xmlns:ma14="http://schemas.microsoft.com/office/mac/drawingml/2011/main" val="0"/>
            </a:ext>
          </a:extLst>
        </p:spPr>
        <p:txBody>
          <a:bodyPr lIns="0" tIns="0" rIns="0" bIns="0" anchor="ctr"/>
          <a:lstStyle>
            <a:lvl1pPr>
              <a:defRPr sz="1100">
                <a:solidFill>
                  <a:schemeClr val="tx2"/>
                </a:solidFill>
                <a:latin typeface="Calibri"/>
                <a:ea typeface="Calibri"/>
                <a:cs typeface="Calibri"/>
              </a:defRPr>
            </a:lvl1pPr>
          </a:lstStyle>
          <a:p>
            <a:pPr algn="ctr"/>
            <a:fld id="{F7021451-1387-4CA6-816F-3879F97B5CBC}" type="slidenum">
              <a:rPr lang="en-US" b="1"/>
              <a:t>5</a:t>
            </a:fld>
            <a:endParaRPr lang="en-US"/>
          </a:p>
        </p:txBody>
      </p:sp>
      <p:sp>
        <p:nvSpPr>
          <p:cNvPr id="3" name="Team Badge"/>
          <p:cNvSpPr/>
          <p:nvPr/>
        </p:nvSpPr>
        <p:spPr>
          <a:xfrm>
            <a:off x="457200" y="320040"/>
            <a:ext cx="2606040" cy="822960"/>
          </a:xfrm>
          <a:prstGeom prst="roundRect">
            <a:avLst>
              <a:gd name="adj" fmla="val 13333"/>
            </a:avLst>
          </a:prstGeom>
          <a:solidFill>
            <a:schemeClr val="bg1"/>
          </a:solidFill>
          <a:ln w="9525">
            <a:solidFill>
              <a:schemeClr val="accent6"/>
            </a:solidFill>
            <a:prstDash val="solid"/>
          </a:ln>
        </p:spPr>
        <p:txBody>
          <a:bodyPr/>
          <a:lstStyle/>
          <a:p>
            <a:endParaRPr lang="en-IN"/>
          </a:p>
        </p:txBody>
      </p:sp>
      <p:sp>
        <p:nvSpPr>
          <p:cNvPr id="4" name="Team Icon Hex"/>
          <p:cNvSpPr/>
          <p:nvPr/>
        </p:nvSpPr>
        <p:spPr>
          <a:xfrm>
            <a:off x="603504" y="457200"/>
            <a:ext cx="630936" cy="548640"/>
          </a:xfrm>
          <a:prstGeom prst="hexagon">
            <a:avLst/>
          </a:prstGeom>
          <a:solidFill>
            <a:schemeClr val="bg2"/>
          </a:solidFill>
          <a:ln w="9525">
            <a:solidFill>
              <a:schemeClr val="accent6"/>
            </a:solidFill>
            <a:prstDash val="solid"/>
          </a:ln>
        </p:spPr>
        <p:txBody>
          <a:bodyPr/>
          <a:lstStyle/>
          <a:p>
            <a:endParaRPr lang="en-IN"/>
          </a:p>
        </p:txBody>
      </p:sp>
      <p:pic>
        <p:nvPicPr>
          <p:cNvPr id="5" name="Team Icon" descr="Team icon"/>
          <p:cNvPicPr>
            <a:picLocks noChangeAspect="1"/>
          </p:cNvPicPr>
          <p:nvPr/>
        </p:nvPicPr>
        <p:blipFill>
          <a:blip r:embed="rId3"/>
          <a:stretch>
            <a:fillRect/>
          </a:stretch>
        </p:blipFill>
        <p:spPr>
          <a:xfrm>
            <a:off x="736092" y="548640"/>
            <a:ext cx="365760" cy="365760"/>
          </a:xfrm>
          <a:prstGeom prst="rect">
            <a:avLst/>
          </a:prstGeom>
        </p:spPr>
      </p:pic>
      <p:sp>
        <p:nvSpPr>
          <p:cNvPr id="6" name="Team Name"/>
          <p:cNvSpPr txBox="1"/>
          <p:nvPr/>
        </p:nvSpPr>
        <p:spPr>
          <a:xfrm>
            <a:off x="1371600" y="384048"/>
            <a:ext cx="1627632" cy="694944"/>
          </a:xfrm>
          <a:prstGeom prst="rect">
            <a:avLst/>
          </a:prstGeom>
          <a:noFill/>
          <a:ln/>
        </p:spPr>
        <p:txBody>
          <a:bodyPr wrap="square" lIns="0" tIns="0" rIns="0" bIns="0" rtlCol="0" anchor="ctr">
            <a:normAutofit/>
          </a:bodyPr>
          <a:lstStyle/>
          <a:p>
            <a:pPr marL="0" indent="0">
              <a:buNone/>
            </a:pPr>
            <a:r>
              <a:rPr lang="en-US" sz="900" b="1" kern="0" spc="300" dirty="0">
                <a:solidFill>
                  <a:schemeClr val="accent5"/>
                </a:solidFill>
              </a:rPr>
              <a:t>TEAM</a:t>
            </a:r>
            <a:endParaRPr lang="en-US" sz="900" dirty="0"/>
          </a:p>
          <a:p>
            <a:pPr marL="0" indent="0">
              <a:buNone/>
            </a:pPr>
            <a:r>
              <a:rPr lang="en-US" sz="1500" b="1" dirty="0">
                <a:solidFill>
                  <a:schemeClr val="accent1"/>
                </a:solidFill>
              </a:rPr>
              <a:t>COMET 502</a:t>
            </a:r>
            <a:endParaRPr lang="en-US" sz="900" dirty="0"/>
          </a:p>
        </p:txBody>
      </p:sp>
      <p:sp>
        <p:nvSpPr>
          <p:cNvPr id="7" name="Lead Icon Hex"/>
          <p:cNvSpPr/>
          <p:nvPr/>
        </p:nvSpPr>
        <p:spPr>
          <a:xfrm>
            <a:off x="548640" y="1463040"/>
            <a:ext cx="457200" cy="395935"/>
          </a:xfrm>
          <a:prstGeom prst="hexagon">
            <a:avLst/>
          </a:prstGeom>
          <a:solidFill>
            <a:schemeClr val="accent3"/>
          </a:solidFill>
          <a:ln/>
        </p:spPr>
        <p:txBody>
          <a:bodyPr/>
          <a:lstStyle/>
          <a:p>
            <a:endParaRPr lang="en-IN"/>
          </a:p>
        </p:txBody>
      </p:sp>
      <p:pic>
        <p:nvPicPr>
          <p:cNvPr id="8" name="Lead Icon" descr="Lightbulb icon"/>
          <p:cNvPicPr>
            <a:picLocks noChangeAspect="1"/>
          </p:cNvPicPr>
          <p:nvPr/>
        </p:nvPicPr>
        <p:blipFill>
          <a:blip r:embed="rId4"/>
          <a:stretch>
            <a:fillRect/>
          </a:stretch>
        </p:blipFill>
        <p:spPr>
          <a:xfrm>
            <a:off x="640080" y="1523390"/>
            <a:ext cx="274320" cy="274320"/>
          </a:xfrm>
          <a:prstGeom prst="rect">
            <a:avLst/>
          </a:prstGeom>
        </p:spPr>
      </p:pic>
      <p:sp>
        <p:nvSpPr>
          <p:cNvPr id="9" name="Lead Text"/>
          <p:cNvSpPr txBox="1"/>
          <p:nvPr/>
        </p:nvSpPr>
        <p:spPr>
          <a:xfrm>
            <a:off x="1170432" y="1417320"/>
            <a:ext cx="9601200" cy="502920"/>
          </a:xfrm>
          <a:prstGeom prst="rect">
            <a:avLst/>
          </a:prstGeom>
          <a:noFill/>
          <a:ln/>
        </p:spPr>
        <p:txBody>
          <a:bodyPr wrap="square" lIns="0" tIns="0" rIns="0" bIns="0" rtlCol="0" anchor="ctr"/>
          <a:lstStyle/>
          <a:p>
            <a:pPr marL="0" indent="0">
              <a:buNone/>
            </a:pPr>
            <a:r>
              <a:rPr lang="en-US" sz="1800" b="1" dirty="0">
                <a:solidFill>
                  <a:schemeClr val="accent2"/>
                </a:solidFill>
              </a:rPr>
              <a:t>Main difficulties, bottlenecks, root causes and consequences</a:t>
            </a:r>
            <a:endParaRPr lang="en-US" sz="1800" dirty="0"/>
          </a:p>
        </p:txBody>
      </p:sp>
      <p:sp>
        <p:nvSpPr>
          <p:cNvPr id="101" name="Challenge Card 1"/>
          <p:cNvSpPr/>
          <p:nvPr/>
        </p:nvSpPr>
        <p:spPr>
          <a:xfrm>
            <a:off x="594360" y="2057400"/>
            <a:ext cx="3520440" cy="3017520"/>
          </a:xfrm>
          <a:prstGeom prst="roundRect">
            <a:avLst>
              <a:gd name="adj" fmla="val 3636"/>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2" name="Challenge Number 1"/>
          <p:cNvSpPr/>
          <p:nvPr/>
        </p:nvSpPr>
        <p:spPr>
          <a:xfrm>
            <a:off x="795528" y="2240280"/>
            <a:ext cx="384048" cy="33284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1</a:t>
            </a:r>
          </a:p>
        </p:txBody>
      </p:sp>
      <p:sp>
        <p:nvSpPr>
          <p:cNvPr id="103" name="Challenge Heading 1"/>
          <p:cNvSpPr txBox="1"/>
          <p:nvPr/>
        </p:nvSpPr>
        <p:spPr>
          <a:xfrm>
            <a:off x="1307592" y="2194560"/>
            <a:ext cx="2651760" cy="420624"/>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Main difficulties</a:t>
            </a:r>
          </a:p>
        </p:txBody>
      </p:sp>
      <p:sp>
        <p:nvSpPr>
          <p:cNvPr id="104" name="Challenge List 1"/>
          <p:cNvSpPr txBox="1"/>
          <p:nvPr/>
        </p:nvSpPr>
        <p:spPr>
          <a:xfrm>
            <a:off x="795528" y="2788920"/>
            <a:ext cx="3118104" cy="2194560"/>
          </a:xfrm>
          <a:prstGeom prst="rect">
            <a:avLst/>
          </a:prstGeom>
          <a:noFill/>
          <a:ln>
            <a:noFill/>
          </a:ln>
        </p:spPr>
        <p:txBody>
          <a:bodyPr wrap="square" lIns="0" tIns="0" rIns="0" bIns="0" rtlCol="0" anchor="t">
            <a:noAutofit/>
          </a:bodyPr>
          <a:lstStyle/>
          <a:p>
            <a:pPr marL="228600" indent="-228600" algn="l">
              <a:spcBef>
                <a:spcPts val="0"/>
              </a:spcBef>
              <a:spcAft>
                <a:spcPts val="600"/>
              </a:spcAft>
              <a:buClr>
                <a:schemeClr val="accent3"/>
              </a:buClr>
              <a:buSzPct val="100000"/>
              <a:buChar char="•"/>
            </a:pPr>
            <a:r>
              <a:rPr lang="en-US" sz="1400" b="0" i="0" dirty="0">
                <a:solidFill>
                  <a:schemeClr val="tx1"/>
                </a:solidFill>
              </a:rPr>
              <a:t>Farmers plant with no confirmed buyer or price</a:t>
            </a:r>
          </a:p>
          <a:p>
            <a:pPr marL="228600" indent="-228600" algn="l">
              <a:spcBef>
                <a:spcPts val="0"/>
              </a:spcBef>
              <a:spcAft>
                <a:spcPts val="600"/>
              </a:spcAft>
              <a:buClr>
                <a:schemeClr val="accent3"/>
              </a:buClr>
              <a:buSzPct val="100000"/>
              <a:buChar char="•"/>
            </a:pPr>
            <a:r>
              <a:rPr lang="en-US" sz="1400" b="0" i="0" dirty="0">
                <a:solidFill>
                  <a:schemeClr val="tx1"/>
                </a:solidFill>
              </a:rPr>
              <a:t>Buyers cannot commit early without risking their money</a:t>
            </a:r>
          </a:p>
          <a:p>
            <a:pPr marL="228600" indent="-228600" algn="l">
              <a:spcBef>
                <a:spcPts val="0"/>
              </a:spcBef>
              <a:spcAft>
                <a:spcPts val="600"/>
              </a:spcAft>
              <a:buClr>
                <a:schemeClr val="accent3"/>
              </a:buClr>
              <a:buSzPct val="100000"/>
              <a:buChar char="•"/>
            </a:pPr>
            <a:r>
              <a:rPr lang="en-US" sz="1400" b="0" i="0" dirty="0">
                <a:solidFill>
                  <a:schemeClr val="tx1"/>
                </a:solidFill>
              </a:rPr>
              <a:t>Small lots and uneven quality make deals hard to trust</a:t>
            </a:r>
          </a:p>
        </p:txBody>
      </p:sp>
      <p:sp>
        <p:nvSpPr>
          <p:cNvPr id="105" name="Challenge Arrow 1"/>
          <p:cNvSpPr/>
          <p:nvPr/>
        </p:nvSpPr>
        <p:spPr>
          <a:xfrm>
            <a:off x="4146804" y="3429000"/>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06" name="Challenge Card 2"/>
          <p:cNvSpPr/>
          <p:nvPr/>
        </p:nvSpPr>
        <p:spPr>
          <a:xfrm>
            <a:off x="4334256" y="2057400"/>
            <a:ext cx="3520440" cy="3017520"/>
          </a:xfrm>
          <a:prstGeom prst="roundRect">
            <a:avLst>
              <a:gd name="adj" fmla="val 3636"/>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7" name="Challenge Number 2"/>
          <p:cNvSpPr/>
          <p:nvPr/>
        </p:nvSpPr>
        <p:spPr>
          <a:xfrm>
            <a:off x="4535424" y="2240280"/>
            <a:ext cx="384048" cy="33284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2</a:t>
            </a:r>
          </a:p>
        </p:txBody>
      </p:sp>
      <p:sp>
        <p:nvSpPr>
          <p:cNvPr id="108" name="Challenge Heading 2"/>
          <p:cNvSpPr txBox="1"/>
          <p:nvPr/>
        </p:nvSpPr>
        <p:spPr>
          <a:xfrm>
            <a:off x="5047488" y="2194560"/>
            <a:ext cx="2651760" cy="420624"/>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Root causes</a:t>
            </a:r>
          </a:p>
        </p:txBody>
      </p:sp>
      <p:sp>
        <p:nvSpPr>
          <p:cNvPr id="109" name="Challenge List 2"/>
          <p:cNvSpPr txBox="1"/>
          <p:nvPr/>
        </p:nvSpPr>
        <p:spPr>
          <a:xfrm>
            <a:off x="4535424" y="2788920"/>
            <a:ext cx="3118104" cy="2194560"/>
          </a:xfrm>
          <a:prstGeom prst="rect">
            <a:avLst/>
          </a:prstGeom>
          <a:noFill/>
          <a:ln>
            <a:noFill/>
          </a:ln>
        </p:spPr>
        <p:txBody>
          <a:bodyPr wrap="square" lIns="0" tIns="0" rIns="0" bIns="0" rtlCol="0" anchor="t">
            <a:noAutofit/>
          </a:bodyPr>
          <a:lstStyle/>
          <a:p>
            <a:pPr marL="228600" indent="-228600" algn="l">
              <a:spcBef>
                <a:spcPts val="0"/>
              </a:spcBef>
              <a:spcAft>
                <a:spcPts val="600"/>
              </a:spcAft>
              <a:buClr>
                <a:schemeClr val="accent3"/>
              </a:buClr>
              <a:buSzPct val="100000"/>
              <a:buChar char="•"/>
            </a:pPr>
            <a:r>
              <a:rPr lang="en-US" sz="1400" b="0" i="0" dirty="0">
                <a:solidFill>
                  <a:schemeClr val="tx1"/>
                </a:solidFill>
              </a:rPr>
              <a:t>Agents supply what nobody else does: credit, cash, pick-up</a:t>
            </a:r>
          </a:p>
          <a:p>
            <a:pPr marL="228600" indent="-228600" algn="l">
              <a:spcBef>
                <a:spcPts val="0"/>
              </a:spcBef>
              <a:spcAft>
                <a:spcPts val="600"/>
              </a:spcAft>
              <a:buClr>
                <a:schemeClr val="accent3"/>
              </a:buClr>
              <a:buSzPct val="100000"/>
              <a:buChar char="•"/>
            </a:pPr>
            <a:r>
              <a:rPr lang="en-US" sz="1400" b="0" i="0" dirty="0">
                <a:solidFill>
                  <a:schemeClr val="tx1"/>
                </a:solidFill>
              </a:rPr>
              <a:t>No trusted way to guarantee a deal between strangers</a:t>
            </a:r>
          </a:p>
          <a:p>
            <a:pPr marL="228600" indent="-228600" algn="l">
              <a:spcBef>
                <a:spcPts val="0"/>
              </a:spcBef>
              <a:spcAft>
                <a:spcPts val="600"/>
              </a:spcAft>
              <a:buClr>
                <a:schemeClr val="accent3"/>
              </a:buClr>
              <a:buSzPct val="100000"/>
              <a:buChar char="•"/>
            </a:pPr>
            <a:r>
              <a:rPr lang="en-US" sz="1400" b="0" i="0" dirty="0">
                <a:solidFill>
                  <a:schemeClr val="tx1"/>
                </a:solidFill>
              </a:rPr>
              <a:t>Demand is invisible to farmers when they plant</a:t>
            </a:r>
          </a:p>
        </p:txBody>
      </p:sp>
      <p:sp>
        <p:nvSpPr>
          <p:cNvPr id="110" name="Challenge Arrow 2"/>
          <p:cNvSpPr/>
          <p:nvPr/>
        </p:nvSpPr>
        <p:spPr>
          <a:xfrm>
            <a:off x="7886700" y="3429000"/>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11" name="Challenge Card 3"/>
          <p:cNvSpPr/>
          <p:nvPr/>
        </p:nvSpPr>
        <p:spPr>
          <a:xfrm>
            <a:off x="8074152" y="2057400"/>
            <a:ext cx="3520440" cy="3017520"/>
          </a:xfrm>
          <a:prstGeom prst="roundRect">
            <a:avLst>
              <a:gd name="adj" fmla="val 3636"/>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12" name="Challenge Number 3"/>
          <p:cNvSpPr/>
          <p:nvPr/>
        </p:nvSpPr>
        <p:spPr>
          <a:xfrm>
            <a:off x="8275320" y="2240280"/>
            <a:ext cx="384048" cy="33284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3</a:t>
            </a:r>
          </a:p>
        </p:txBody>
      </p:sp>
      <p:sp>
        <p:nvSpPr>
          <p:cNvPr id="113" name="Challenge Heading 3"/>
          <p:cNvSpPr txBox="1"/>
          <p:nvPr/>
        </p:nvSpPr>
        <p:spPr>
          <a:xfrm>
            <a:off x="8787384" y="2194560"/>
            <a:ext cx="2651760" cy="420624"/>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If left unsolved</a:t>
            </a:r>
          </a:p>
        </p:txBody>
      </p:sp>
      <p:sp>
        <p:nvSpPr>
          <p:cNvPr id="114" name="Challenge List 3"/>
          <p:cNvSpPr txBox="1"/>
          <p:nvPr/>
        </p:nvSpPr>
        <p:spPr>
          <a:xfrm>
            <a:off x="8275320" y="2788920"/>
            <a:ext cx="3118104" cy="2194560"/>
          </a:xfrm>
          <a:prstGeom prst="rect">
            <a:avLst/>
          </a:prstGeom>
          <a:noFill/>
          <a:ln>
            <a:noFill/>
          </a:ln>
        </p:spPr>
        <p:txBody>
          <a:bodyPr wrap="square" lIns="0" tIns="0" rIns="0" bIns="0" rtlCol="0" anchor="t">
            <a:noAutofit/>
          </a:bodyPr>
          <a:lstStyle/>
          <a:p>
            <a:pPr marL="228600" indent="-228600" algn="l">
              <a:spcBef>
                <a:spcPts val="0"/>
              </a:spcBef>
              <a:spcAft>
                <a:spcPts val="600"/>
              </a:spcAft>
              <a:buClr>
                <a:schemeClr val="accent3"/>
              </a:buClr>
              <a:buSzPct val="100000"/>
              <a:buChar char="•"/>
            </a:pPr>
            <a:r>
              <a:rPr lang="en-US" sz="1400" b="0" i="0" dirty="0">
                <a:solidFill>
                  <a:schemeClr val="tx1"/>
                </a:solidFill>
              </a:rPr>
              <a:t>Low farm-gate prices persist as agents keep their bargaining power </a:t>
            </a:r>
            <a:r>
              <a:rPr lang="en-US" sz="1100" b="0" i="0" dirty="0">
                <a:solidFill>
                  <a:schemeClr val="accent5"/>
                </a:solidFill>
              </a:rPr>
              <a:t>(Chatterjee, 2023)</a:t>
            </a:r>
          </a:p>
          <a:p>
            <a:pPr marL="228600" indent="-228600" algn="l">
              <a:spcBef>
                <a:spcPts val="0"/>
              </a:spcBef>
              <a:spcAft>
                <a:spcPts val="600"/>
              </a:spcAft>
              <a:buClr>
                <a:schemeClr val="accent3"/>
              </a:buClr>
              <a:buSzPct val="100000"/>
              <a:buChar char="•"/>
            </a:pPr>
            <a:r>
              <a:rPr lang="en-US" sz="1400" b="0" i="0" dirty="0">
                <a:solidFill>
                  <a:schemeClr val="tx1"/>
                </a:solidFill>
              </a:rPr>
              <a:t>Informal deals break through side-selling and non-delivery </a:t>
            </a:r>
            <a:r>
              <a:rPr lang="en-US" sz="1100" b="0" i="0" dirty="0">
                <a:solidFill>
                  <a:schemeClr val="accent5"/>
                </a:solidFill>
              </a:rPr>
              <a:t>(Barrett et al., 2012)</a:t>
            </a:r>
          </a:p>
          <a:p>
            <a:pPr marL="228600" indent="-228600" algn="l">
              <a:spcBef>
                <a:spcPts val="0"/>
              </a:spcBef>
              <a:spcAft>
                <a:spcPts val="600"/>
              </a:spcAft>
              <a:buClr>
                <a:schemeClr val="accent3"/>
              </a:buClr>
              <a:buSzPct val="100000"/>
              <a:buChar char="•"/>
            </a:pPr>
            <a:r>
              <a:rPr lang="en-US" sz="1400" b="0" i="0" dirty="0">
                <a:solidFill>
                  <a:schemeClr val="tx1"/>
                </a:solidFill>
              </a:rPr>
              <a:t>Produce is wasted when sellers and buyers cannot find each other </a:t>
            </a:r>
            <a:r>
              <a:rPr lang="en-US" sz="1100" b="0" i="0" dirty="0">
                <a:solidFill>
                  <a:schemeClr val="accent5"/>
                </a:solidFill>
              </a:rPr>
              <a:t>(Jensen, 2007)</a:t>
            </a:r>
          </a:p>
        </p:txBody>
      </p:sp>
      <p:sp>
        <p:nvSpPr>
          <p:cNvPr id="115" name="Insight Bar"/>
          <p:cNvSpPr/>
          <p:nvPr/>
        </p:nvSpPr>
        <p:spPr>
          <a:xfrm>
            <a:off x="594360" y="5303520"/>
            <a:ext cx="11000232" cy="914400"/>
          </a:xfrm>
          <a:prstGeom prst="roundRect">
            <a:avLst>
              <a:gd name="adj" fmla="val 12000"/>
            </a:avLst>
          </a:prstGeom>
          <a:solidFill>
            <a:schemeClr val="tx2"/>
          </a:solidFill>
          <a:ln>
            <a:noFill/>
          </a:ln>
        </p:spPr>
        <p:txBody>
          <a:bodyPr wrap="square" lIns="228600" tIns="73152" rIns="228600" bIns="73152" rtlCol="0" anchor="ctr">
            <a:noAutofit/>
          </a:bodyPr>
          <a:lstStyle/>
          <a:p>
            <a:pPr marL="0" indent="0" algn="l">
              <a:spcBef>
                <a:spcPts val="0"/>
              </a:spcBef>
              <a:spcAft>
                <a:spcPts val="0"/>
              </a:spcAft>
              <a:buNone/>
            </a:pPr>
            <a:r>
              <a:rPr lang="en-US" sz="1800" b="1" i="0" dirty="0">
                <a:solidFill>
                  <a:schemeClr val="bg1"/>
                </a:solidFill>
              </a:rPr>
              <a:t>The hard part isn't matching buyers and sellers. It's making a promise before planting </a:t>
            </a:r>
            <a:r>
              <a:rPr lang="en-US" sz="1800" b="1" i="0" dirty="0">
                <a:solidFill>
                  <a:schemeClr val="accent3"/>
                </a:solidFill>
              </a:rPr>
              <a:t>safe for both sides.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7"/>
          <p:cNvSpPr>
            <a:spLocks noGrp="1"/>
          </p:cNvSpPr>
          <p:nvPr>
            <p:ph type="title" idx="108" hasCustomPrompt="1"/>
          </p:nvPr>
        </p:nvSpPr>
        <p:spPr>
          <a:prstGeom prst="rect">
            <a:avLst/>
          </a:prstGeom>
          <a:noFill/>
          <a:ln/>
        </p:spPr>
        <p:txBody>
          <a:bodyPr wrap="square" lIns="0" tIns="0" rIns="0" bIns="0" rtlCol="0" anchor="ctr"/>
          <a:lstStyle/>
          <a:p>
            <a:pPr marL="0" indent="0" algn="ctr">
              <a:buNone/>
            </a:pPr>
            <a:r>
              <a:rPr lang="en-US" sz="2400" b="1" kern="0" spc="100" dirty="0">
                <a:solidFill>
                  <a:schemeClr val="tx2"/>
                </a:solidFill>
                <a:latin typeface="Cambria" pitchFamily="34" charset="0"/>
                <a:ea typeface="Cambria" pitchFamily="34" charset="-122"/>
                <a:cs typeface="Cambria" pitchFamily="34" charset="-120"/>
              </a:rPr>
              <a:t>EXISTING SOLUTIONS / APPROACHES</a:t>
            </a:r>
            <a:endParaRPr lang="en-US" sz="2400" dirty="0"/>
          </a:p>
        </p:txBody>
      </p:sp>
      <p:sp>
        <p:nvSpPr>
          <p:cNvPr id="25" name="Slide Number Placeholder 0"/>
          <p:cNvSpPr>
            <a:spLocks noGrp="1"/>
          </p:cNvSpPr>
          <p:nvPr>
            <p:ph type="sldNum" sz="quarter" idx="4294967295"/>
          </p:nvPr>
        </p:nvSpPr>
        <p:spPr>
          <a:xfrm>
            <a:off x="11259007" y="6409944"/>
            <a:ext cx="457200" cy="395935"/>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100">
                <a:solidFill>
                  <a:schemeClr val="tx2"/>
                </a:solidFill>
                <a:latin typeface="Calibri"/>
                <a:ea typeface="Calibri"/>
                <a:cs typeface="Calibri"/>
              </a:defRPr>
            </a:lvl1pPr>
          </a:lstStyle>
          <a:p>
            <a:pPr algn="ctr"/>
            <a:fld id="{F7021451-1387-4CA6-816F-3879F97B5CBC}" type="slidenum">
              <a:rPr lang="en-US" b="1"/>
              <a:t>6</a:t>
            </a:fld>
            <a:endParaRPr lang="en-US"/>
          </a:p>
        </p:txBody>
      </p:sp>
      <p:sp>
        <p:nvSpPr>
          <p:cNvPr id="3" name="Team Badge"/>
          <p:cNvSpPr/>
          <p:nvPr/>
        </p:nvSpPr>
        <p:spPr>
          <a:xfrm>
            <a:off x="457200" y="320040"/>
            <a:ext cx="2606040" cy="822960"/>
          </a:xfrm>
          <a:prstGeom prst="roundRect">
            <a:avLst>
              <a:gd name="adj" fmla="val 13333"/>
            </a:avLst>
          </a:prstGeom>
          <a:solidFill>
            <a:schemeClr val="bg1"/>
          </a:solidFill>
          <a:ln w="9525">
            <a:solidFill>
              <a:schemeClr val="accent6"/>
            </a:solidFill>
            <a:prstDash val="solid"/>
          </a:ln>
        </p:spPr>
        <p:txBody>
          <a:bodyPr/>
          <a:lstStyle/>
          <a:p>
            <a:endParaRPr lang="en-IN"/>
          </a:p>
        </p:txBody>
      </p:sp>
      <p:sp>
        <p:nvSpPr>
          <p:cNvPr id="4" name="Team Icon Hex"/>
          <p:cNvSpPr/>
          <p:nvPr/>
        </p:nvSpPr>
        <p:spPr>
          <a:xfrm>
            <a:off x="603504" y="457200"/>
            <a:ext cx="630936" cy="548640"/>
          </a:xfrm>
          <a:prstGeom prst="hexagon">
            <a:avLst/>
          </a:prstGeom>
          <a:solidFill>
            <a:schemeClr val="bg2"/>
          </a:solidFill>
          <a:ln w="9525">
            <a:solidFill>
              <a:schemeClr val="accent6"/>
            </a:solidFill>
            <a:prstDash val="solid"/>
          </a:ln>
        </p:spPr>
        <p:txBody>
          <a:bodyPr/>
          <a:lstStyle/>
          <a:p>
            <a:endParaRPr lang="en-IN"/>
          </a:p>
        </p:txBody>
      </p:sp>
      <p:pic>
        <p:nvPicPr>
          <p:cNvPr id="5" name="Team Icon" descr="Team icon"/>
          <p:cNvPicPr>
            <a:picLocks noChangeAspect="1"/>
          </p:cNvPicPr>
          <p:nvPr/>
        </p:nvPicPr>
        <p:blipFill>
          <a:blip r:embed="rId3"/>
          <a:stretch>
            <a:fillRect/>
          </a:stretch>
        </p:blipFill>
        <p:spPr>
          <a:xfrm>
            <a:off x="736092" y="548640"/>
            <a:ext cx="365760" cy="365760"/>
          </a:xfrm>
          <a:prstGeom prst="rect">
            <a:avLst/>
          </a:prstGeom>
        </p:spPr>
      </p:pic>
      <p:sp>
        <p:nvSpPr>
          <p:cNvPr id="6" name="Team Name"/>
          <p:cNvSpPr txBox="1"/>
          <p:nvPr/>
        </p:nvSpPr>
        <p:spPr>
          <a:xfrm>
            <a:off x="1371600" y="384048"/>
            <a:ext cx="1627632" cy="694944"/>
          </a:xfrm>
          <a:prstGeom prst="rect">
            <a:avLst/>
          </a:prstGeom>
          <a:noFill/>
          <a:ln/>
        </p:spPr>
        <p:txBody>
          <a:bodyPr wrap="square" lIns="0" tIns="0" rIns="0" bIns="0" rtlCol="0" anchor="ctr">
            <a:normAutofit/>
          </a:bodyPr>
          <a:lstStyle/>
          <a:p>
            <a:pPr marL="0" indent="0">
              <a:buNone/>
            </a:pPr>
            <a:r>
              <a:rPr lang="en-US" sz="900" b="1" kern="0" spc="300" dirty="0">
                <a:solidFill>
                  <a:schemeClr val="accent5"/>
                </a:solidFill>
              </a:rPr>
              <a:t>TEAM</a:t>
            </a:r>
            <a:endParaRPr lang="en-US" sz="900" dirty="0"/>
          </a:p>
          <a:p>
            <a:pPr marL="0" indent="0">
              <a:buNone/>
            </a:pPr>
            <a:r>
              <a:rPr lang="en-US" sz="1500" b="1" dirty="0">
                <a:solidFill>
                  <a:schemeClr val="accent1"/>
                </a:solidFill>
              </a:rPr>
              <a:t>COMET 502</a:t>
            </a:r>
            <a:endParaRPr lang="en-US" sz="900" dirty="0"/>
          </a:p>
        </p:txBody>
      </p:sp>
      <p:sp>
        <p:nvSpPr>
          <p:cNvPr id="7" name="Lead Icon Hex"/>
          <p:cNvSpPr/>
          <p:nvPr/>
        </p:nvSpPr>
        <p:spPr>
          <a:xfrm>
            <a:off x="548640" y="1463040"/>
            <a:ext cx="457200" cy="395935"/>
          </a:xfrm>
          <a:prstGeom prst="hexagon">
            <a:avLst/>
          </a:prstGeom>
          <a:solidFill>
            <a:schemeClr val="accent3"/>
          </a:solidFill>
          <a:ln/>
        </p:spPr>
        <p:txBody>
          <a:bodyPr/>
          <a:lstStyle/>
          <a:p>
            <a:endParaRPr lang="en-IN"/>
          </a:p>
        </p:txBody>
      </p:sp>
      <p:pic>
        <p:nvPicPr>
          <p:cNvPr id="8" name="Lead Icon" descr="Lightbulb icon"/>
          <p:cNvPicPr>
            <a:picLocks noChangeAspect="1"/>
          </p:cNvPicPr>
          <p:nvPr/>
        </p:nvPicPr>
        <p:blipFill>
          <a:blip r:embed="rId4"/>
          <a:stretch>
            <a:fillRect/>
          </a:stretch>
        </p:blipFill>
        <p:spPr>
          <a:xfrm>
            <a:off x="640080" y="1523390"/>
            <a:ext cx="274320" cy="274320"/>
          </a:xfrm>
          <a:prstGeom prst="rect">
            <a:avLst/>
          </a:prstGeom>
        </p:spPr>
      </p:pic>
      <p:sp>
        <p:nvSpPr>
          <p:cNvPr id="9" name="Lead Text"/>
          <p:cNvSpPr txBox="1"/>
          <p:nvPr/>
        </p:nvSpPr>
        <p:spPr>
          <a:xfrm>
            <a:off x="1170432" y="1417320"/>
            <a:ext cx="9601200" cy="502920"/>
          </a:xfrm>
          <a:prstGeom prst="rect">
            <a:avLst/>
          </a:prstGeom>
          <a:noFill/>
          <a:ln/>
        </p:spPr>
        <p:txBody>
          <a:bodyPr wrap="square" lIns="0" tIns="0" rIns="0" bIns="0" rtlCol="0" anchor="ctr"/>
          <a:lstStyle/>
          <a:p>
            <a:pPr marL="0" indent="0">
              <a:buNone/>
            </a:pPr>
            <a:r>
              <a:rPr lang="en-US" sz="1800" b="1" dirty="0">
                <a:solidFill>
                  <a:schemeClr val="accent2"/>
                </a:solidFill>
              </a:rPr>
              <a:t>What is already being done, and where it falls short</a:t>
            </a:r>
            <a:endParaRPr lang="en-US" sz="1800" dirty="0"/>
          </a:p>
        </p:txBody>
      </p:sp>
      <p:graphicFrame>
        <p:nvGraphicFramePr>
          <p:cNvPr id="101" name="Existing Solutions Table"/>
          <p:cNvGraphicFramePr>
            <a:graphicFrameLocks noGrp="1"/>
          </p:cNvGraphicFramePr>
          <p:nvPr/>
        </p:nvGraphicFramePr>
        <p:xfrm>
          <a:off x="594360" y="2011680"/>
          <a:ext cx="11000232" cy="3310128"/>
        </p:xfrm>
        <a:graphic>
          <a:graphicData uri="http://schemas.openxmlformats.org/drawingml/2006/table">
            <a:tbl>
              <a:tblPr firstRow="1"/>
              <a:tblGrid>
                <a:gridCol w="260604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4828032">
                  <a:extLst>
                    <a:ext uri="{9D8B030D-6E8A-4147-A177-3AD203B41FA5}">
                      <a16:colId xmlns:a16="http://schemas.microsoft.com/office/drawing/2014/main" val="20002"/>
                    </a:ext>
                  </a:extLst>
                </a:gridCol>
              </a:tblGrid>
              <a:tr h="384048">
                <a:tc>
                  <a:txBody>
                    <a:bodyPr/>
                    <a:lstStyle/>
                    <a:p>
                      <a:pPr marL="0" indent="0" algn="l">
                        <a:spcBef>
                          <a:spcPts val="0"/>
                        </a:spcBef>
                        <a:spcAft>
                          <a:spcPts val="0"/>
                        </a:spcAft>
                        <a:buNone/>
                      </a:pPr>
                      <a:r>
                        <a:rPr lang="en-US" sz="1400" b="1" i="0" dirty="0">
                          <a:solidFill>
                            <a:schemeClr val="bg1"/>
                          </a:solidFill>
                        </a:rPr>
                        <a:t>Approach</a:t>
                      </a:r>
                    </a:p>
                  </a:txBody>
                  <a:tcPr marL="137160" marR="137160" marT="54864" marB="54864" anchor="ctr">
                    <a:lnL w="0">
                      <a:noFill/>
                    </a:lnL>
                    <a:lnR w="0">
                      <a:noFill/>
                    </a:lnR>
                    <a:lnT w="0">
                      <a:noFill/>
                    </a:lnT>
                    <a:lnB w="0">
                      <a:noFill/>
                    </a:lnB>
                    <a:solidFill>
                      <a:schemeClr val="accent1"/>
                    </a:solidFill>
                  </a:tcPr>
                </a:tc>
                <a:tc>
                  <a:txBody>
                    <a:bodyPr/>
                    <a:lstStyle/>
                    <a:p>
                      <a:pPr marL="0" indent="0" algn="l">
                        <a:spcBef>
                          <a:spcPts val="0"/>
                        </a:spcBef>
                        <a:spcAft>
                          <a:spcPts val="0"/>
                        </a:spcAft>
                        <a:buNone/>
                      </a:pPr>
                      <a:r>
                        <a:rPr lang="en-US" sz="1400" b="1" i="0" dirty="0">
                          <a:solidFill>
                            <a:schemeClr val="bg1"/>
                          </a:solidFill>
                        </a:rPr>
                        <a:t>What it does</a:t>
                      </a:r>
                    </a:p>
                  </a:txBody>
                  <a:tcPr marL="137160" marR="137160" marT="54864" marB="54864" anchor="ctr">
                    <a:lnL w="0">
                      <a:noFill/>
                    </a:lnL>
                    <a:lnR w="0">
                      <a:noFill/>
                    </a:lnR>
                    <a:lnT w="0">
                      <a:noFill/>
                    </a:lnT>
                    <a:lnB w="0">
                      <a:noFill/>
                    </a:lnB>
                    <a:solidFill>
                      <a:schemeClr val="accent1"/>
                    </a:solidFill>
                  </a:tcPr>
                </a:tc>
                <a:tc>
                  <a:txBody>
                    <a:bodyPr/>
                    <a:lstStyle/>
                    <a:p>
                      <a:pPr marL="0" indent="0" algn="l">
                        <a:spcBef>
                          <a:spcPts val="0"/>
                        </a:spcBef>
                        <a:spcAft>
                          <a:spcPts val="0"/>
                        </a:spcAft>
                        <a:buNone/>
                      </a:pPr>
                      <a:r>
                        <a:rPr lang="en-US" sz="1400" b="1" i="0" dirty="0">
                          <a:solidFill>
                            <a:schemeClr val="bg1"/>
                          </a:solidFill>
                        </a:rPr>
                        <a:t>Where it falls short</a:t>
                      </a:r>
                    </a:p>
                  </a:txBody>
                  <a:tcPr marL="137160" marR="137160" marT="54864" marB="54864" anchor="ctr">
                    <a:lnL w="0">
                      <a:noFill/>
                    </a:lnL>
                    <a:lnR w="0">
                      <a:noFill/>
                    </a:lnR>
                    <a:lnT w="0">
                      <a:noFill/>
                    </a:lnT>
                    <a:lnB w="0">
                      <a:noFill/>
                    </a:lnB>
                    <a:solidFill>
                      <a:schemeClr val="accent1"/>
                    </a:solidFill>
                  </a:tcPr>
                </a:tc>
                <a:extLst>
                  <a:ext uri="{0D108BD9-81ED-4DB2-BD59-A6C34878D82A}">
                    <a16:rowId xmlns:a16="http://schemas.microsoft.com/office/drawing/2014/main" val="10000"/>
                  </a:ext>
                </a:extLst>
              </a:tr>
              <a:tr h="731520">
                <a:tc>
                  <a:txBody>
                    <a:bodyPr/>
                    <a:lstStyle/>
                    <a:p>
                      <a:pPr marL="0" indent="0" algn="l">
                        <a:spcBef>
                          <a:spcPts val="0"/>
                        </a:spcBef>
                        <a:spcAft>
                          <a:spcPts val="0"/>
                        </a:spcAft>
                        <a:buNone/>
                      </a:pPr>
                      <a:r>
                        <a:rPr lang="en-US" sz="1400" b="1" i="0" dirty="0">
                          <a:solidFill>
                            <a:schemeClr val="accent1"/>
                          </a:solidFill>
                        </a:rPr>
                        <a:t>Local agents and mandi auctions</a:t>
                      </a:r>
                    </a:p>
                  </a:txBody>
                  <a:tcPr marL="137160" marR="137160" marT="54864" marB="54864" anchor="ctr">
                    <a:lnL w="0">
                      <a:noFill/>
                    </a:lnL>
                    <a:lnR w="0">
                      <a:noFill/>
                    </a:lnR>
                    <a:lnT w="0">
                      <a:noFill/>
                    </a:lnT>
                    <a:lnB w="9525">
                      <a:solidFill>
                        <a:schemeClr val="accent6"/>
                      </a:solidFill>
                    </a:lnB>
                    <a:solidFill>
                      <a:schemeClr val="bg1"/>
                    </a:solidFill>
                  </a:tcPr>
                </a:tc>
                <a:tc>
                  <a:txBody>
                    <a:bodyPr/>
                    <a:lstStyle/>
                    <a:p>
                      <a:pPr marL="0" indent="0" algn="l">
                        <a:spcBef>
                          <a:spcPts val="0"/>
                        </a:spcBef>
                        <a:spcAft>
                          <a:spcPts val="0"/>
                        </a:spcAft>
                        <a:buNone/>
                      </a:pPr>
                      <a:r>
                        <a:rPr lang="en-US" sz="1400" b="0" i="0" dirty="0">
                          <a:solidFill>
                            <a:schemeClr val="tx1"/>
                          </a:solidFill>
                        </a:rPr>
                        <a:t>Buy at the farm gate or auction; give credit, cash and pick-up</a:t>
                      </a:r>
                    </a:p>
                  </a:txBody>
                  <a:tcPr marL="137160" marR="137160" marT="54864" marB="54864" anchor="ctr">
                    <a:lnL w="0">
                      <a:noFill/>
                    </a:lnL>
                    <a:lnR w="0">
                      <a:noFill/>
                    </a:lnR>
                    <a:lnT w="0">
                      <a:noFill/>
                    </a:lnT>
                    <a:lnB w="9525">
                      <a:solidFill>
                        <a:schemeClr val="accent6"/>
                      </a:solidFill>
                    </a:lnB>
                    <a:solidFill>
                      <a:schemeClr val="bg1"/>
                    </a:solidFill>
                  </a:tcPr>
                </a:tc>
                <a:tc>
                  <a:txBody>
                    <a:bodyPr/>
                    <a:lstStyle/>
                    <a:p>
                      <a:pPr marL="0" indent="0" algn="l">
                        <a:spcBef>
                          <a:spcPts val="0"/>
                        </a:spcBef>
                        <a:spcAft>
                          <a:spcPts val="0"/>
                        </a:spcAft>
                        <a:buNone/>
                      </a:pPr>
                      <a:r>
                        <a:rPr lang="en-US" sz="1400" b="0" i="0" dirty="0">
                          <a:solidFill>
                            <a:schemeClr val="tx1"/>
                          </a:solidFill>
                        </a:rPr>
                        <a:t>Price is set at harvest and farmers have little bargaining power </a:t>
                      </a:r>
                      <a:r>
                        <a:rPr lang="en-US" sz="1100" b="0" i="0" dirty="0">
                          <a:solidFill>
                            <a:schemeClr val="accent5"/>
                          </a:solidFill>
                        </a:rPr>
                        <a:t>(Mitra et al., 2018)</a:t>
                      </a:r>
                    </a:p>
                  </a:txBody>
                  <a:tcPr marL="137160" marR="137160" marT="54864" marB="54864" anchor="ctr">
                    <a:lnL w="0">
                      <a:noFill/>
                    </a:lnL>
                    <a:lnR w="0">
                      <a:noFill/>
                    </a:lnR>
                    <a:lnT w="0">
                      <a:noFill/>
                    </a:lnT>
                    <a:lnB w="9525">
                      <a:solidFill>
                        <a:schemeClr val="accent6"/>
                      </a:solidFill>
                    </a:lnB>
                    <a:solidFill>
                      <a:schemeClr val="bg1"/>
                    </a:solidFill>
                  </a:tcPr>
                </a:tc>
                <a:extLst>
                  <a:ext uri="{0D108BD9-81ED-4DB2-BD59-A6C34878D82A}">
                    <a16:rowId xmlns:a16="http://schemas.microsoft.com/office/drawing/2014/main" val="10001"/>
                  </a:ext>
                </a:extLst>
              </a:tr>
              <a:tr h="731520">
                <a:tc>
                  <a:txBody>
                    <a:bodyPr/>
                    <a:lstStyle/>
                    <a:p>
                      <a:pPr marL="0" indent="0" algn="l">
                        <a:spcBef>
                          <a:spcPts val="0"/>
                        </a:spcBef>
                        <a:spcAft>
                          <a:spcPts val="0"/>
                        </a:spcAft>
                        <a:buNone/>
                      </a:pPr>
                      <a:r>
                        <a:rPr lang="en-US" sz="1400" b="1" i="0" dirty="0">
                          <a:solidFill>
                            <a:schemeClr val="accent1"/>
                          </a:solidFill>
                        </a:rPr>
                        <a:t>eNAM e-mandis (government)</a:t>
                      </a:r>
                    </a:p>
                  </a:txBody>
                  <a:tcPr marL="137160" marR="137160" marT="54864" marB="54864" anchor="ctr">
                    <a:lnL w="0">
                      <a:noFill/>
                    </a:lnL>
                    <a:lnR w="0">
                      <a:noFill/>
                    </a:lnR>
                    <a:lnT w="9525" cap="flat" cmpd="sng" algn="ctr">
                      <a:solidFill>
                        <a:schemeClr val="accent6"/>
                      </a:solidFill>
                      <a:prstDash val="solid"/>
                      <a:round/>
                      <a:headEnd type="none" w="med" len="med"/>
                      <a:tailEnd type="none" w="med" len="med"/>
                    </a:lnT>
                    <a:lnB w="9525">
                      <a:solidFill>
                        <a:schemeClr val="accent6"/>
                      </a:solidFill>
                    </a:lnB>
                    <a:solidFill>
                      <a:schemeClr val="bg1"/>
                    </a:solidFill>
                  </a:tcPr>
                </a:tc>
                <a:tc>
                  <a:txBody>
                    <a:bodyPr/>
                    <a:lstStyle/>
                    <a:p>
                      <a:pPr marL="0" indent="0" algn="l">
                        <a:spcBef>
                          <a:spcPts val="0"/>
                        </a:spcBef>
                        <a:spcAft>
                          <a:spcPts val="0"/>
                        </a:spcAft>
                        <a:buNone/>
                      </a:pPr>
                      <a:r>
                        <a:rPr lang="en-US" sz="1400" b="0" i="0" dirty="0">
                          <a:solidFill>
                            <a:schemeClr val="tx1"/>
                          </a:solidFill>
                        </a:rPr>
                        <a:t>Online bidding across regulated markets since 2016</a:t>
                      </a:r>
                    </a:p>
                  </a:txBody>
                  <a:tcPr marL="137160" marR="137160" marT="54864" marB="54864" anchor="ctr">
                    <a:lnL w="0">
                      <a:noFill/>
                    </a:lnL>
                    <a:lnR w="0">
                      <a:noFill/>
                    </a:lnR>
                    <a:lnT w="9525" cap="flat" cmpd="sng" algn="ctr">
                      <a:solidFill>
                        <a:schemeClr val="accent6"/>
                      </a:solidFill>
                      <a:prstDash val="solid"/>
                      <a:round/>
                      <a:headEnd type="none" w="med" len="med"/>
                      <a:tailEnd type="none" w="med" len="med"/>
                    </a:lnT>
                    <a:lnB w="9525">
                      <a:solidFill>
                        <a:schemeClr val="accent6"/>
                      </a:solidFill>
                    </a:lnB>
                    <a:solidFill>
                      <a:schemeClr val="bg1"/>
                    </a:solidFill>
                  </a:tcPr>
                </a:tc>
                <a:tc>
                  <a:txBody>
                    <a:bodyPr/>
                    <a:lstStyle/>
                    <a:p>
                      <a:pPr marL="0" indent="0" algn="l">
                        <a:spcBef>
                          <a:spcPts val="0"/>
                        </a:spcBef>
                        <a:spcAft>
                          <a:spcPts val="0"/>
                        </a:spcAft>
                        <a:buNone/>
                      </a:pPr>
                      <a:r>
                        <a:rPr lang="en-US" sz="1400" b="0" i="0" dirty="0">
                          <a:solidFill>
                            <a:schemeClr val="tx1"/>
                          </a:solidFill>
                        </a:rPr>
                        <a:t>Starts after produce reaches the mandi; quality and delivery trust are concerns </a:t>
                      </a:r>
                      <a:r>
                        <a:rPr lang="en-US" sz="1100" b="0" i="0" dirty="0">
                          <a:solidFill>
                            <a:schemeClr val="accent5"/>
                          </a:solidFill>
                        </a:rPr>
                        <a:t>(Chaudhary &amp; Suri, 2022)</a:t>
                      </a:r>
                    </a:p>
                  </a:txBody>
                  <a:tcPr marL="137160" marR="137160" marT="54864" marB="54864" anchor="ctr">
                    <a:lnL w="0">
                      <a:noFill/>
                    </a:lnL>
                    <a:lnR w="0">
                      <a:noFill/>
                    </a:lnR>
                    <a:lnT w="9525" cap="flat" cmpd="sng" algn="ctr">
                      <a:solidFill>
                        <a:schemeClr val="accent6"/>
                      </a:solidFill>
                      <a:prstDash val="solid"/>
                      <a:round/>
                      <a:headEnd type="none" w="med" len="med"/>
                      <a:tailEnd type="none" w="med" len="med"/>
                    </a:lnT>
                    <a:lnB w="9525">
                      <a:solidFill>
                        <a:schemeClr val="accent6"/>
                      </a:solidFill>
                    </a:lnB>
                    <a:solidFill>
                      <a:schemeClr val="bg1"/>
                    </a:solidFill>
                  </a:tcPr>
                </a:tc>
                <a:extLst>
                  <a:ext uri="{0D108BD9-81ED-4DB2-BD59-A6C34878D82A}">
                    <a16:rowId xmlns:a16="http://schemas.microsoft.com/office/drawing/2014/main" val="10002"/>
                  </a:ext>
                </a:extLst>
              </a:tr>
              <a:tr h="731520">
                <a:tc>
                  <a:txBody>
                    <a:bodyPr/>
                    <a:lstStyle/>
                    <a:p>
                      <a:pPr marL="0" indent="0" algn="l">
                        <a:spcBef>
                          <a:spcPts val="0"/>
                        </a:spcBef>
                        <a:spcAft>
                          <a:spcPts val="0"/>
                        </a:spcAft>
                        <a:buNone/>
                      </a:pPr>
                      <a:r>
                        <a:rPr lang="en-US" sz="1400" b="1" i="0" dirty="0">
                          <a:solidFill>
                            <a:schemeClr val="accent1"/>
                          </a:solidFill>
                        </a:rPr>
                        <a:t>Contract farming by firms</a:t>
                      </a:r>
                    </a:p>
                  </a:txBody>
                  <a:tcPr marL="137160" marR="137160" marT="54864" marB="54864" anchor="ctr">
                    <a:lnL w="0">
                      <a:noFill/>
                    </a:lnL>
                    <a:lnR w="0">
                      <a:noFill/>
                    </a:lnR>
                    <a:lnT w="9525" cap="flat" cmpd="sng" algn="ctr">
                      <a:solidFill>
                        <a:schemeClr val="accent6"/>
                      </a:solidFill>
                      <a:prstDash val="solid"/>
                      <a:round/>
                      <a:headEnd type="none" w="med" len="med"/>
                      <a:tailEnd type="none" w="med" len="med"/>
                    </a:lnT>
                    <a:lnB w="9525">
                      <a:solidFill>
                        <a:schemeClr val="accent6"/>
                      </a:solidFill>
                    </a:lnB>
                    <a:solidFill>
                      <a:schemeClr val="bg1"/>
                    </a:solidFill>
                  </a:tcPr>
                </a:tc>
                <a:tc>
                  <a:txBody>
                    <a:bodyPr/>
                    <a:lstStyle/>
                    <a:p>
                      <a:pPr marL="0" indent="0" algn="l">
                        <a:spcBef>
                          <a:spcPts val="0"/>
                        </a:spcBef>
                        <a:spcAft>
                          <a:spcPts val="0"/>
                        </a:spcAft>
                        <a:buNone/>
                      </a:pPr>
                      <a:r>
                        <a:rPr lang="en-US" sz="1400" b="0" i="0" dirty="0">
                          <a:solidFill>
                            <a:schemeClr val="tx1"/>
                          </a:solidFill>
                        </a:rPr>
                        <a:t>Pre-harvest agreement between farmer and buyer</a:t>
                      </a:r>
                    </a:p>
                  </a:txBody>
                  <a:tcPr marL="137160" marR="137160" marT="54864" marB="54864" anchor="ctr">
                    <a:lnL w="0">
                      <a:noFill/>
                    </a:lnL>
                    <a:lnR w="0">
                      <a:noFill/>
                    </a:lnR>
                    <a:lnT w="9525" cap="flat" cmpd="sng" algn="ctr">
                      <a:solidFill>
                        <a:schemeClr val="accent6"/>
                      </a:solidFill>
                      <a:prstDash val="solid"/>
                      <a:round/>
                      <a:headEnd type="none" w="med" len="med"/>
                      <a:tailEnd type="none" w="med" len="med"/>
                    </a:lnT>
                    <a:lnB w="9525">
                      <a:solidFill>
                        <a:schemeClr val="accent6"/>
                      </a:solidFill>
                    </a:lnB>
                    <a:solidFill>
                      <a:schemeClr val="bg1"/>
                    </a:solidFill>
                  </a:tcPr>
                </a:tc>
                <a:tc>
                  <a:txBody>
                    <a:bodyPr/>
                    <a:lstStyle/>
                    <a:p>
                      <a:pPr marL="0" indent="0" algn="l">
                        <a:spcBef>
                          <a:spcPts val="0"/>
                        </a:spcBef>
                        <a:spcAft>
                          <a:spcPts val="0"/>
                        </a:spcAft>
                        <a:buNone/>
                      </a:pPr>
                      <a:r>
                        <a:rPr lang="en-US" sz="1400" b="0" i="0" dirty="0">
                          <a:solidFill>
                            <a:schemeClr val="tx1"/>
                          </a:solidFill>
                        </a:rPr>
                        <a:t>Income gains differ by country and non-compliance is significant </a:t>
                      </a:r>
                      <a:r>
                        <a:rPr lang="en-US" sz="1100" b="0" i="0" dirty="0">
                          <a:solidFill>
                            <a:schemeClr val="accent5"/>
                          </a:solidFill>
                        </a:rPr>
                        <a:t>(Meemken &amp; Bellemare, 2020; Barrett et al., 2012)</a:t>
                      </a:r>
                    </a:p>
                  </a:txBody>
                  <a:tcPr marL="137160" marR="137160" marT="54864" marB="54864" anchor="ctr">
                    <a:lnL w="0">
                      <a:noFill/>
                    </a:lnL>
                    <a:lnR w="0">
                      <a:noFill/>
                    </a:lnR>
                    <a:lnT w="9525" cap="flat" cmpd="sng" algn="ctr">
                      <a:solidFill>
                        <a:schemeClr val="accent6"/>
                      </a:solidFill>
                      <a:prstDash val="solid"/>
                      <a:round/>
                      <a:headEnd type="none" w="med" len="med"/>
                      <a:tailEnd type="none" w="med" len="med"/>
                    </a:lnT>
                    <a:lnB w="9525">
                      <a:solidFill>
                        <a:schemeClr val="accent6"/>
                      </a:solidFill>
                    </a:lnB>
                    <a:solidFill>
                      <a:schemeClr val="bg1"/>
                    </a:solidFill>
                  </a:tcPr>
                </a:tc>
                <a:extLst>
                  <a:ext uri="{0D108BD9-81ED-4DB2-BD59-A6C34878D82A}">
                    <a16:rowId xmlns:a16="http://schemas.microsoft.com/office/drawing/2014/main" val="10003"/>
                  </a:ext>
                </a:extLst>
              </a:tr>
              <a:tr h="731520">
                <a:tc>
                  <a:txBody>
                    <a:bodyPr/>
                    <a:lstStyle/>
                    <a:p>
                      <a:pPr marL="0" indent="0" algn="l">
                        <a:spcBef>
                          <a:spcPts val="0"/>
                        </a:spcBef>
                        <a:spcAft>
                          <a:spcPts val="0"/>
                        </a:spcAft>
                        <a:buNone/>
                      </a:pPr>
                      <a:r>
                        <a:rPr lang="en-US" sz="1400" b="1" i="0" dirty="0">
                          <a:solidFill>
                            <a:schemeClr val="accent1"/>
                          </a:solidFill>
                        </a:rPr>
                        <a:t>Price-information services</a:t>
                      </a:r>
                    </a:p>
                  </a:txBody>
                  <a:tcPr marL="137160" marR="137160" marT="54864" marB="54864" anchor="ctr">
                    <a:lnL w="0">
                      <a:noFill/>
                    </a:lnL>
                    <a:lnR w="0">
                      <a:noFill/>
                    </a:lnR>
                    <a:lnT w="9525" cap="flat" cmpd="sng" algn="ctr">
                      <a:solidFill>
                        <a:schemeClr val="accent6"/>
                      </a:solidFill>
                      <a:prstDash val="solid"/>
                      <a:round/>
                      <a:headEnd type="none" w="med" len="med"/>
                      <a:tailEnd type="none" w="med" len="med"/>
                    </a:lnT>
                    <a:lnB w="9525">
                      <a:solidFill>
                        <a:schemeClr val="accent6"/>
                      </a:solidFill>
                    </a:lnB>
                    <a:solidFill>
                      <a:schemeClr val="bg1"/>
                    </a:solidFill>
                  </a:tcPr>
                </a:tc>
                <a:tc>
                  <a:txBody>
                    <a:bodyPr/>
                    <a:lstStyle/>
                    <a:p>
                      <a:pPr marL="0" indent="0" algn="l">
                        <a:spcBef>
                          <a:spcPts val="0"/>
                        </a:spcBef>
                        <a:spcAft>
                          <a:spcPts val="0"/>
                        </a:spcAft>
                        <a:buNone/>
                      </a:pPr>
                      <a:r>
                        <a:rPr lang="en-US" sz="1400" b="0" i="0" dirty="0">
                          <a:solidFill>
                            <a:schemeClr val="tx1"/>
                          </a:solidFill>
                        </a:rPr>
                        <a:t>Show market prices to farmers</a:t>
                      </a:r>
                    </a:p>
                  </a:txBody>
                  <a:tcPr marL="137160" marR="137160" marT="54864" marB="54864" anchor="ctr">
                    <a:lnL w="0">
                      <a:noFill/>
                    </a:lnL>
                    <a:lnR w="0">
                      <a:noFill/>
                    </a:lnR>
                    <a:lnT w="9525" cap="flat" cmpd="sng" algn="ctr">
                      <a:solidFill>
                        <a:schemeClr val="accent6"/>
                      </a:solidFill>
                      <a:prstDash val="solid"/>
                      <a:round/>
                      <a:headEnd type="none" w="med" len="med"/>
                      <a:tailEnd type="none" w="med" len="med"/>
                    </a:lnT>
                    <a:lnB w="9525">
                      <a:solidFill>
                        <a:schemeClr val="accent6"/>
                      </a:solidFill>
                    </a:lnB>
                    <a:solidFill>
                      <a:schemeClr val="bg1"/>
                    </a:solidFill>
                  </a:tcPr>
                </a:tc>
                <a:tc>
                  <a:txBody>
                    <a:bodyPr/>
                    <a:lstStyle/>
                    <a:p>
                      <a:pPr marL="0" indent="0" algn="l">
                        <a:spcBef>
                          <a:spcPts val="0"/>
                        </a:spcBef>
                        <a:spcAft>
                          <a:spcPts val="0"/>
                        </a:spcAft>
                        <a:buNone/>
                      </a:pPr>
                      <a:r>
                        <a:rPr lang="en-US" sz="1400" b="0" i="0" dirty="0">
                          <a:solidFill>
                            <a:schemeClr val="tx1"/>
                          </a:solidFill>
                        </a:rPr>
                        <a:t>Information alone did not raise average farm-gate prices </a:t>
                      </a:r>
                      <a:r>
                        <a:rPr lang="en-US" sz="1100" b="0" i="0" dirty="0">
                          <a:solidFill>
                            <a:schemeClr val="accent5"/>
                          </a:solidFill>
                        </a:rPr>
                        <a:t>(Mitra et al., 2018)</a:t>
                      </a:r>
                    </a:p>
                  </a:txBody>
                  <a:tcPr marL="137160" marR="137160" marT="54864" marB="54864" anchor="ctr">
                    <a:lnL w="0">
                      <a:noFill/>
                    </a:lnL>
                    <a:lnR w="0">
                      <a:noFill/>
                    </a:lnR>
                    <a:lnT w="9525" cap="flat" cmpd="sng" algn="ctr">
                      <a:solidFill>
                        <a:schemeClr val="accent6"/>
                      </a:solidFill>
                      <a:prstDash val="solid"/>
                      <a:round/>
                      <a:headEnd type="none" w="med" len="med"/>
                      <a:tailEnd type="none" w="med" len="med"/>
                    </a:lnT>
                    <a:lnB w="9525">
                      <a:solidFill>
                        <a:schemeClr val="accent6"/>
                      </a:solidFill>
                    </a:lnB>
                    <a:solidFill>
                      <a:schemeClr val="bg1"/>
                    </a:solidFill>
                  </a:tcPr>
                </a:tc>
                <a:extLst>
                  <a:ext uri="{0D108BD9-81ED-4DB2-BD59-A6C34878D82A}">
                    <a16:rowId xmlns:a16="http://schemas.microsoft.com/office/drawing/2014/main" val="10004"/>
                  </a:ext>
                </a:extLst>
              </a:tr>
            </a:tbl>
          </a:graphicData>
        </a:graphic>
      </p:graphicFrame>
      <p:sp>
        <p:nvSpPr>
          <p:cNvPr id="102" name="Gap Banner"/>
          <p:cNvSpPr/>
          <p:nvPr/>
        </p:nvSpPr>
        <p:spPr>
          <a:xfrm>
            <a:off x="594360" y="5486400"/>
            <a:ext cx="11000232" cy="749808"/>
          </a:xfrm>
          <a:prstGeom prst="roundRect">
            <a:avLst>
              <a:gd name="adj" fmla="val 14634"/>
            </a:avLst>
          </a:prstGeom>
          <a:solidFill>
            <a:schemeClr val="tx2"/>
          </a:solidFill>
          <a:ln>
            <a:noFill/>
          </a:ln>
        </p:spPr>
        <p:txBody>
          <a:bodyPr wrap="square" lIns="228600" tIns="73152" rIns="228600" bIns="73152" rtlCol="0" anchor="ctr">
            <a:noAutofit/>
          </a:bodyPr>
          <a:lstStyle/>
          <a:p>
            <a:pPr marL="0" indent="0" algn="l">
              <a:spcBef>
                <a:spcPts val="0"/>
              </a:spcBef>
              <a:spcAft>
                <a:spcPts val="300"/>
              </a:spcAft>
              <a:buNone/>
            </a:pPr>
            <a:r>
              <a:rPr lang="en-US" sz="1400" b="1" i="0" dirty="0">
                <a:solidFill>
                  <a:schemeClr val="accent3"/>
                </a:solidFill>
              </a:rPr>
              <a:t>The gap: </a:t>
            </a:r>
            <a:r>
              <a:rPr lang="en-US" sz="1400" b="0" i="0" dirty="0">
                <a:solidFill>
                  <a:schemeClr val="bg1"/>
                </a:solidFill>
              </a:rPr>
              <a:t>no affordable way for a small farmer to know, before planting, that a buyer has committed and the money is protected.</a:t>
            </a:r>
          </a:p>
          <a:p>
            <a:pPr marL="0" indent="0" algn="l">
              <a:spcBef>
                <a:spcPts val="0"/>
              </a:spcBef>
              <a:spcAft>
                <a:spcPts val="0"/>
              </a:spcAft>
              <a:buNone/>
            </a:pPr>
            <a:r>
              <a:rPr lang="en-US" sz="1400" b="1" i="0" dirty="0">
                <a:solidFill>
                  <a:schemeClr val="accent3"/>
                </a:solidFill>
              </a:rPr>
              <a:t>Where we differ: </a:t>
            </a:r>
            <a:r>
              <a:rPr lang="en-US" sz="1400" b="0" i="0" dirty="0">
                <a:solidFill>
                  <a:schemeClr val="bg1"/>
                </a:solidFill>
              </a:rPr>
              <a:t>demand first  ·  advance held in escrow  ·  verified delivery record  ·  Tamil, voice-first</a:t>
            </a:r>
          </a:p>
        </p:txBody>
      </p:sp>
    </p:spTree>
    <p:extLst>
      <p:ext uri="{BB962C8B-B14F-4D97-AF65-F5344CB8AC3E}">
        <p14:creationId xmlns:p14="http://schemas.microsoft.com/office/powerpoint/2010/main" val="31478935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7"/>
          <p:cNvSpPr>
            <a:spLocks noGrp="1"/>
          </p:cNvSpPr>
          <p:nvPr>
            <p:ph type="title" idx="108" hasCustomPrompt="1"/>
          </p:nvPr>
        </p:nvSpPr>
        <p:spPr>
          <a:prstGeom prst="rect">
            <a:avLst/>
          </a:prstGeom>
          <a:noFill/>
          <a:ln/>
        </p:spPr>
        <p:txBody>
          <a:bodyPr wrap="square" lIns="0" tIns="0" rIns="0" bIns="0" rtlCol="0" anchor="ctr"/>
          <a:lstStyle/>
          <a:p>
            <a:pPr marL="0" indent="0" algn="ctr">
              <a:buNone/>
            </a:pPr>
            <a:r>
              <a:rPr lang="en-US" sz="2400" b="1" kern="0" spc="100" dirty="0">
                <a:solidFill>
                  <a:schemeClr val="tx2"/>
                </a:solidFill>
                <a:latin typeface="Cambria" pitchFamily="34" charset="0"/>
                <a:ea typeface="Cambria" pitchFamily="34" charset="-122"/>
                <a:cs typeface="Cambria" pitchFamily="34" charset="-120"/>
              </a:rPr>
              <a:t>PROBLEM INSIGHTS &amp; OPPORTUNITY AREAS</a:t>
            </a:r>
            <a:endParaRPr lang="en-US" sz="2400" dirty="0"/>
          </a:p>
        </p:txBody>
      </p:sp>
      <p:sp>
        <p:nvSpPr>
          <p:cNvPr id="25" name="Slide Number Placeholder 0"/>
          <p:cNvSpPr>
            <a:spLocks noGrp="1"/>
          </p:cNvSpPr>
          <p:nvPr>
            <p:ph type="sldNum" sz="quarter" idx="4294967295"/>
          </p:nvPr>
        </p:nvSpPr>
        <p:spPr>
          <a:xfrm>
            <a:off x="11259007" y="6409944"/>
            <a:ext cx="457200" cy="395935"/>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100">
                <a:solidFill>
                  <a:schemeClr val="tx2"/>
                </a:solidFill>
                <a:latin typeface="Calibri"/>
                <a:ea typeface="Calibri"/>
                <a:cs typeface="Calibri"/>
              </a:defRPr>
            </a:lvl1pPr>
          </a:lstStyle>
          <a:p>
            <a:pPr algn="ctr"/>
            <a:fld id="{F7021451-1387-4CA6-816F-3879F97B5CBC}" type="slidenum">
              <a:rPr lang="en-US" b="1"/>
              <a:t>7</a:t>
            </a:fld>
            <a:endParaRPr lang="en-US"/>
          </a:p>
        </p:txBody>
      </p:sp>
      <p:sp>
        <p:nvSpPr>
          <p:cNvPr id="3" name="Team Badge"/>
          <p:cNvSpPr/>
          <p:nvPr/>
        </p:nvSpPr>
        <p:spPr>
          <a:xfrm>
            <a:off x="457200" y="320040"/>
            <a:ext cx="2606040" cy="822960"/>
          </a:xfrm>
          <a:prstGeom prst="roundRect">
            <a:avLst>
              <a:gd name="adj" fmla="val 13333"/>
            </a:avLst>
          </a:prstGeom>
          <a:solidFill>
            <a:schemeClr val="bg1"/>
          </a:solidFill>
          <a:ln w="9525">
            <a:solidFill>
              <a:schemeClr val="accent6"/>
            </a:solidFill>
            <a:prstDash val="solid"/>
          </a:ln>
        </p:spPr>
        <p:txBody>
          <a:bodyPr/>
          <a:lstStyle/>
          <a:p>
            <a:endParaRPr lang="en-IN"/>
          </a:p>
        </p:txBody>
      </p:sp>
      <p:sp>
        <p:nvSpPr>
          <p:cNvPr id="4" name="Team Icon Hex"/>
          <p:cNvSpPr/>
          <p:nvPr/>
        </p:nvSpPr>
        <p:spPr>
          <a:xfrm>
            <a:off x="603504" y="457200"/>
            <a:ext cx="630936" cy="548640"/>
          </a:xfrm>
          <a:prstGeom prst="hexagon">
            <a:avLst/>
          </a:prstGeom>
          <a:solidFill>
            <a:schemeClr val="bg2"/>
          </a:solidFill>
          <a:ln w="9525">
            <a:solidFill>
              <a:schemeClr val="accent6"/>
            </a:solidFill>
            <a:prstDash val="solid"/>
          </a:ln>
        </p:spPr>
        <p:txBody>
          <a:bodyPr/>
          <a:lstStyle/>
          <a:p>
            <a:endParaRPr lang="en-IN"/>
          </a:p>
        </p:txBody>
      </p:sp>
      <p:pic>
        <p:nvPicPr>
          <p:cNvPr id="5" name="Team Icon" descr="Team icon"/>
          <p:cNvPicPr>
            <a:picLocks noChangeAspect="1"/>
          </p:cNvPicPr>
          <p:nvPr/>
        </p:nvPicPr>
        <p:blipFill>
          <a:blip r:embed="rId3"/>
          <a:stretch>
            <a:fillRect/>
          </a:stretch>
        </p:blipFill>
        <p:spPr>
          <a:xfrm>
            <a:off x="736092" y="548640"/>
            <a:ext cx="365760" cy="365760"/>
          </a:xfrm>
          <a:prstGeom prst="rect">
            <a:avLst/>
          </a:prstGeom>
        </p:spPr>
      </p:pic>
      <p:sp>
        <p:nvSpPr>
          <p:cNvPr id="6" name="Team Name"/>
          <p:cNvSpPr txBox="1"/>
          <p:nvPr/>
        </p:nvSpPr>
        <p:spPr>
          <a:xfrm>
            <a:off x="1371600" y="384048"/>
            <a:ext cx="1627632" cy="694944"/>
          </a:xfrm>
          <a:prstGeom prst="rect">
            <a:avLst/>
          </a:prstGeom>
          <a:noFill/>
          <a:ln/>
        </p:spPr>
        <p:txBody>
          <a:bodyPr wrap="square" lIns="0" tIns="0" rIns="0" bIns="0" rtlCol="0" anchor="ctr">
            <a:normAutofit/>
          </a:bodyPr>
          <a:lstStyle/>
          <a:p>
            <a:pPr marL="0" indent="0">
              <a:buNone/>
            </a:pPr>
            <a:r>
              <a:rPr lang="en-US" sz="900" b="1" kern="0" spc="300" dirty="0">
                <a:solidFill>
                  <a:schemeClr val="accent5"/>
                </a:solidFill>
              </a:rPr>
              <a:t>TEAM</a:t>
            </a:r>
            <a:endParaRPr lang="en-US" sz="900" dirty="0"/>
          </a:p>
          <a:p>
            <a:pPr marL="0" indent="0">
              <a:buNone/>
            </a:pPr>
            <a:r>
              <a:rPr lang="en-US" sz="1500" b="1" dirty="0">
                <a:solidFill>
                  <a:schemeClr val="accent1"/>
                </a:solidFill>
              </a:rPr>
              <a:t>COMET 502</a:t>
            </a:r>
            <a:endParaRPr lang="en-US" sz="900" dirty="0"/>
          </a:p>
        </p:txBody>
      </p:sp>
      <p:sp>
        <p:nvSpPr>
          <p:cNvPr id="7" name="Lead Icon Hex"/>
          <p:cNvSpPr/>
          <p:nvPr/>
        </p:nvSpPr>
        <p:spPr>
          <a:xfrm>
            <a:off x="548640" y="1463040"/>
            <a:ext cx="457200" cy="395935"/>
          </a:xfrm>
          <a:prstGeom prst="hexagon">
            <a:avLst/>
          </a:prstGeom>
          <a:solidFill>
            <a:schemeClr val="accent3"/>
          </a:solidFill>
          <a:ln/>
        </p:spPr>
        <p:txBody>
          <a:bodyPr/>
          <a:lstStyle/>
          <a:p>
            <a:endParaRPr lang="en-IN"/>
          </a:p>
        </p:txBody>
      </p:sp>
      <p:pic>
        <p:nvPicPr>
          <p:cNvPr id="8" name="Lead Icon" descr="Lightbulb icon"/>
          <p:cNvPicPr>
            <a:picLocks noChangeAspect="1"/>
          </p:cNvPicPr>
          <p:nvPr/>
        </p:nvPicPr>
        <p:blipFill>
          <a:blip r:embed="rId4"/>
          <a:stretch>
            <a:fillRect/>
          </a:stretch>
        </p:blipFill>
        <p:spPr>
          <a:xfrm>
            <a:off x="640080" y="1523390"/>
            <a:ext cx="274320" cy="274320"/>
          </a:xfrm>
          <a:prstGeom prst="rect">
            <a:avLst/>
          </a:prstGeom>
        </p:spPr>
      </p:pic>
      <p:sp>
        <p:nvSpPr>
          <p:cNvPr id="9" name="Lead Text"/>
          <p:cNvSpPr txBox="1"/>
          <p:nvPr/>
        </p:nvSpPr>
        <p:spPr>
          <a:xfrm>
            <a:off x="1170432" y="1417320"/>
            <a:ext cx="9601200" cy="502920"/>
          </a:xfrm>
          <a:prstGeom prst="rect">
            <a:avLst/>
          </a:prstGeom>
          <a:noFill/>
          <a:ln/>
        </p:spPr>
        <p:txBody>
          <a:bodyPr wrap="square" lIns="0" tIns="0" rIns="0" bIns="0" rtlCol="0" anchor="ctr"/>
          <a:lstStyle/>
          <a:p>
            <a:pPr marL="0" indent="0">
              <a:buNone/>
            </a:pPr>
            <a:r>
              <a:rPr lang="en-US" sz="1800" b="1" dirty="0">
                <a:solidFill>
                  <a:schemeClr val="accent2"/>
                </a:solidFill>
              </a:rPr>
              <a:t>What the evidence tells us, and what we need to build it</a:t>
            </a:r>
            <a:endParaRPr lang="en-US" sz="1800" dirty="0"/>
          </a:p>
        </p:txBody>
      </p:sp>
      <p:sp>
        <p:nvSpPr>
          <p:cNvPr id="101" name="Insights Heading"/>
          <p:cNvSpPr txBox="1"/>
          <p:nvPr/>
        </p:nvSpPr>
        <p:spPr>
          <a:xfrm>
            <a:off x="594360" y="2011680"/>
            <a:ext cx="5303520" cy="292608"/>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600" b="1" i="0" dirty="0">
                <a:solidFill>
                  <a:schemeClr val="accent1"/>
                </a:solidFill>
              </a:rPr>
              <a:t>Insights and opportunities</a:t>
            </a:r>
          </a:p>
        </p:txBody>
      </p:sp>
      <p:sp>
        <p:nvSpPr>
          <p:cNvPr id="102" name="Insight Card 1"/>
          <p:cNvSpPr/>
          <p:nvPr/>
        </p:nvSpPr>
        <p:spPr>
          <a:xfrm>
            <a:off x="594360" y="2377440"/>
            <a:ext cx="2377440" cy="914400"/>
          </a:xfrm>
          <a:prstGeom prst="roundRect">
            <a:avLst>
              <a:gd name="adj" fmla="val 12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3" name="Insight Text 1"/>
          <p:cNvSpPr txBox="1"/>
          <p:nvPr/>
        </p:nvSpPr>
        <p:spPr>
          <a:xfrm>
            <a:off x="731520" y="2377440"/>
            <a:ext cx="2103120" cy="9144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1" i="0" dirty="0">
                <a:solidFill>
                  <a:schemeClr val="accent1"/>
                </a:solidFill>
              </a:rPr>
              <a:t>Price data alone doesn't lift incomes</a:t>
            </a:r>
          </a:p>
        </p:txBody>
      </p:sp>
      <p:sp>
        <p:nvSpPr>
          <p:cNvPr id="104" name="Insight Arrow 1"/>
          <p:cNvSpPr/>
          <p:nvPr/>
        </p:nvSpPr>
        <p:spPr>
          <a:xfrm>
            <a:off x="3063240" y="2688336"/>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05" name="Opportunity Card 1"/>
          <p:cNvSpPr/>
          <p:nvPr/>
        </p:nvSpPr>
        <p:spPr>
          <a:xfrm>
            <a:off x="3218688" y="2377440"/>
            <a:ext cx="2724912" cy="914400"/>
          </a:xfrm>
          <a:prstGeom prst="roundRect">
            <a:avLst>
              <a:gd name="adj" fmla="val 12000"/>
            </a:avLst>
          </a:prstGeom>
          <a:solidFill>
            <a:schemeClr val="accent6"/>
          </a:solidFill>
          <a:ln w="9525">
            <a:solidFill>
              <a:schemeClr val="accent6"/>
            </a:solidFill>
          </a:ln>
        </p:spPr>
        <p:txBody>
          <a:bodyPr wrap="square" lIns="137160" tIns="45720" rIns="137160" bIns="45720" rtlCol="0" anchor="ctr">
            <a:noAutofit/>
          </a:bodyPr>
          <a:lstStyle/>
          <a:p>
            <a:pPr marL="0" indent="0" algn="l">
              <a:spcBef>
                <a:spcPts val="0"/>
              </a:spcBef>
              <a:spcAft>
                <a:spcPts val="0"/>
              </a:spcAft>
              <a:buNone/>
            </a:pPr>
            <a:r>
              <a:rPr lang="en-US" sz="1400" b="0" i="0" dirty="0">
                <a:solidFill>
                  <a:schemeClr val="tx1"/>
                </a:solidFill>
              </a:rPr>
              <a:t>Pair information with a committed buyer</a:t>
            </a:r>
          </a:p>
        </p:txBody>
      </p:sp>
      <p:sp>
        <p:nvSpPr>
          <p:cNvPr id="106" name="Insight Card 2"/>
          <p:cNvSpPr/>
          <p:nvPr/>
        </p:nvSpPr>
        <p:spPr>
          <a:xfrm>
            <a:off x="594360" y="3401568"/>
            <a:ext cx="2377440" cy="914400"/>
          </a:xfrm>
          <a:prstGeom prst="roundRect">
            <a:avLst>
              <a:gd name="adj" fmla="val 12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7" name="Insight Text 2"/>
          <p:cNvSpPr txBox="1"/>
          <p:nvPr/>
        </p:nvSpPr>
        <p:spPr>
          <a:xfrm>
            <a:off x="731520" y="3401568"/>
            <a:ext cx="2103120" cy="9144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1" i="0" dirty="0">
                <a:solidFill>
                  <a:schemeClr val="accent1"/>
                </a:solidFill>
              </a:rPr>
              <a:t>Agents supply credit and quick cash</a:t>
            </a:r>
          </a:p>
        </p:txBody>
      </p:sp>
      <p:sp>
        <p:nvSpPr>
          <p:cNvPr id="108" name="Insight Arrow 2"/>
          <p:cNvSpPr/>
          <p:nvPr/>
        </p:nvSpPr>
        <p:spPr>
          <a:xfrm>
            <a:off x="3063240" y="3712464"/>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09" name="Opportunity Card 2"/>
          <p:cNvSpPr/>
          <p:nvPr/>
        </p:nvSpPr>
        <p:spPr>
          <a:xfrm>
            <a:off x="3218688" y="3401568"/>
            <a:ext cx="2724912" cy="914400"/>
          </a:xfrm>
          <a:prstGeom prst="roundRect">
            <a:avLst>
              <a:gd name="adj" fmla="val 12000"/>
            </a:avLst>
          </a:prstGeom>
          <a:solidFill>
            <a:schemeClr val="accent6"/>
          </a:solidFill>
          <a:ln w="9525">
            <a:solidFill>
              <a:schemeClr val="accent6"/>
            </a:solidFill>
          </a:ln>
        </p:spPr>
        <p:txBody>
          <a:bodyPr wrap="square" lIns="137160" tIns="45720" rIns="137160" bIns="45720" rtlCol="0" anchor="ctr">
            <a:noAutofit/>
          </a:bodyPr>
          <a:lstStyle/>
          <a:p>
            <a:pPr marL="0" indent="0" algn="l">
              <a:spcBef>
                <a:spcPts val="0"/>
              </a:spcBef>
              <a:spcAft>
                <a:spcPts val="0"/>
              </a:spcAft>
              <a:buNone/>
            </a:pPr>
            <a:r>
              <a:rPr lang="en-US" sz="1400" b="0" i="0" dirty="0">
                <a:solidFill>
                  <a:schemeClr val="tx1"/>
                </a:solidFill>
              </a:rPr>
              <a:t>Early advance, and payment within a day of delivery</a:t>
            </a:r>
          </a:p>
        </p:txBody>
      </p:sp>
      <p:sp>
        <p:nvSpPr>
          <p:cNvPr id="110" name="Insight Card 3"/>
          <p:cNvSpPr/>
          <p:nvPr/>
        </p:nvSpPr>
        <p:spPr>
          <a:xfrm>
            <a:off x="594360" y="4425696"/>
            <a:ext cx="2377440" cy="914400"/>
          </a:xfrm>
          <a:prstGeom prst="roundRect">
            <a:avLst>
              <a:gd name="adj" fmla="val 12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11" name="Insight Text 3"/>
          <p:cNvSpPr txBox="1"/>
          <p:nvPr/>
        </p:nvSpPr>
        <p:spPr>
          <a:xfrm>
            <a:off x="731520" y="4425696"/>
            <a:ext cx="2103120" cy="9144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1" i="0" dirty="0">
                <a:solidFill>
                  <a:schemeClr val="accent1"/>
                </a:solidFill>
              </a:rPr>
              <a:t>Deals break when promises aren't safe</a:t>
            </a:r>
          </a:p>
        </p:txBody>
      </p:sp>
      <p:sp>
        <p:nvSpPr>
          <p:cNvPr id="112" name="Insight Arrow 3"/>
          <p:cNvSpPr/>
          <p:nvPr/>
        </p:nvSpPr>
        <p:spPr>
          <a:xfrm>
            <a:off x="3063240" y="4736592"/>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13" name="Opportunity Card 3"/>
          <p:cNvSpPr/>
          <p:nvPr/>
        </p:nvSpPr>
        <p:spPr>
          <a:xfrm>
            <a:off x="3218688" y="4425696"/>
            <a:ext cx="2724912" cy="914400"/>
          </a:xfrm>
          <a:prstGeom prst="roundRect">
            <a:avLst>
              <a:gd name="adj" fmla="val 12000"/>
            </a:avLst>
          </a:prstGeom>
          <a:solidFill>
            <a:schemeClr val="accent6"/>
          </a:solidFill>
          <a:ln w="9525">
            <a:solidFill>
              <a:schemeClr val="accent6"/>
            </a:solidFill>
          </a:ln>
        </p:spPr>
        <p:txBody>
          <a:bodyPr wrap="square" lIns="137160" tIns="45720" rIns="137160" bIns="45720" rtlCol="0" anchor="ctr">
            <a:noAutofit/>
          </a:bodyPr>
          <a:lstStyle/>
          <a:p>
            <a:pPr marL="0" indent="0" algn="l">
              <a:spcBef>
                <a:spcPts val="0"/>
              </a:spcBef>
              <a:spcAft>
                <a:spcPts val="0"/>
              </a:spcAft>
              <a:buNone/>
            </a:pPr>
            <a:r>
              <a:rPr lang="en-US" sz="1400" b="0" i="0" dirty="0">
                <a:solidFill>
                  <a:schemeClr val="tx1"/>
                </a:solidFill>
              </a:rPr>
              <a:t>Escrow, clear quality rules and a reliability score</a:t>
            </a:r>
          </a:p>
        </p:txBody>
      </p:sp>
      <p:sp>
        <p:nvSpPr>
          <p:cNvPr id="114" name="Roadmap Chip"/>
          <p:cNvSpPr/>
          <p:nvPr/>
        </p:nvSpPr>
        <p:spPr>
          <a:xfrm>
            <a:off x="594360" y="5486400"/>
            <a:ext cx="5349240" cy="731520"/>
          </a:xfrm>
          <a:prstGeom prst="roundRect">
            <a:avLst>
              <a:gd name="adj" fmla="val 15000"/>
            </a:avLst>
          </a:prstGeom>
          <a:solidFill>
            <a:schemeClr val="bg1"/>
          </a:solidFill>
          <a:ln w="19050">
            <a:solidFill>
              <a:schemeClr val="accent3"/>
            </a:solidFill>
          </a:ln>
        </p:spPr>
        <p:txBody>
          <a:bodyPr wrap="square" lIns="182880" tIns="45720" rIns="182880" bIns="45720" rtlCol="0" anchor="ctr">
            <a:noAutofit/>
          </a:bodyPr>
          <a:lstStyle/>
          <a:p>
            <a:pPr marL="0" indent="0" algn="l">
              <a:spcBef>
                <a:spcPts val="0"/>
              </a:spcBef>
              <a:spcAft>
                <a:spcPts val="0"/>
              </a:spcAft>
              <a:buNone/>
            </a:pPr>
            <a:r>
              <a:rPr lang="en-US" sz="1400" b="1" i="0" dirty="0">
                <a:solidFill>
                  <a:schemeClr val="accent1"/>
                </a:solidFill>
              </a:rPr>
              <a:t>Next: </a:t>
            </a:r>
            <a:r>
              <a:rPr lang="en-US" sz="1400" b="0" i="0" dirty="0">
                <a:solidFill>
                  <a:schemeClr val="tx1"/>
                </a:solidFill>
              </a:rPr>
              <a:t>photo quality grading · price forecasts · weather alerts · disease detection</a:t>
            </a:r>
          </a:p>
        </p:txBody>
      </p:sp>
      <p:sp>
        <p:nvSpPr>
          <p:cNvPr id="115" name="Resources Heading"/>
          <p:cNvSpPr txBox="1"/>
          <p:nvPr/>
        </p:nvSpPr>
        <p:spPr>
          <a:xfrm>
            <a:off x="6263640" y="2011680"/>
            <a:ext cx="5303520" cy="292608"/>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600" b="1" i="0" dirty="0">
                <a:solidFill>
                  <a:schemeClr val="accent1"/>
                </a:solidFill>
              </a:rPr>
              <a:t>Resources we need</a:t>
            </a:r>
          </a:p>
        </p:txBody>
      </p:sp>
      <p:sp>
        <p:nvSpPr>
          <p:cNvPr id="116" name="Resource Card 1"/>
          <p:cNvSpPr/>
          <p:nvPr/>
        </p:nvSpPr>
        <p:spPr>
          <a:xfrm>
            <a:off x="6263640" y="2377440"/>
            <a:ext cx="5330952" cy="896112"/>
          </a:xfrm>
          <a:prstGeom prst="roundRect">
            <a:avLst>
              <a:gd name="adj" fmla="val 12244"/>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17" name="Resource Label 1"/>
          <p:cNvSpPr txBox="1"/>
          <p:nvPr/>
        </p:nvSpPr>
        <p:spPr>
          <a:xfrm>
            <a:off x="6400800" y="2377440"/>
            <a:ext cx="1188720" cy="896112"/>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People</a:t>
            </a:r>
          </a:p>
        </p:txBody>
      </p:sp>
      <p:sp>
        <p:nvSpPr>
          <p:cNvPr id="118" name="Resource Text 1"/>
          <p:cNvSpPr txBox="1"/>
          <p:nvPr/>
        </p:nvSpPr>
        <p:spPr>
          <a:xfrm>
            <a:off x="7635240" y="2377440"/>
            <a:ext cx="3840480" cy="896112"/>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0" i="0" dirty="0">
                <a:solidFill>
                  <a:schemeClr val="tx1"/>
                </a:solidFill>
              </a:rPr>
              <a:t>4-member team (ML, backend, app/UX, field research) plus an agronomist or FPO mentor</a:t>
            </a:r>
          </a:p>
        </p:txBody>
      </p:sp>
      <p:sp>
        <p:nvSpPr>
          <p:cNvPr id="119" name="Resource Card 2"/>
          <p:cNvSpPr/>
          <p:nvPr/>
        </p:nvSpPr>
        <p:spPr>
          <a:xfrm>
            <a:off x="6263640" y="3355848"/>
            <a:ext cx="5330952" cy="896112"/>
          </a:xfrm>
          <a:prstGeom prst="roundRect">
            <a:avLst>
              <a:gd name="adj" fmla="val 12244"/>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20" name="Resource Label 2"/>
          <p:cNvSpPr txBox="1"/>
          <p:nvPr/>
        </p:nvSpPr>
        <p:spPr>
          <a:xfrm>
            <a:off x="6400800" y="3355848"/>
            <a:ext cx="1188720" cy="896112"/>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Technology</a:t>
            </a:r>
          </a:p>
        </p:txBody>
      </p:sp>
      <p:sp>
        <p:nvSpPr>
          <p:cNvPr id="121" name="Resource Text 2"/>
          <p:cNvSpPr txBox="1"/>
          <p:nvPr/>
        </p:nvSpPr>
        <p:spPr>
          <a:xfrm>
            <a:off x="7635240" y="3355848"/>
            <a:ext cx="3840480" cy="896112"/>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0" i="0" dirty="0">
                <a:solidFill>
                  <a:schemeClr val="tx1"/>
                </a:solidFill>
              </a:rPr>
              <a:t>Tamil-first web app (PWA), FastAPI + PostgreSQL, rule-based crop planner using Soil Health Card data and public market prices</a:t>
            </a:r>
          </a:p>
        </p:txBody>
      </p:sp>
      <p:sp>
        <p:nvSpPr>
          <p:cNvPr id="122" name="Resource Card 3"/>
          <p:cNvSpPr/>
          <p:nvPr/>
        </p:nvSpPr>
        <p:spPr>
          <a:xfrm>
            <a:off x="6263640" y="4334256"/>
            <a:ext cx="5330952" cy="896112"/>
          </a:xfrm>
          <a:prstGeom prst="roundRect">
            <a:avLst>
              <a:gd name="adj" fmla="val 12244"/>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23" name="Resource Label 3"/>
          <p:cNvSpPr txBox="1"/>
          <p:nvPr/>
        </p:nvSpPr>
        <p:spPr>
          <a:xfrm>
            <a:off x="6400800" y="4334256"/>
            <a:ext cx="1188720" cy="896112"/>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Partners</a:t>
            </a:r>
          </a:p>
        </p:txBody>
      </p:sp>
      <p:sp>
        <p:nvSpPr>
          <p:cNvPr id="124" name="Resource Text 3"/>
          <p:cNvSpPr txBox="1"/>
          <p:nvPr/>
        </p:nvSpPr>
        <p:spPr>
          <a:xfrm>
            <a:off x="7635240" y="4334256"/>
            <a:ext cx="3840480" cy="896112"/>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0" i="0" dirty="0">
                <a:solidFill>
                  <a:schemeClr val="tx1"/>
                </a:solidFill>
              </a:rPr>
              <a:t>Licensed UPI/escrow provider, one pilot buyer, one farmer group near Coimbatore</a:t>
            </a:r>
          </a:p>
        </p:txBody>
      </p:sp>
      <p:sp>
        <p:nvSpPr>
          <p:cNvPr id="125" name="Resource Card 4"/>
          <p:cNvSpPr/>
          <p:nvPr/>
        </p:nvSpPr>
        <p:spPr>
          <a:xfrm>
            <a:off x="6263640" y="5312664"/>
            <a:ext cx="5330952" cy="896112"/>
          </a:xfrm>
          <a:prstGeom prst="roundRect">
            <a:avLst>
              <a:gd name="adj" fmla="val 12244"/>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26" name="Resource Label 4"/>
          <p:cNvSpPr txBox="1"/>
          <p:nvPr/>
        </p:nvSpPr>
        <p:spPr>
          <a:xfrm>
            <a:off x="6400800" y="5312664"/>
            <a:ext cx="1188720" cy="896112"/>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600" b="1" i="0" dirty="0">
                <a:solidFill>
                  <a:schemeClr val="accent1"/>
                </a:solidFill>
              </a:rPr>
              <a:t>Budget</a:t>
            </a:r>
          </a:p>
        </p:txBody>
      </p:sp>
      <p:sp>
        <p:nvSpPr>
          <p:cNvPr id="127" name="Resource Text 4"/>
          <p:cNvSpPr txBox="1"/>
          <p:nvPr/>
        </p:nvSpPr>
        <p:spPr>
          <a:xfrm>
            <a:off x="7635240" y="5312664"/>
            <a:ext cx="3840480" cy="896112"/>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0" i="0" dirty="0">
                <a:solidFill>
                  <a:schemeClr val="tx1"/>
                </a:solidFill>
              </a:rPr>
              <a:t>Software-only prototype: hosting, messaging, payment sandbox and field visits</a:t>
            </a:r>
          </a:p>
        </p:txBody>
      </p:sp>
    </p:spTree>
    <p:extLst>
      <p:ext uri="{BB962C8B-B14F-4D97-AF65-F5344CB8AC3E}">
        <p14:creationId xmlns:p14="http://schemas.microsoft.com/office/powerpoint/2010/main" val="9260609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7"/>
          <p:cNvSpPr>
            <a:spLocks noGrp="1"/>
          </p:cNvSpPr>
          <p:nvPr>
            <p:ph type="title" idx="108" hasCustomPrompt="1"/>
          </p:nvPr>
        </p:nvSpPr>
        <p:spPr>
          <a:prstGeom prst="rect">
            <a:avLst/>
          </a:prstGeom>
          <a:noFill/>
          <a:ln/>
        </p:spPr>
        <p:txBody>
          <a:bodyPr wrap="square" lIns="0" tIns="0" rIns="0" bIns="0" rtlCol="0" anchor="ctr"/>
          <a:lstStyle/>
          <a:p>
            <a:pPr marL="0" indent="0" algn="ctr">
              <a:buNone/>
            </a:pPr>
            <a:r>
              <a:rPr lang="en-US" sz="2400" b="1" kern="0" spc="100" dirty="0">
                <a:solidFill>
                  <a:schemeClr val="tx2"/>
                </a:solidFill>
                <a:latin typeface="Cambria" pitchFamily="34" charset="0"/>
                <a:ea typeface="Cambria" pitchFamily="34" charset="-122"/>
                <a:cs typeface="Cambria" pitchFamily="34" charset="-120"/>
              </a:rPr>
              <a:t>INITIAL DIRECTION &amp; EXPECTED OUTCOME</a:t>
            </a:r>
            <a:endParaRPr lang="en-US" sz="2400" dirty="0"/>
          </a:p>
        </p:txBody>
      </p:sp>
      <p:sp>
        <p:nvSpPr>
          <p:cNvPr id="25" name="Slide Number Placeholder 0"/>
          <p:cNvSpPr>
            <a:spLocks noGrp="1"/>
          </p:cNvSpPr>
          <p:nvPr>
            <p:ph type="sldNum" sz="quarter" idx="4294967295"/>
          </p:nvPr>
        </p:nvSpPr>
        <p:spPr>
          <a:xfrm>
            <a:off x="11259007" y="6409944"/>
            <a:ext cx="457200" cy="395935"/>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100">
                <a:solidFill>
                  <a:schemeClr val="tx2"/>
                </a:solidFill>
                <a:latin typeface="Calibri"/>
                <a:ea typeface="Calibri"/>
                <a:cs typeface="Calibri"/>
              </a:defRPr>
            </a:lvl1pPr>
          </a:lstStyle>
          <a:p>
            <a:pPr algn="ctr"/>
            <a:fld id="{F7021451-1387-4CA6-816F-3879F97B5CBC}" type="slidenum">
              <a:rPr lang="en-US" b="1"/>
              <a:t>8</a:t>
            </a:fld>
            <a:endParaRPr lang="en-US"/>
          </a:p>
        </p:txBody>
      </p:sp>
      <p:sp>
        <p:nvSpPr>
          <p:cNvPr id="3" name="Team Badge"/>
          <p:cNvSpPr/>
          <p:nvPr/>
        </p:nvSpPr>
        <p:spPr>
          <a:xfrm>
            <a:off x="457200" y="320040"/>
            <a:ext cx="2606040" cy="822960"/>
          </a:xfrm>
          <a:prstGeom prst="roundRect">
            <a:avLst>
              <a:gd name="adj" fmla="val 13333"/>
            </a:avLst>
          </a:prstGeom>
          <a:solidFill>
            <a:schemeClr val="bg1"/>
          </a:solidFill>
          <a:ln w="9525">
            <a:solidFill>
              <a:schemeClr val="accent6"/>
            </a:solidFill>
            <a:prstDash val="solid"/>
          </a:ln>
        </p:spPr>
        <p:txBody>
          <a:bodyPr/>
          <a:lstStyle/>
          <a:p>
            <a:endParaRPr lang="en-IN"/>
          </a:p>
        </p:txBody>
      </p:sp>
      <p:sp>
        <p:nvSpPr>
          <p:cNvPr id="4" name="Team Icon Hex"/>
          <p:cNvSpPr/>
          <p:nvPr/>
        </p:nvSpPr>
        <p:spPr>
          <a:xfrm>
            <a:off x="603504" y="457200"/>
            <a:ext cx="630936" cy="548640"/>
          </a:xfrm>
          <a:prstGeom prst="hexagon">
            <a:avLst/>
          </a:prstGeom>
          <a:solidFill>
            <a:schemeClr val="bg2"/>
          </a:solidFill>
          <a:ln w="9525">
            <a:solidFill>
              <a:schemeClr val="accent6"/>
            </a:solidFill>
            <a:prstDash val="solid"/>
          </a:ln>
        </p:spPr>
        <p:txBody>
          <a:bodyPr/>
          <a:lstStyle/>
          <a:p>
            <a:endParaRPr lang="en-IN"/>
          </a:p>
        </p:txBody>
      </p:sp>
      <p:pic>
        <p:nvPicPr>
          <p:cNvPr id="5" name="Team Icon" descr="Team icon"/>
          <p:cNvPicPr>
            <a:picLocks noChangeAspect="1"/>
          </p:cNvPicPr>
          <p:nvPr/>
        </p:nvPicPr>
        <p:blipFill>
          <a:blip r:embed="rId3"/>
          <a:stretch>
            <a:fillRect/>
          </a:stretch>
        </p:blipFill>
        <p:spPr>
          <a:xfrm>
            <a:off x="736092" y="548640"/>
            <a:ext cx="365760" cy="365760"/>
          </a:xfrm>
          <a:prstGeom prst="rect">
            <a:avLst/>
          </a:prstGeom>
        </p:spPr>
      </p:pic>
      <p:sp>
        <p:nvSpPr>
          <p:cNvPr id="6" name="Team Name"/>
          <p:cNvSpPr txBox="1"/>
          <p:nvPr/>
        </p:nvSpPr>
        <p:spPr>
          <a:xfrm>
            <a:off x="1371600" y="384048"/>
            <a:ext cx="1627632" cy="694944"/>
          </a:xfrm>
          <a:prstGeom prst="rect">
            <a:avLst/>
          </a:prstGeom>
          <a:noFill/>
          <a:ln/>
        </p:spPr>
        <p:txBody>
          <a:bodyPr wrap="square" lIns="0" tIns="0" rIns="0" bIns="0" rtlCol="0" anchor="ctr">
            <a:normAutofit/>
          </a:bodyPr>
          <a:lstStyle/>
          <a:p>
            <a:pPr marL="0" indent="0">
              <a:buNone/>
            </a:pPr>
            <a:r>
              <a:rPr lang="en-US" sz="900" b="1" kern="0" spc="300" dirty="0">
                <a:solidFill>
                  <a:schemeClr val="accent5"/>
                </a:solidFill>
              </a:rPr>
              <a:t>TEAM</a:t>
            </a:r>
            <a:endParaRPr lang="en-US" sz="900" dirty="0"/>
          </a:p>
          <a:p>
            <a:pPr marL="0" indent="0">
              <a:buNone/>
            </a:pPr>
            <a:r>
              <a:rPr lang="en-US" sz="1500" b="1" dirty="0">
                <a:solidFill>
                  <a:schemeClr val="accent1"/>
                </a:solidFill>
              </a:rPr>
              <a:t>COMET 502</a:t>
            </a:r>
            <a:endParaRPr lang="en-US" sz="900" dirty="0"/>
          </a:p>
        </p:txBody>
      </p:sp>
      <p:sp>
        <p:nvSpPr>
          <p:cNvPr id="7" name="Lead Icon Hex"/>
          <p:cNvSpPr/>
          <p:nvPr/>
        </p:nvSpPr>
        <p:spPr>
          <a:xfrm>
            <a:off x="548640" y="1463040"/>
            <a:ext cx="457200" cy="395935"/>
          </a:xfrm>
          <a:prstGeom prst="hexagon">
            <a:avLst/>
          </a:prstGeom>
          <a:solidFill>
            <a:schemeClr val="accent3"/>
          </a:solidFill>
          <a:ln/>
        </p:spPr>
        <p:txBody>
          <a:bodyPr/>
          <a:lstStyle/>
          <a:p>
            <a:endParaRPr lang="en-IN"/>
          </a:p>
        </p:txBody>
      </p:sp>
      <p:pic>
        <p:nvPicPr>
          <p:cNvPr id="8" name="Lead Icon" descr="Lightbulb icon"/>
          <p:cNvPicPr>
            <a:picLocks noChangeAspect="1"/>
          </p:cNvPicPr>
          <p:nvPr/>
        </p:nvPicPr>
        <p:blipFill>
          <a:blip r:embed="rId4"/>
          <a:stretch>
            <a:fillRect/>
          </a:stretch>
        </p:blipFill>
        <p:spPr>
          <a:xfrm>
            <a:off x="640080" y="1523390"/>
            <a:ext cx="274320" cy="274320"/>
          </a:xfrm>
          <a:prstGeom prst="rect">
            <a:avLst/>
          </a:prstGeom>
        </p:spPr>
      </p:pic>
      <p:sp>
        <p:nvSpPr>
          <p:cNvPr id="9" name="Lead Text"/>
          <p:cNvSpPr txBox="1"/>
          <p:nvPr/>
        </p:nvSpPr>
        <p:spPr>
          <a:xfrm>
            <a:off x="1170432" y="1417320"/>
            <a:ext cx="9601200" cy="502920"/>
          </a:xfrm>
          <a:prstGeom prst="rect">
            <a:avLst/>
          </a:prstGeom>
          <a:noFill/>
          <a:ln/>
        </p:spPr>
        <p:txBody>
          <a:bodyPr wrap="square" lIns="0" tIns="0" rIns="0" bIns="0" rtlCol="0" anchor="ctr"/>
          <a:lstStyle/>
          <a:p>
            <a:pPr marL="0" indent="0">
              <a:buNone/>
            </a:pPr>
            <a:r>
              <a:rPr lang="en-US" sz="1800" b="1" dirty="0">
                <a:solidFill>
                  <a:schemeClr val="accent2"/>
                </a:solidFill>
              </a:rPr>
              <a:t>What Is Your Expected Outcome?</a:t>
            </a:r>
            <a:endParaRPr lang="en-US" sz="1800" dirty="0"/>
          </a:p>
        </p:txBody>
      </p:sp>
      <p:sp>
        <p:nvSpPr>
          <p:cNvPr id="101" name="Loop Heading"/>
          <p:cNvSpPr txBox="1"/>
          <p:nvPr/>
        </p:nvSpPr>
        <p:spPr>
          <a:xfrm>
            <a:off x="594360" y="2011680"/>
            <a:ext cx="8229600" cy="292608"/>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600" b="1" i="0" dirty="0">
                <a:solidFill>
                  <a:schemeClr val="accent1"/>
                </a:solidFill>
              </a:rPr>
              <a:t>FLORAVISION core loop</a:t>
            </a:r>
          </a:p>
        </p:txBody>
      </p:sp>
      <p:sp>
        <p:nvSpPr>
          <p:cNvPr id="102" name="Loop Card 1"/>
          <p:cNvSpPr/>
          <p:nvPr/>
        </p:nvSpPr>
        <p:spPr>
          <a:xfrm>
            <a:off x="594360" y="2359152"/>
            <a:ext cx="1645920" cy="1463040"/>
          </a:xfrm>
          <a:prstGeom prst="roundRect">
            <a:avLst>
              <a:gd name="adj" fmla="val 75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3" name="Loop Number 1"/>
          <p:cNvSpPr/>
          <p:nvPr/>
        </p:nvSpPr>
        <p:spPr>
          <a:xfrm>
            <a:off x="704088" y="2487168"/>
            <a:ext cx="365760" cy="31638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1</a:t>
            </a:r>
          </a:p>
        </p:txBody>
      </p:sp>
      <p:sp>
        <p:nvSpPr>
          <p:cNvPr id="104" name="Loop Title 1"/>
          <p:cNvSpPr txBox="1"/>
          <p:nvPr/>
        </p:nvSpPr>
        <p:spPr>
          <a:xfrm>
            <a:off x="1143000" y="2450592"/>
            <a:ext cx="1024128" cy="41148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1" i="0" dirty="0">
                <a:solidFill>
                  <a:schemeClr val="accent1"/>
                </a:solidFill>
              </a:rPr>
              <a:t>Post</a:t>
            </a:r>
          </a:p>
        </p:txBody>
      </p:sp>
      <p:sp>
        <p:nvSpPr>
          <p:cNvPr id="105" name="Loop Caption 1"/>
          <p:cNvSpPr txBox="1"/>
          <p:nvPr/>
        </p:nvSpPr>
        <p:spPr>
          <a:xfrm>
            <a:off x="704088" y="2971800"/>
            <a:ext cx="1426464" cy="82296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0" i="0" dirty="0">
                <a:solidFill>
                  <a:schemeClr val="tx1"/>
                </a:solidFill>
              </a:rPr>
              <a:t>Buyer posts demand and pays an advance</a:t>
            </a:r>
          </a:p>
        </p:txBody>
      </p:sp>
      <p:sp>
        <p:nvSpPr>
          <p:cNvPr id="106" name="Loop Arrow 1"/>
          <p:cNvSpPr/>
          <p:nvPr/>
        </p:nvSpPr>
        <p:spPr>
          <a:xfrm>
            <a:off x="2275027" y="2926080"/>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07" name="Loop Card 2"/>
          <p:cNvSpPr/>
          <p:nvPr/>
        </p:nvSpPr>
        <p:spPr>
          <a:xfrm>
            <a:off x="2465222" y="2359152"/>
            <a:ext cx="1645920" cy="1463040"/>
          </a:xfrm>
          <a:prstGeom prst="roundRect">
            <a:avLst>
              <a:gd name="adj" fmla="val 75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08" name="Loop Number 2"/>
          <p:cNvSpPr/>
          <p:nvPr/>
        </p:nvSpPr>
        <p:spPr>
          <a:xfrm>
            <a:off x="2574950" y="2487168"/>
            <a:ext cx="365760" cy="31638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2</a:t>
            </a:r>
          </a:p>
        </p:txBody>
      </p:sp>
      <p:sp>
        <p:nvSpPr>
          <p:cNvPr id="109" name="Loop Title 2"/>
          <p:cNvSpPr txBox="1"/>
          <p:nvPr/>
        </p:nvSpPr>
        <p:spPr>
          <a:xfrm>
            <a:off x="3013862" y="2450592"/>
            <a:ext cx="1024128" cy="41148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1" i="0" dirty="0">
                <a:solidFill>
                  <a:schemeClr val="accent1"/>
                </a:solidFill>
              </a:rPr>
              <a:t>Plan</a:t>
            </a:r>
          </a:p>
        </p:txBody>
      </p:sp>
      <p:sp>
        <p:nvSpPr>
          <p:cNvPr id="110" name="Loop Caption 2"/>
          <p:cNvSpPr txBox="1"/>
          <p:nvPr/>
        </p:nvSpPr>
        <p:spPr>
          <a:xfrm>
            <a:off x="2574950" y="2971800"/>
            <a:ext cx="1426464" cy="82296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0" i="0" dirty="0">
                <a:solidFill>
                  <a:schemeClr val="tx1"/>
                </a:solidFill>
              </a:rPr>
              <a:t>Farmer sees open demand, picks the crop</a:t>
            </a:r>
          </a:p>
        </p:txBody>
      </p:sp>
      <p:sp>
        <p:nvSpPr>
          <p:cNvPr id="111" name="Loop Arrow 2"/>
          <p:cNvSpPr/>
          <p:nvPr/>
        </p:nvSpPr>
        <p:spPr>
          <a:xfrm>
            <a:off x="4145890" y="2926080"/>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12" name="Loop Card 3"/>
          <p:cNvSpPr/>
          <p:nvPr/>
        </p:nvSpPr>
        <p:spPr>
          <a:xfrm>
            <a:off x="4336085" y="2359152"/>
            <a:ext cx="1645920" cy="1463040"/>
          </a:xfrm>
          <a:prstGeom prst="roundRect">
            <a:avLst>
              <a:gd name="adj" fmla="val 75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13" name="Loop Number 3"/>
          <p:cNvSpPr/>
          <p:nvPr/>
        </p:nvSpPr>
        <p:spPr>
          <a:xfrm>
            <a:off x="4445813" y="2487168"/>
            <a:ext cx="365760" cy="31638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3</a:t>
            </a:r>
          </a:p>
        </p:txBody>
      </p:sp>
      <p:sp>
        <p:nvSpPr>
          <p:cNvPr id="114" name="Loop Title 3"/>
          <p:cNvSpPr txBox="1"/>
          <p:nvPr/>
        </p:nvSpPr>
        <p:spPr>
          <a:xfrm>
            <a:off x="4884725" y="2450592"/>
            <a:ext cx="1024128" cy="41148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1" i="0" dirty="0">
                <a:solidFill>
                  <a:schemeClr val="accent1"/>
                </a:solidFill>
              </a:rPr>
              <a:t>Accept</a:t>
            </a:r>
          </a:p>
        </p:txBody>
      </p:sp>
      <p:sp>
        <p:nvSpPr>
          <p:cNvPr id="115" name="Loop Caption 3"/>
          <p:cNvSpPr txBox="1"/>
          <p:nvPr/>
        </p:nvSpPr>
        <p:spPr>
          <a:xfrm>
            <a:off x="4445813" y="2971800"/>
            <a:ext cx="1426464" cy="82296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0" i="0" dirty="0">
                <a:solidFill>
                  <a:schemeClr val="tx1"/>
                </a:solidFill>
              </a:rPr>
              <a:t>Terms and price band are locked</a:t>
            </a:r>
          </a:p>
        </p:txBody>
      </p:sp>
      <p:sp>
        <p:nvSpPr>
          <p:cNvPr id="116" name="Loop Arrow 3"/>
          <p:cNvSpPr/>
          <p:nvPr/>
        </p:nvSpPr>
        <p:spPr>
          <a:xfrm>
            <a:off x="6016752" y="2926080"/>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17" name="Loop Card 4"/>
          <p:cNvSpPr/>
          <p:nvPr/>
        </p:nvSpPr>
        <p:spPr>
          <a:xfrm>
            <a:off x="6206947" y="2359152"/>
            <a:ext cx="1645920" cy="1463040"/>
          </a:xfrm>
          <a:prstGeom prst="roundRect">
            <a:avLst>
              <a:gd name="adj" fmla="val 75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18" name="Loop Number 4"/>
          <p:cNvSpPr/>
          <p:nvPr/>
        </p:nvSpPr>
        <p:spPr>
          <a:xfrm>
            <a:off x="6316675" y="2487168"/>
            <a:ext cx="365760" cy="31638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4</a:t>
            </a:r>
          </a:p>
        </p:txBody>
      </p:sp>
      <p:sp>
        <p:nvSpPr>
          <p:cNvPr id="119" name="Loop Title 4"/>
          <p:cNvSpPr txBox="1"/>
          <p:nvPr/>
        </p:nvSpPr>
        <p:spPr>
          <a:xfrm>
            <a:off x="6755587" y="2450592"/>
            <a:ext cx="1024128" cy="41148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1" i="0" dirty="0">
                <a:solidFill>
                  <a:schemeClr val="accent1"/>
                </a:solidFill>
              </a:rPr>
              <a:t>Grow</a:t>
            </a:r>
          </a:p>
        </p:txBody>
      </p:sp>
      <p:sp>
        <p:nvSpPr>
          <p:cNvPr id="120" name="Loop Caption 4"/>
          <p:cNvSpPr txBox="1"/>
          <p:nvPr/>
        </p:nvSpPr>
        <p:spPr>
          <a:xfrm>
            <a:off x="6316675" y="2971800"/>
            <a:ext cx="1426464" cy="82296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0" i="0" dirty="0">
                <a:solidFill>
                  <a:schemeClr val="tx1"/>
                </a:solidFill>
              </a:rPr>
              <a:t>Two photo check-ins keep the buyer informed</a:t>
            </a:r>
          </a:p>
        </p:txBody>
      </p:sp>
      <p:sp>
        <p:nvSpPr>
          <p:cNvPr id="121" name="Loop Arrow 4"/>
          <p:cNvSpPr/>
          <p:nvPr/>
        </p:nvSpPr>
        <p:spPr>
          <a:xfrm>
            <a:off x="7887614" y="2926080"/>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22" name="Loop Card 5"/>
          <p:cNvSpPr/>
          <p:nvPr/>
        </p:nvSpPr>
        <p:spPr>
          <a:xfrm>
            <a:off x="8077810" y="2359152"/>
            <a:ext cx="1645920" cy="1463040"/>
          </a:xfrm>
          <a:prstGeom prst="roundRect">
            <a:avLst>
              <a:gd name="adj" fmla="val 75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23" name="Loop Number 5"/>
          <p:cNvSpPr/>
          <p:nvPr/>
        </p:nvSpPr>
        <p:spPr>
          <a:xfrm>
            <a:off x="8187538" y="2487168"/>
            <a:ext cx="365760" cy="31638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5</a:t>
            </a:r>
          </a:p>
        </p:txBody>
      </p:sp>
      <p:sp>
        <p:nvSpPr>
          <p:cNvPr id="124" name="Loop Title 5"/>
          <p:cNvSpPr txBox="1"/>
          <p:nvPr/>
        </p:nvSpPr>
        <p:spPr>
          <a:xfrm>
            <a:off x="8626450" y="2450592"/>
            <a:ext cx="1024128" cy="41148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1" i="0" dirty="0">
                <a:solidFill>
                  <a:schemeClr val="accent1"/>
                </a:solidFill>
              </a:rPr>
              <a:t>Deliver</a:t>
            </a:r>
          </a:p>
        </p:txBody>
      </p:sp>
      <p:sp>
        <p:nvSpPr>
          <p:cNvPr id="125" name="Loop Caption 5"/>
          <p:cNvSpPr txBox="1"/>
          <p:nvPr/>
        </p:nvSpPr>
        <p:spPr>
          <a:xfrm>
            <a:off x="8187538" y="2971800"/>
            <a:ext cx="1426464" cy="82296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0" i="0" dirty="0">
                <a:solidFill>
                  <a:schemeClr val="tx1"/>
                </a:solidFill>
              </a:rPr>
              <a:t>Both sides confirm quantity and quality</a:t>
            </a:r>
          </a:p>
        </p:txBody>
      </p:sp>
      <p:sp>
        <p:nvSpPr>
          <p:cNvPr id="126" name="Loop Arrow 5"/>
          <p:cNvSpPr/>
          <p:nvPr/>
        </p:nvSpPr>
        <p:spPr>
          <a:xfrm>
            <a:off x="9758477" y="2926080"/>
            <a:ext cx="155448" cy="292608"/>
          </a:xfrm>
          <a:prstGeom prst="chevron">
            <a:avLst/>
          </a:prstGeom>
          <a:solidFill>
            <a:schemeClr val="accent3"/>
          </a:solidFill>
          <a:ln>
            <a:noFill/>
          </a:ln>
        </p:spPr>
        <p:txBody>
          <a:bodyPr wrap="square" lIns="91440" tIns="45720" rIns="91440" bIns="45720" rtlCol="0" anchor="t">
            <a:noAutofit/>
          </a:bodyPr>
          <a:lstStyle/>
          <a:p>
            <a:endParaRPr lang="en-US"/>
          </a:p>
        </p:txBody>
      </p:sp>
      <p:sp>
        <p:nvSpPr>
          <p:cNvPr id="127" name="Loop Card 6"/>
          <p:cNvSpPr/>
          <p:nvPr/>
        </p:nvSpPr>
        <p:spPr>
          <a:xfrm>
            <a:off x="9948672" y="2359152"/>
            <a:ext cx="1645920" cy="1463040"/>
          </a:xfrm>
          <a:prstGeom prst="roundRect">
            <a:avLst>
              <a:gd name="adj" fmla="val 75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28" name="Loop Number 6"/>
          <p:cNvSpPr/>
          <p:nvPr/>
        </p:nvSpPr>
        <p:spPr>
          <a:xfrm>
            <a:off x="10058400" y="2487168"/>
            <a:ext cx="365760" cy="316382"/>
          </a:xfrm>
          <a:prstGeom prst="hexagon">
            <a:avLst/>
          </a:prstGeom>
          <a:solidFill>
            <a:schemeClr val="accent3"/>
          </a:solidFill>
          <a:ln>
            <a:noFill/>
          </a:ln>
        </p:spPr>
        <p:txBody>
          <a:bodyPr wrap="square" lIns="0" tIns="0" rIns="0" bIns="0" rtlCol="0" anchor="ctr">
            <a:noAutofit/>
          </a:bodyPr>
          <a:lstStyle/>
          <a:p>
            <a:pPr marL="0" indent="0" algn="ctr">
              <a:spcBef>
                <a:spcPts val="0"/>
              </a:spcBef>
              <a:spcAft>
                <a:spcPts val="0"/>
              </a:spcAft>
              <a:buNone/>
            </a:pPr>
            <a:r>
              <a:rPr lang="en-US" sz="1400" b="1" i="0" dirty="0">
                <a:solidFill>
                  <a:schemeClr val="tx2"/>
                </a:solidFill>
              </a:rPr>
              <a:t>6</a:t>
            </a:r>
          </a:p>
        </p:txBody>
      </p:sp>
      <p:sp>
        <p:nvSpPr>
          <p:cNvPr id="129" name="Loop Title 6"/>
          <p:cNvSpPr txBox="1"/>
          <p:nvPr/>
        </p:nvSpPr>
        <p:spPr>
          <a:xfrm>
            <a:off x="10497312" y="2450592"/>
            <a:ext cx="1024128" cy="41148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400" b="1" i="0" dirty="0">
                <a:solidFill>
                  <a:schemeClr val="accent1"/>
                </a:solidFill>
              </a:rPr>
              <a:t>Settle</a:t>
            </a:r>
          </a:p>
        </p:txBody>
      </p:sp>
      <p:sp>
        <p:nvSpPr>
          <p:cNvPr id="130" name="Loop Caption 6"/>
          <p:cNvSpPr txBox="1"/>
          <p:nvPr/>
        </p:nvSpPr>
        <p:spPr>
          <a:xfrm>
            <a:off x="10058400" y="2971800"/>
            <a:ext cx="1426464" cy="82296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0" i="0" dirty="0">
                <a:solidFill>
                  <a:schemeClr val="tx1"/>
                </a:solidFill>
              </a:rPr>
              <a:t>Payment released; trust scores update</a:t>
            </a:r>
          </a:p>
        </p:txBody>
      </p:sp>
      <p:sp>
        <p:nvSpPr>
          <p:cNvPr id="131" name="Improve Card"/>
          <p:cNvSpPr/>
          <p:nvPr/>
        </p:nvSpPr>
        <p:spPr>
          <a:xfrm>
            <a:off x="594360" y="4023360"/>
            <a:ext cx="5394960" cy="2194560"/>
          </a:xfrm>
          <a:prstGeom prst="roundRect">
            <a:avLst>
              <a:gd name="adj" fmla="val 5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32" name="Improve Text"/>
          <p:cNvSpPr txBox="1"/>
          <p:nvPr/>
        </p:nvSpPr>
        <p:spPr>
          <a:xfrm>
            <a:off x="795528" y="4023360"/>
            <a:ext cx="4992624" cy="2194560"/>
          </a:xfrm>
          <a:prstGeom prst="rect">
            <a:avLst/>
          </a:prstGeom>
          <a:noFill/>
          <a:ln>
            <a:noFill/>
          </a:ln>
        </p:spPr>
        <p:txBody>
          <a:bodyPr wrap="square" lIns="0" tIns="0" rIns="0" bIns="0" rtlCol="0" anchor="ctr">
            <a:noAutofit/>
          </a:bodyPr>
          <a:lstStyle/>
          <a:p>
            <a:pPr marL="0" indent="0" algn="l">
              <a:spcBef>
                <a:spcPts val="0"/>
              </a:spcBef>
              <a:spcAft>
                <a:spcPts val="400"/>
              </a:spcAft>
              <a:buNone/>
            </a:pPr>
            <a:r>
              <a:rPr lang="en-US" sz="1600" b="1" i="0" dirty="0">
                <a:solidFill>
                  <a:schemeClr val="accent1"/>
                </a:solidFill>
              </a:rPr>
              <a:t>What we want to improve</a:t>
            </a:r>
          </a:p>
          <a:p>
            <a:pPr marL="228600" indent="-228600" algn="l">
              <a:spcBef>
                <a:spcPts val="0"/>
              </a:spcBef>
              <a:spcAft>
                <a:spcPts val="1000"/>
              </a:spcAft>
              <a:buClr>
                <a:schemeClr val="accent3"/>
              </a:buClr>
              <a:buSzPct val="100000"/>
              <a:buChar char="•"/>
            </a:pPr>
            <a:r>
              <a:rPr lang="en-US" sz="1400" b="1" i="0" dirty="0">
                <a:solidFill>
                  <a:schemeClr val="accent2"/>
                </a:solidFill>
              </a:rPr>
              <a:t>Certainty: </a:t>
            </a:r>
            <a:r>
              <a:rPr lang="en-US" sz="1400" b="0" i="0" dirty="0">
                <a:solidFill>
                  <a:schemeClr val="tx1"/>
                </a:solidFill>
              </a:rPr>
              <a:t>farmers know buyer and price before planting</a:t>
            </a:r>
          </a:p>
          <a:p>
            <a:pPr marL="228600" indent="-228600" algn="l">
              <a:spcBef>
                <a:spcPts val="0"/>
              </a:spcBef>
              <a:spcAft>
                <a:spcPts val="1000"/>
              </a:spcAft>
              <a:buClr>
                <a:schemeClr val="accent3"/>
              </a:buClr>
              <a:buSzPct val="100000"/>
              <a:buChar char="•"/>
            </a:pPr>
            <a:r>
              <a:rPr lang="en-US" sz="1400" b="1" i="0" dirty="0">
                <a:solidFill>
                  <a:schemeClr val="accent2"/>
                </a:solidFill>
              </a:rPr>
              <a:t>Trust: </a:t>
            </a:r>
            <a:r>
              <a:rPr lang="en-US" sz="1400" b="0" i="0" dirty="0">
                <a:solidFill>
                  <a:schemeClr val="tx1"/>
                </a:solidFill>
              </a:rPr>
              <a:t>money is protected for both sides until delivery</a:t>
            </a:r>
          </a:p>
          <a:p>
            <a:pPr marL="228600" indent="-228600" algn="l">
              <a:spcBef>
                <a:spcPts val="0"/>
              </a:spcBef>
              <a:spcAft>
                <a:spcPts val="1000"/>
              </a:spcAft>
              <a:buClr>
                <a:schemeClr val="accent3"/>
              </a:buClr>
              <a:buSzPct val="100000"/>
              <a:buChar char="•"/>
            </a:pPr>
            <a:r>
              <a:rPr lang="en-US" sz="1400" b="1" i="0" dirty="0">
                <a:solidFill>
                  <a:schemeClr val="accent2"/>
                </a:solidFill>
              </a:rPr>
              <a:t>Fairness: </a:t>
            </a:r>
            <a:r>
              <a:rPr lang="en-US" sz="1400" b="0" i="0" dirty="0">
                <a:solidFill>
                  <a:schemeClr val="tx1"/>
                </a:solidFill>
              </a:rPr>
              <a:t>a buyer's track record counts, not just price</a:t>
            </a:r>
          </a:p>
        </p:txBody>
      </p:sp>
      <p:sp>
        <p:nvSpPr>
          <p:cNvPr id="133" name="Targets Card"/>
          <p:cNvSpPr/>
          <p:nvPr/>
        </p:nvSpPr>
        <p:spPr>
          <a:xfrm>
            <a:off x="6172200" y="4023360"/>
            <a:ext cx="5422392" cy="2194560"/>
          </a:xfrm>
          <a:prstGeom prst="roundRect">
            <a:avLst>
              <a:gd name="adj" fmla="val 5000"/>
            </a:avLst>
          </a:prstGeom>
          <a:solidFill>
            <a:schemeClr val="bg1"/>
          </a:solidFill>
          <a:ln w="9525">
            <a:solidFill>
              <a:schemeClr val="accent6"/>
            </a:solidFill>
          </a:ln>
        </p:spPr>
        <p:txBody>
          <a:bodyPr wrap="square" lIns="91440" tIns="45720" rIns="91440" bIns="45720" rtlCol="0" anchor="t">
            <a:noAutofit/>
          </a:bodyPr>
          <a:lstStyle/>
          <a:p>
            <a:endParaRPr lang="en-US"/>
          </a:p>
        </p:txBody>
      </p:sp>
      <p:sp>
        <p:nvSpPr>
          <p:cNvPr id="134" name="Targets Text"/>
          <p:cNvSpPr txBox="1"/>
          <p:nvPr/>
        </p:nvSpPr>
        <p:spPr>
          <a:xfrm>
            <a:off x="6373368" y="4023360"/>
            <a:ext cx="5029200" cy="2194560"/>
          </a:xfrm>
          <a:prstGeom prst="rect">
            <a:avLst/>
          </a:prstGeom>
          <a:noFill/>
          <a:ln>
            <a:noFill/>
          </a:ln>
        </p:spPr>
        <p:txBody>
          <a:bodyPr wrap="square" lIns="0" tIns="0" rIns="0" bIns="0" rtlCol="0" anchor="ctr">
            <a:noAutofit/>
          </a:bodyPr>
          <a:lstStyle/>
          <a:p>
            <a:pPr marL="0" indent="0" algn="l">
              <a:spcBef>
                <a:spcPts val="0"/>
              </a:spcBef>
              <a:spcAft>
                <a:spcPts val="400"/>
              </a:spcAft>
              <a:buNone/>
            </a:pPr>
            <a:r>
              <a:rPr lang="en-US" sz="1600" b="1" i="0" dirty="0">
                <a:solidFill>
                  <a:schemeClr val="accent1"/>
                </a:solidFill>
              </a:rPr>
              <a:t>Pilot targets</a:t>
            </a:r>
          </a:p>
          <a:p>
            <a:pPr marL="228600" indent="-228600" algn="l">
              <a:spcBef>
                <a:spcPts val="0"/>
              </a:spcBef>
              <a:spcAft>
                <a:spcPts val="800"/>
              </a:spcAft>
              <a:buClr>
                <a:schemeClr val="accent3"/>
              </a:buClr>
              <a:buSzPct val="100000"/>
              <a:buChar char="•"/>
            </a:pPr>
            <a:r>
              <a:rPr lang="en-US" sz="1400" b="1" i="0" dirty="0">
                <a:solidFill>
                  <a:schemeClr val="accent2"/>
                </a:solidFill>
              </a:rPr>
              <a:t>≥ 80% </a:t>
            </a:r>
            <a:r>
              <a:rPr lang="en-US" sz="1400" b="0" i="0" dirty="0">
                <a:solidFill>
                  <a:schemeClr val="tx1"/>
                </a:solidFill>
              </a:rPr>
              <a:t>of committed orders delivered and settled</a:t>
            </a:r>
          </a:p>
          <a:p>
            <a:pPr marL="228600" indent="-228600" algn="l">
              <a:spcBef>
                <a:spcPts val="0"/>
              </a:spcBef>
              <a:spcAft>
                <a:spcPts val="800"/>
              </a:spcAft>
              <a:buClr>
                <a:schemeClr val="accent3"/>
              </a:buClr>
              <a:buSzPct val="100000"/>
              <a:buChar char="•"/>
            </a:pPr>
            <a:r>
              <a:rPr lang="en-US" sz="1400" b="1" i="0" dirty="0">
                <a:solidFill>
                  <a:schemeClr val="accent2"/>
                </a:solidFill>
              </a:rPr>
              <a:t>24 hours </a:t>
            </a:r>
            <a:r>
              <a:rPr lang="en-US" sz="1400" b="0" i="0" dirty="0">
                <a:solidFill>
                  <a:schemeClr val="tx1"/>
                </a:solidFill>
              </a:rPr>
              <a:t>from confirmed delivery to payment</a:t>
            </a:r>
          </a:p>
          <a:p>
            <a:pPr marL="228600" indent="-228600" algn="l">
              <a:spcBef>
                <a:spcPts val="0"/>
              </a:spcBef>
              <a:spcAft>
                <a:spcPts val="800"/>
              </a:spcAft>
              <a:buClr>
                <a:schemeClr val="accent3"/>
              </a:buClr>
              <a:buSzPct val="100000"/>
              <a:buChar char="•"/>
            </a:pPr>
            <a:r>
              <a:rPr lang="en-US" sz="1400" b="1" i="0" dirty="0">
                <a:solidFill>
                  <a:schemeClr val="accent2"/>
                </a:solidFill>
              </a:rPr>
              <a:t>100% </a:t>
            </a:r>
            <a:r>
              <a:rPr lang="en-US" sz="1400" b="0" i="0" dirty="0">
                <a:solidFill>
                  <a:schemeClr val="tx1"/>
                </a:solidFill>
              </a:rPr>
              <a:t>of settled orders at or above the agreed floor price</a:t>
            </a:r>
          </a:p>
          <a:p>
            <a:pPr marL="228600" indent="-228600" algn="l">
              <a:spcBef>
                <a:spcPts val="0"/>
              </a:spcBef>
              <a:spcAft>
                <a:spcPts val="800"/>
              </a:spcAft>
              <a:buClr>
                <a:schemeClr val="accent3"/>
              </a:buClr>
              <a:buSzPct val="100000"/>
              <a:buChar char="•"/>
            </a:pPr>
            <a:r>
              <a:rPr lang="en-US" sz="1400" b="1" i="0" dirty="0">
                <a:solidFill>
                  <a:schemeClr val="accent2"/>
                </a:solidFill>
              </a:rPr>
              <a:t>1 </a:t>
            </a:r>
            <a:r>
              <a:rPr lang="en-US" sz="1400" b="0" i="0" dirty="0">
                <a:solidFill>
                  <a:schemeClr val="tx1"/>
                </a:solidFill>
              </a:rPr>
              <a:t>buyer type, 1 crop group, about 10 farmers, one season</a:t>
            </a:r>
          </a:p>
        </p:txBody>
      </p:sp>
    </p:spTree>
    <p:extLst>
      <p:ext uri="{BB962C8B-B14F-4D97-AF65-F5344CB8AC3E}">
        <p14:creationId xmlns:p14="http://schemas.microsoft.com/office/powerpoint/2010/main" val="1373589242"/>
      </p:ext>
    </p:extLst>
  </p:cSld>
  <p:clrMapOvr>
    <a:masterClrMapping/>
  </p:clrMapOvr>
</p:sld>
</file>

<file path=ppt/theme/theme1.xml><?xml version="1.0" encoding="utf-8"?>
<a:theme xmlns:a="http://schemas.openxmlformats.org/drawingml/2006/main" name="Genesis Ideathon [1791568925584]">
  <a:themeElements>
    <a:clrScheme name="Genesis Ideathon">
      <a:dk1>
        <a:srgbClr val="0E2A2F"/>
      </a:dk1>
      <a:lt1>
        <a:srgbClr val="FFFFFF"/>
      </a:lt1>
      <a:dk2>
        <a:srgbClr val="052B35"/>
      </a:dk2>
      <a:lt2>
        <a:srgbClr val="F3F8F5"/>
      </a:lt2>
      <a:accent1>
        <a:srgbClr val="026855"/>
      </a:accent1>
      <a:accent2>
        <a:srgbClr val="094542"/>
      </a:accent2>
      <a:accent3>
        <a:srgbClr val="7AC143"/>
      </a:accent3>
      <a:accent4>
        <a:srgbClr val="4FA278"/>
      </a:accent4>
      <a:accent5>
        <a:srgbClr val="5B6F6B"/>
      </a:accent5>
      <a:accent6>
        <a:srgbClr val="D3E6DD"/>
      </a:accent6>
      <a:hlink>
        <a:srgbClr val="026855"/>
      </a:hlink>
      <a:folHlink>
        <a:srgbClr val="5B6F6B"/>
      </a:folHlink>
    </a:clrScheme>
    <a:fontScheme name="Genesis Ideath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 dockstate="right" visibility="0" width="525"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316AD0A2-CFEF-45C6-8350-24A26769BDC6}">
  <we:reference id="wa200010725" version="1.0.0.1" store="en-US" storeType="OMEX"/>
  <we:alternateReferences>
    <we:reference id="wa200010725" version="1.0.0.1" store="WA200010725" storeType="OMEX"/>
  </we:alternateReferences>
  <we:properties>
    <we:property name="claude.fileId" value="&quot;264add00-5f80-40f0-b549-14c7b4966e84&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97AC1D3-3D69-4014-A941-82812BC46F3C}">
  <we:reference id="wa200010215" version="2.0.0.1" store="en-US" storeType="OMEX"/>
  <we:alternateReferences>
    <we:reference id="wa200010215" version="2.0.0.1" store="wa200010215" storeType="OMEX"/>
  </we:alternateReferences>
  <we:properties>
    <we:property name="bps.codex_control.document_id" value="&quot;f1ba1b80-f0b3-4c08-b3fb-af9be476e6c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TotalTime>
  <Words>1756</Words>
  <Application>Microsoft Office PowerPoint</Application>
  <PresentationFormat>Widescreen</PresentationFormat>
  <Paragraphs>194</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Cambria</vt:lpstr>
      <vt:lpstr>Genesis Ideathon [1791568925584]</vt:lpstr>
      <vt:lpstr>PowerPoint Presentation</vt:lpstr>
      <vt:lpstr>DOMAIN PROBLEM IN OUR WORDS</vt:lpstr>
      <vt:lpstr>WHO IS AFFECTED?</vt:lpstr>
      <vt:lpstr>CURRENT SITUATION &amp; CONTEXT</vt:lpstr>
      <vt:lpstr>KEY CHALLENGES</vt:lpstr>
      <vt:lpstr>EXISTING SOLUTIONS / APPROACHES</vt:lpstr>
      <vt:lpstr>PROBLEM INSIGHTS &amp; OPPORTUNITY AREAS</vt:lpstr>
      <vt:lpstr>INITIAL DIRECTION &amp; EXPECTED OUTCOME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Genesis Ideathon – Pre-Ideathon Template</dc:title>
  <dc:subject>PptxGenJS Presentation</dc:subject>
  <dc:creator>Genesis Ideathon</dc:creator>
  <cp:lastModifiedBy>shasuwanth veerasekharan</cp:lastModifiedBy>
  <cp:revision>9</cp:revision>
  <dcterms:created xsi:type="dcterms:W3CDTF">2026-10-07T15:27:40Z</dcterms:created>
  <dcterms:modified xsi:type="dcterms:W3CDTF">2026-10-10T10:33:46Z</dcterms:modified>
</cp:coreProperties>
</file>