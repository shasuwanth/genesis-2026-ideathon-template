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0"/>
  </p:notesMasterIdLst>
  <p:sldIdLst>
    <p:sldId id="269" r:id="rId2"/>
    <p:sldId id="270" r:id="rId3"/>
    <p:sldId id="258" r:id="rId4"/>
    <p:sldId id="259" r:id="rId5"/>
    <p:sldId id="260" r:id="rId6"/>
    <p:sldId id="273" r:id="rId7"/>
    <p:sldId id="272" r:id="rId8"/>
    <p:sldId id="27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69"/>
            <p14:sldId id="270"/>
            <p14:sldId id="258"/>
            <p14:sldId id="259"/>
            <p14:sldId id="260"/>
            <p14:sldId id="273"/>
            <p14:sldId id="2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CB74C-76C3-4C81-9681-1AC314BDA715}" v="1" dt="2026-10-09T18:09:3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19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· Team Comet 502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9528" y="91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02920" y="27432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02920" y="1741932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0292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02920" y="260604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</a:t>
            </a:r>
            <a:r>
              <a:rPr lang="en-US" sz="1800">
                <a:solidFill>
                  <a:schemeClr val="bg1"/>
                </a:solidFill>
              </a:rPr>
              <a:t>– </a:t>
            </a:r>
            <a:r>
              <a:rPr lang="en-US">
                <a:solidFill>
                  <a:schemeClr val="bg1"/>
                </a:solidFill>
              </a:rPr>
              <a:t>C</a:t>
            </a:r>
            <a:r>
              <a:rPr lang="en-US" sz="1800">
                <a:solidFill>
                  <a:schemeClr val="bg1"/>
                </a:solidFill>
              </a:rPr>
              <a:t>omet </a:t>
            </a:r>
            <a:r>
              <a:rPr lang="en-US" sz="1800" dirty="0">
                <a:solidFill>
                  <a:schemeClr val="bg1"/>
                </a:solidFill>
              </a:rPr>
              <a:t>502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1. SHASUWANTH VEERASEKHARAN (CB.SC.U4AIE26062)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2. MUHIL S (CB.SC.U4AIE26038)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3. Moulik Gupta (CB.SC.U4AIE26035)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4. AASHMAN SINGH (CB.SC.U4AIE26001)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 5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 </a:t>
            </a:r>
            <a:r>
              <a:rPr lang="en-IN" sz="1400" dirty="0">
                <a:solidFill>
                  <a:schemeClr val="bg1"/>
                </a:solidFill>
              </a:rPr>
              <a:t>Farmers need an affordable, easy-to-use system that brings together crop, soil, weather and equipment data to detect problems early, plan supplies and automate everyday farming tasks</a:t>
            </a:r>
            <a:r>
              <a:rPr lang="en-IN" dirty="0"/>
              <a:t>.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161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problem we are solving, and why it matters now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exactly needs to be solved?</a:t>
            </a:r>
          </a:p>
          <a:p>
            <a:pPr marL="27940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Farmers need one simple system that brings crop health, soil, weather and equipment data together, so they can cut avoidable losses, plan supplies better and automate routine work.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Smarter irrigation: </a:t>
            </a:r>
            <a:r>
              <a:rPr lang="en-US" sz="1400" dirty="0">
                <a:solidFill>
                  <a:schemeClr val="tx1"/>
                </a:solidFill>
              </a:rPr>
              <a:t>water only when the soil, the crop and the forecast say it is needed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Faster disease detection: </a:t>
            </a:r>
            <a:r>
              <a:rPr lang="en-US" sz="1400" dirty="0">
                <a:solidFill>
                  <a:schemeClr val="tx1"/>
                </a:solidFill>
              </a:rPr>
              <a:t>spot likely diseases from a leaf photo plus field conditions, with treatment options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One connected farm: </a:t>
            </a:r>
            <a:r>
              <a:rPr lang="en-US" sz="1400" dirty="0">
                <a:solidFill>
                  <a:schemeClr val="tx1"/>
                </a:solidFill>
              </a:rPr>
              <a:t>sensors, pumps and sprinklers working together from a single place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Early fault alerts: </a:t>
            </a:r>
            <a:r>
              <a:rPr lang="en-US" sz="1400" dirty="0">
                <a:solidFill>
                  <a:schemeClr val="tx1"/>
                </a:solidFill>
              </a:rPr>
              <a:t>flag odd readings, dropped sensors and failing pumps before crops suffer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Supply planning: </a:t>
            </a:r>
            <a:r>
              <a:rPr lang="en-US" sz="1400" dirty="0">
                <a:solidFill>
                  <a:schemeClr val="tx1"/>
                </a:solidFill>
              </a:rPr>
              <a:t>monthly seed and fertiliser needs based on crop stage, farm area and stock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Plain-language reports: </a:t>
            </a:r>
            <a:r>
              <a:rPr lang="en-US" sz="1400" dirty="0">
                <a:solidFill>
                  <a:schemeClr val="tx1"/>
                </a:solidFill>
              </a:rPr>
              <a:t>what needs attention, why it matters and what to do next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Why is it important right now?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 is running short: </a:t>
            </a:r>
            <a:r>
              <a:rPr lang="en-US" sz="1400" dirty="0">
                <a:solidFill>
                  <a:schemeClr val="tx1"/>
                </a:solidFill>
              </a:rPr>
              <a:t>farming uses about 72% of the world’s freshwater, and climate change makes supply less reliable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Losses are still high: </a:t>
            </a:r>
            <a:r>
              <a:rPr lang="en-US" sz="1400" dirty="0">
                <a:solidFill>
                  <a:schemeClr val="tx1"/>
                </a:solidFill>
              </a:rPr>
              <a:t>FAO estimates up to 40% of global crop production is lost to pests and diseases every year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Tech is hard to adopt: </a:t>
            </a:r>
            <a:r>
              <a:rPr lang="en-US" sz="1400" dirty="0">
                <a:solidFill>
                  <a:schemeClr val="tx1"/>
                </a:solidFill>
              </a:rPr>
              <a:t>high costs and limited digital skills keep small farmers out, so tools must be affordable and easy to use</a:t>
            </a:r>
          </a:p>
        </p:txBody>
      </p:sp>
    </p:spTree>
    <p:extLst>
      <p:ext uri="{BB962C8B-B14F-4D97-AF65-F5344CB8AC3E}">
        <p14:creationId xmlns:p14="http://schemas.microsoft.com/office/powerpoint/2010/main" val="286901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Primary users / target group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Small &amp; marginal farmers: </a:t>
            </a:r>
            <a:r>
              <a:rPr lang="en-US" sz="1400" dirty="0">
                <a:solidFill>
                  <a:schemeClr val="tx1"/>
                </a:solidFill>
              </a:rPr>
              <a:t>about 86% of India's ~146M farm holdings are under 2 ha (avg ≈ 1.1 ha); tight budgets, smartphone-only, regional-language users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Mid-size growers (2–10 ha): </a:t>
            </a:r>
            <a:r>
              <a:rPr lang="en-US" sz="1400" dirty="0">
                <a:solidFill>
                  <a:schemeClr val="tx1"/>
                </a:solidFill>
              </a:rPr>
              <a:t>own borewells, pumps and hired labour; lose most to badly timed irrigation and late disease detection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Farmer groups (FPOs, co-ops, SHGs): </a:t>
            </a:r>
            <a:r>
              <a:rPr lang="en-US" sz="1400" dirty="0">
                <a:solidFill>
                  <a:schemeClr val="tx1"/>
                </a:solidFill>
              </a:rPr>
              <a:t>can share sensor nodes, buy supplies in bulk and split costs across members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Women &amp; young farmers: </a:t>
            </a:r>
            <a:r>
              <a:rPr lang="en-US" sz="1400" dirty="0">
                <a:solidFill>
                  <a:schemeClr val="tx1"/>
                </a:solidFill>
              </a:rPr>
              <a:t>women do a large share of field work; younger farmers adopt apps first and can champion the tool locally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Secondary stakeholders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Input dealers &amp; suppliers: </a:t>
            </a:r>
            <a:r>
              <a:rPr lang="en-US" sz="1400" dirty="0">
                <a:solidFill>
                  <a:schemeClr val="tx1"/>
                </a:solidFill>
              </a:rPr>
              <a:t>seed, fertiliser and pesticide demand becomes predictable month by month instead of panic buying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Extension &amp; research bodies: </a:t>
            </a:r>
            <a:r>
              <a:rPr lang="en-US" sz="1400" dirty="0">
                <a:solidFill>
                  <a:schemeClr val="tx1"/>
                </a:solidFill>
              </a:rPr>
              <a:t>KVKs, state agriculture departments, agri universities (e.g. TNAU, ICAR) get field data to target advisories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 &amp; power utilities: </a:t>
            </a:r>
            <a:r>
              <a:rPr lang="en-US" sz="1400" dirty="0">
                <a:solidFill>
                  <a:schemeClr val="tx1"/>
                </a:solidFill>
              </a:rPr>
              <a:t>fewer unnecessary pumping hours means less groundwater drawn and lower electricity load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Banks, insurers &amp; schemes: </a:t>
            </a:r>
            <a:r>
              <a:rPr lang="en-US" sz="1400" dirty="0">
                <a:solidFill>
                  <a:schemeClr val="tx1"/>
                </a:solidFill>
              </a:rPr>
              <a:t>verifiable farm data supports credit, crop-insurance claims (PMFBY) and subsidy targeting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Who benefits if the problem is solved?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Farmers: </a:t>
            </a:r>
            <a:r>
              <a:rPr lang="en-US" sz="1400" dirty="0">
                <a:solidFill>
                  <a:schemeClr val="tx1"/>
                </a:solidFill>
              </a:rPr>
              <a:t>lower water, fertiliser and pesticide bills, fewer lost crops, fewer night-time field trips, higher net income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Environment: </a:t>
            </a:r>
            <a:r>
              <a:rPr lang="en-US" sz="1400" dirty="0">
                <a:solidFill>
                  <a:schemeClr val="tx1"/>
                </a:solidFill>
              </a:rPr>
              <a:t>less groundwater depletion, less fertiliser and pesticide runoff, lower energy use from over-pumping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Society &amp; economy: </a:t>
            </a:r>
            <a:r>
              <a:rPr lang="en-US" sz="1400" dirty="0">
                <a:solidFill>
                  <a:schemeClr val="tx1"/>
                </a:solidFill>
              </a:rPr>
              <a:t>steadier food supply and prices, safer produce, rural jobs and a tech-enabled image for farming (SDG 2, 6, 12)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Existing scenario and background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Small, rain- and groundwater-dependent farms: </a:t>
            </a:r>
            <a:r>
              <a:rPr lang="en-US" sz="1400" dirty="0">
                <a:solidFill>
                  <a:schemeClr val="tx1"/>
                </a:solidFill>
              </a:rPr>
              <a:t>agriculture employs roughly 45% of India's workforce and contributes ~18% of GDP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Smallholders dominate worldwide: </a:t>
            </a:r>
            <a:r>
              <a:rPr lang="en-US" sz="1400" dirty="0">
                <a:solidFill>
                  <a:schemeClr val="tx1"/>
                </a:solidFill>
              </a:rPr>
              <a:t>farms under 2 ha are ~84% of all farms and produce about a third of the world's food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Tools exist only in pieces: </a:t>
            </a:r>
            <a:r>
              <a:rPr lang="en-US" sz="1400" dirty="0">
                <a:solidFill>
                  <a:schemeClr val="tx1"/>
                </a:solidFill>
              </a:rPr>
              <a:t>weather apps, soil cards and disease apps each solve one task, and none work together at plot level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Relevant data and facts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Water: </a:t>
            </a:r>
            <a:r>
              <a:rPr lang="en-US" sz="1400" dirty="0">
                <a:solidFill>
                  <a:schemeClr val="tx1"/>
                </a:solidFill>
              </a:rPr>
              <a:t>~72% of global freshwater use goes to farming (FAO); in India ~85–90% of extracted groundwater goes to irrigation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Crop loss: </a:t>
            </a:r>
            <a:r>
              <a:rPr lang="en-US" sz="1400" dirty="0">
                <a:solidFill>
                  <a:schemeClr val="tx1"/>
                </a:solidFill>
              </a:rPr>
              <a:t>up to 40% of global crop production is lost to pests and diseases yearly; plant pests cost &gt;US$220B a year (FAO/IPPC)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Irrigation: </a:t>
            </a:r>
            <a:r>
              <a:rPr lang="en-US" sz="1400" dirty="0">
                <a:solidFill>
                  <a:schemeClr val="tx1"/>
                </a:solidFill>
              </a:rPr>
              <a:t>about half of Indian cropland is rainfed; flood irrigation is often only 40–60% efficient, drip can save 30–50% water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Soil &amp; fertiliser: </a:t>
            </a:r>
            <a:r>
              <a:rPr lang="en-US" sz="1400" dirty="0">
                <a:solidFill>
                  <a:schemeClr val="tx1"/>
                </a:solidFill>
              </a:rPr>
              <a:t>Soil Health Cards refresh once every two years; NPK use is skewed far from the ideal 4:2:1 by heavy urea use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Current workflow, step by step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1. Plan: </a:t>
            </a:r>
            <a:r>
              <a:rPr lang="en-US" sz="1400" dirty="0">
                <a:solidFill>
                  <a:schemeClr val="tx1"/>
                </a:solidFill>
              </a:rPr>
              <a:t>choose crop, seed and inputs from experience, neighbours or the dealer, with no crop-stage or farm-area calculation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2. Check soil: </a:t>
            </a:r>
            <a:r>
              <a:rPr lang="en-US" sz="1400" dirty="0">
                <a:solidFill>
                  <a:schemeClr val="tx1"/>
                </a:solidFill>
              </a:rPr>
              <a:t>occasional lab test (weeks to get results) or judge by touch and feel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3. Irrigate: </a:t>
            </a:r>
            <a:r>
              <a:rPr lang="en-US" sz="1400" dirty="0">
                <a:solidFill>
                  <a:schemeClr val="tx1"/>
                </a:solidFill>
              </a:rPr>
              <a:t>run the pump on a fixed schedule or when the field 'looks dry', often at night when power is on; walk out to switch it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4. Scout &amp; treat: </a:t>
            </a:r>
            <a:r>
              <a:rPr lang="en-US" sz="1400" dirty="0">
                <a:solidFill>
                  <a:schemeClr val="tx1"/>
                </a:solidFill>
              </a:rPr>
              <a:t>walk the field for symptoms, show a photo to the dealer, then spray by guess, often a broad-spectrum over-dose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5. Buy &amp; record: </a:t>
            </a:r>
            <a:r>
              <a:rPr lang="en-US" sz="1400" dirty="0">
                <a:solidFill>
                  <a:schemeClr val="tx1"/>
                </a:solidFill>
              </a:rPr>
              <a:t>stock up at season start or in a rush at shortage; notes live in memory or a notebook, so nothing carries 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Main difficulties and bottlenecks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Wasted water: </a:t>
            </a:r>
            <a:r>
              <a:rPr lang="en-US" sz="1400" dirty="0">
                <a:solidFill>
                  <a:schemeClr val="tx1"/>
                </a:solidFill>
              </a:rPr>
              <a:t>irrigation by habit or timer, not by soil moisture, crop stage or forecast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Late, wrong diagnosis: </a:t>
            </a:r>
            <a:r>
              <a:rPr lang="en-US" sz="1400" dirty="0">
                <a:solidFill>
                  <a:schemeClr val="tx1"/>
                </a:solidFill>
              </a:rPr>
              <a:t>symptoms are noticed days after onset and misread, leading to wrong or excess spraying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Scattered data: </a:t>
            </a:r>
            <a:r>
              <a:rPr lang="en-US" sz="1400" dirty="0">
                <a:solidFill>
                  <a:schemeClr val="tx1"/>
                </a:solidFill>
              </a:rPr>
              <a:t>soil, weather, crop and pump information sits in different places (or nowhere) and nothing joins it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Silent equipment faults: </a:t>
            </a:r>
            <a:r>
              <a:rPr lang="en-US" sz="1400" dirty="0">
                <a:solidFill>
                  <a:schemeClr val="tx1"/>
                </a:solidFill>
              </a:rPr>
              <a:t>dead sensors, clogged valves and dry-running pumps are found only after crops are stressed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Guesswork supply planning: </a:t>
            </a:r>
            <a:r>
              <a:rPr lang="en-US" sz="1400" dirty="0">
                <a:solidFill>
                  <a:schemeClr val="tx1"/>
                </a:solidFill>
              </a:rPr>
              <a:t>seed and fertiliser bought on thumb rules cause shortages at critical stages or idle stock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Root causes behind them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No continuous data: </a:t>
            </a:r>
            <a:r>
              <a:rPr lang="en-US" sz="1400" dirty="0">
                <a:solidFill>
                  <a:schemeClr val="tx1"/>
                </a:solidFill>
              </a:rPr>
              <a:t>soil testing is lab-based and infrequent, so decisions rest on guesswork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Small, fragmented holdings: </a:t>
            </a:r>
            <a:r>
              <a:rPr lang="en-US" sz="1400" dirty="0">
                <a:solidFill>
                  <a:schemeClr val="tx1"/>
                </a:solidFill>
              </a:rPr>
              <a:t>avg ≈ 1.1 ha, so enterprise precision-farming systems never pay back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Generic, late advice: </a:t>
            </a:r>
            <a:r>
              <a:rPr lang="en-US" sz="1400" dirty="0">
                <a:solidFill>
                  <a:schemeClr val="tx1"/>
                </a:solidFill>
              </a:rPr>
              <a:t>stretched extension services and district-level forecasts rarely fit one plot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Cost &amp; access barriers: </a:t>
            </a:r>
            <a:r>
              <a:rPr lang="en-US" sz="1400" dirty="0">
                <a:solidFill>
                  <a:schemeClr val="tx1"/>
                </a:solidFill>
              </a:rPr>
              <a:t>high upfront price, weak connectivity, power cuts, English-only apps and low digital skills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Consequences of leaving them unsolved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Falling water tables: </a:t>
            </a:r>
            <a:r>
              <a:rPr lang="en-US" sz="1400" dirty="0">
                <a:solidFill>
                  <a:schemeClr val="tx1"/>
                </a:solidFill>
              </a:rPr>
              <a:t>India is the world's largest groundwater user (a quarter of global extraction), and over-pumping drives wells dry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Lower yield, higher cost: </a:t>
            </a:r>
            <a:r>
              <a:rPr lang="en-US" sz="1400" dirty="0">
                <a:solidFill>
                  <a:schemeClr val="tx1"/>
                </a:solidFill>
              </a:rPr>
              <a:t>losses of up to 40% to pests and diseases, plus waste on over-used water, fertiliser and pesticide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Rising debt &amp; climate risk: </a:t>
            </a:r>
            <a:r>
              <a:rPr lang="en-US" sz="1400" dirty="0">
                <a:solidFill>
                  <a:schemeClr val="tx1"/>
                </a:solidFill>
              </a:rPr>
              <a:t>erratic rain and heat hit hardest those with no data-driven plan; soil degrades season by season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A widening digital divide: </a:t>
            </a:r>
            <a:r>
              <a:rPr lang="en-US" sz="1400" dirty="0">
                <a:solidFill>
                  <a:schemeClr val="tx1"/>
                </a:solidFill>
              </a:rPr>
              <a:t>large farms adopt technology while small farms fall further behind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Existing methods, systems or alternatives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Traditional practice: </a:t>
            </a:r>
            <a:r>
              <a:rPr lang="en-US" sz="1400" dirty="0">
                <a:solidFill>
                  <a:schemeClr val="tx1"/>
                </a:solidFill>
              </a:rPr>
              <a:t>calendar irrigation, visual scouting, advice from neighbours, dealers and KVKs, Soil Health Card lab tests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Government apps &amp; schemes: </a:t>
            </a:r>
            <a:r>
              <a:rPr lang="en-US" sz="1400" dirty="0">
                <a:solidFill>
                  <a:schemeClr val="tx1"/>
                </a:solidFill>
              </a:rPr>
              <a:t>IMD Meghdoot, mKisan and Kisan Suvidha advisories; PMKSY 'Per Drop More Crop' drip subsidies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Disease-ID apps: </a:t>
            </a:r>
            <a:r>
              <a:rPr lang="en-US" sz="1400" dirty="0">
                <a:solidFill>
                  <a:schemeClr val="tx1"/>
                </a:solidFill>
              </a:rPr>
              <a:t>Plantix, Agrio and similar tools give photo-based diagnosis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Sensor + advisory platforms: </a:t>
            </a:r>
            <a:r>
              <a:rPr lang="en-US" sz="1400" dirty="0">
                <a:solidFill>
                  <a:schemeClr val="tx1"/>
                </a:solidFill>
              </a:rPr>
              <a:t>Fasal, CropX and Arable pair field sensors with a subscription dashboard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Enterprise / OEM suites &amp; timers: </a:t>
            </a:r>
            <a:r>
              <a:rPr lang="en-US" sz="1400" dirty="0">
                <a:solidFill>
                  <a:schemeClr val="tx1"/>
                </a:solidFill>
              </a:rPr>
              <a:t>CropIn, Farmers Edge, John Deere Operations Center, Netafim; basic pump timers and GSM starters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Limitations of each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Traditional: </a:t>
            </a:r>
            <a:r>
              <a:rPr lang="en-US" sz="1400" dirty="0">
                <a:solidFill>
                  <a:schemeClr val="tx1"/>
                </a:solidFill>
              </a:rPr>
              <a:t>guesswork, slow and no continuous data; soil results arrive in weeks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Govt. apps: </a:t>
            </a:r>
            <a:r>
              <a:rPr lang="en-US" sz="1400" dirty="0">
                <a:solidFill>
                  <a:schemeClr val="tx1"/>
                </a:solidFill>
              </a:rPr>
              <a:t>district-level and generic, not tied to a plot; no equipment control or disease detection tied to field data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Disease apps: </a:t>
            </a:r>
            <a:r>
              <a:rPr lang="en-US" sz="1400" dirty="0">
                <a:solidFill>
                  <a:schemeClr val="tx1"/>
                </a:solidFill>
              </a:rPr>
              <a:t>image-only; they ignore soil, weather and irrigation, and accuracy drops on real field photos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Sensor platforms: </a:t>
            </a:r>
            <a:r>
              <a:rPr lang="en-US" sz="1400" dirty="0">
                <a:solidFill>
                  <a:schemeClr val="tx1"/>
                </a:solidFill>
              </a:rPr>
              <a:t>hardware plus subscription cost is steep for under 2 ha; limited automation and no supply planning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Enterprise / timers: </a:t>
            </a:r>
            <a:r>
              <a:rPr lang="en-US" sz="1400" dirty="0">
                <a:solidFill>
                  <a:schemeClr val="tx1"/>
                </a:solidFill>
              </a:rPr>
              <a:t>built for large farms with vendor lock-in; timers ignore soil and forecast and cannot spot faults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The gap they leave open (Key Challenges)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No single system </a:t>
            </a:r>
            <a:r>
              <a:rPr lang="en-US" sz="1400" dirty="0">
                <a:solidFill>
                  <a:schemeClr val="tx1"/>
                </a:solidFill>
              </a:rPr>
              <a:t>that is affordable, simple and joins crop, soil, weather and equipment data, then acts on it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Still missing together: </a:t>
            </a:r>
            <a:r>
              <a:rPr lang="en-US" sz="1400" dirty="0">
                <a:solidFill>
                  <a:schemeClr val="tx1"/>
                </a:solidFill>
              </a:rPr>
              <a:t>irrigation automation, early fault alerts, disease detection, supply planning and plain-language reports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Where we differ: </a:t>
            </a:r>
            <a:r>
              <a:rPr lang="en-US" sz="1400" dirty="0">
                <a:solidFill>
                  <a:schemeClr val="tx1"/>
                </a:solidFill>
              </a:rPr>
              <a:t>offline-first gateway, photo + field-data diagnosis, village outbreak alerts, one shared FPO gateway at ~₹425/farm</a:t>
            </a:r>
          </a:p>
        </p:txBody>
      </p:sp>
    </p:spTree>
    <p:extLst>
      <p:ext uri="{BB962C8B-B14F-4D97-AF65-F5344CB8AC3E}">
        <p14:creationId xmlns:p14="http://schemas.microsoft.com/office/powerpoint/2010/main" val="314789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Hardware Requirements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Sensor node (~₹3,700 each): </a:t>
            </a:r>
            <a:r>
              <a:rPr lang="en-US" sz="1400" dirty="0">
                <a:solidFill>
                  <a:schemeClr val="tx1"/>
                </a:solidFill>
              </a:rPr>
              <a:t>ESP32, capacitive soil-moisture probes, DS18B20 soil temp, BME280 air sensor, rain sensor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 &amp; pump health (~₹1,100): </a:t>
            </a:r>
            <a:r>
              <a:rPr lang="en-US" sz="1400" dirty="0">
                <a:solidFill>
                  <a:schemeClr val="tx1"/>
                </a:solidFill>
              </a:rPr>
              <a:t>YF-S201 flow meter, tank-level sensor, ACS712/ZMPT sensors to catch dry-running pumps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Actuation (~₹4,000): </a:t>
            </a:r>
            <a:r>
              <a:rPr lang="en-US" sz="1400" dirty="0">
                <a:solidFill>
                  <a:schemeClr val="tx1"/>
                </a:solidFill>
              </a:rPr>
              <a:t>relay board, 12 V solenoid valves, drip/sprinkler kit, manual override on every pump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Gateway &amp; power (~₹8,500): </a:t>
            </a:r>
            <a:r>
              <a:rPr lang="en-US" sz="1400" dirty="0">
                <a:solidFill>
                  <a:schemeClr val="tx1"/>
                </a:solidFill>
              </a:rPr>
              <a:t>Raspberry Pi 4 (2 GB) gateway, LoRa link, 10 W solar + Li-ion cell, IP65 enclosures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Farmer device: </a:t>
            </a:r>
            <a:r>
              <a:rPr lang="en-US" sz="1400" dirty="0">
                <a:solidFill>
                  <a:schemeClr val="tx1"/>
                </a:solidFill>
              </a:rPr>
              <a:t>any Android phone for app and leaf photos; optional RS485 NPK sensor (₹5,000–7,000)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Software Requirements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Firmware &amp; IoT: </a:t>
            </a:r>
            <a:r>
              <a:rPr lang="en-US" sz="1400" dirty="0">
                <a:solidFill>
                  <a:schemeClr val="tx1"/>
                </a:solidFill>
              </a:rPr>
              <a:t>Arduino/ESP-IDF or MicroPython, MQTT broker (Mosquitto), OTA updates, Node-RED for quick flows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AI/ML: </a:t>
            </a:r>
            <a:r>
              <a:rPr lang="en-US" sz="1400" dirty="0">
                <a:solidFill>
                  <a:schemeClr val="tx1"/>
                </a:solidFill>
              </a:rPr>
              <a:t>Python, TensorFlow/PyTorch to TFLite; MobileNet-class model on PlantVillage + PlantDoc + own images; Isolation Forest for faults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Decision logic: </a:t>
            </a:r>
            <a:r>
              <a:rPr lang="en-US" sz="1400" dirty="0">
                <a:solidFill>
                  <a:schemeClr val="tx1"/>
                </a:solidFill>
              </a:rPr>
              <a:t>FAO-56 Penman–Monteith ET₀, crop coefficients by growth stage, rain-forecast gate (Open-Meteo/IMD data)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Backend &amp; app: </a:t>
            </a:r>
            <a:r>
              <a:rPr lang="en-US" sz="1400" dirty="0">
                <a:solidFill>
                  <a:schemeClr val="tx1"/>
                </a:solidFill>
              </a:rPr>
              <a:t>FastAPI, PostgreSQL/TimescaleDB, Flutter or React PWA in Tamil/Hindi/English, SMS/WhatsApp alerts, GitHub + Docker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Other resources (Including Human Resources)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People: </a:t>
            </a:r>
            <a:r>
              <a:rPr lang="en-US" sz="1400" dirty="0">
                <a:solidFill>
                  <a:schemeClr val="tx1"/>
                </a:solidFill>
              </a:rPr>
              <a:t>4-member team (ML, IoT, backend, app/UX); an agronomist mentor (TNAU/KVK) for crop calendars and label checks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Field &amp; data: </a:t>
            </a:r>
            <a:r>
              <a:rPr lang="en-US" sz="1400" dirty="0">
                <a:solidFill>
                  <a:schemeClr val="tx1"/>
                </a:solidFill>
              </a:rPr>
              <a:t>1–2 partner farms for local-language testing; labelled leaf images, ICAR fertiliser norms, weather history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Budget: </a:t>
            </a:r>
            <a:r>
              <a:rPr lang="en-US" sz="1400" dirty="0">
                <a:solidFill>
                  <a:schemeClr val="tx1"/>
                </a:solidFill>
              </a:rPr>
              <a:t>≈ ₹32,000 prototype (≈ ₹26,000 without NPK) over ~10 weeks, incl. cloud, SMS and spares</a:t>
            </a:r>
          </a:p>
        </p:txBody>
      </p:sp>
    </p:spTree>
    <p:extLst>
      <p:ext uri="{BB962C8B-B14F-4D97-AF65-F5344CB8AC3E}">
        <p14:creationId xmlns:p14="http://schemas.microsoft.com/office/powerpoint/2010/main" val="926060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COMET 502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32000"/>
            <a:ext cx="10424160" cy="425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your team intends to do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Sense: </a:t>
            </a:r>
            <a:r>
              <a:rPr lang="en-US" sz="1400" dirty="0">
                <a:solidFill>
                  <a:schemeClr val="tx1"/>
                </a:solidFill>
              </a:rPr>
              <a:t>solar ESP32 nodes send soil, weather, flow and pump data to a gateway that keeps working offline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See: </a:t>
            </a:r>
            <a:r>
              <a:rPr lang="en-US" sz="1400" dirty="0">
                <a:solidFill>
                  <a:schemeClr val="tx1"/>
                </a:solidFill>
              </a:rPr>
              <a:t>leaf photo checked against humidity and leaf wetness, cutting false alarms; outbreaks alert nearby farms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Decide &amp; act: </a:t>
            </a:r>
            <a:r>
              <a:rPr lang="en-US" sz="1400" dirty="0">
                <a:solidFill>
                  <a:schemeClr val="tx1"/>
                </a:solidFill>
              </a:rPr>
              <a:t>soil, crop stage, ET₀ and forecast drive pumps, timed to when farm power arrives; override by missed call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Protect: </a:t>
            </a:r>
            <a:r>
              <a:rPr lang="en-US" sz="1400" dirty="0">
                <a:solidFill>
                  <a:schemeClr val="tx1"/>
                </a:solidFill>
              </a:rPr>
              <a:t>pump current/voltage fingerprint catches dry-running and phase loss before the motor burns out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Plan &amp; report: </a:t>
            </a:r>
            <a:r>
              <a:rPr lang="en-US" sz="1400" dirty="0">
                <a:solidFill>
                  <a:schemeClr val="tx1"/>
                </a:solidFill>
              </a:rPr>
              <a:t>input planner shared with local dealers; voice reports in Tamil/Hindi/English; PMFBY/PMKSY-ready logs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you want to improve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 &amp; inputs: </a:t>
            </a:r>
            <a:r>
              <a:rPr lang="en-US" sz="1400" dirty="0">
                <a:solidFill>
                  <a:schemeClr val="tx1"/>
                </a:solidFill>
              </a:rPr>
              <a:t>irrigate only when needed and cut fertiliser and pesticide waste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Crop health: </a:t>
            </a:r>
            <a:r>
              <a:rPr lang="en-US" sz="1400" dirty="0">
                <a:solidFill>
                  <a:schemeClr val="tx1"/>
                </a:solidFill>
              </a:rPr>
              <a:t>move from noticing disease days late to flagging it within hours of a photo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Reliability &amp; effort: </a:t>
            </a:r>
            <a:r>
              <a:rPr lang="en-US" sz="1400" dirty="0">
                <a:solidFill>
                  <a:schemeClr val="tx1"/>
                </a:solidFill>
              </a:rPr>
              <a:t>fewer surprise equipment failures, less manual switching and night-time field trips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Access: </a:t>
            </a:r>
            <a:r>
              <a:rPr lang="en-US" sz="1400" dirty="0">
                <a:solidFill>
                  <a:schemeClr val="tx1"/>
                </a:solidFill>
              </a:rPr>
              <a:t>an affordable, easy-to-use system that small farmers can set up and trust</a:t>
            </a:r>
          </a:p>
          <a:p>
            <a:pPr marL="279400" indent="-279400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successful improvement should you achieve (pilot targets)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Water: </a:t>
            </a:r>
            <a:r>
              <a:rPr lang="en-US" sz="1400" dirty="0">
                <a:solidFill>
                  <a:schemeClr val="tx1"/>
                </a:solidFill>
              </a:rPr>
              <a:t>~30% less irrigation water than a fixed-schedule baseline, with no yield loss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Disease model: </a:t>
            </a:r>
            <a:r>
              <a:rPr lang="en-US" sz="1400" dirty="0">
                <a:solidFill>
                  <a:schemeClr val="tx1"/>
                </a:solidFill>
              </a:rPr>
              <a:t>≥ 85% accuracy on field-condition leaf photos; results in seconds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Faults &amp; supplies: </a:t>
            </a:r>
            <a:r>
              <a:rPr lang="en-US" sz="1400" dirty="0">
                <a:solidFill>
                  <a:schemeClr val="tx1"/>
                </a:solidFill>
              </a:rPr>
              <a:t>sensor or pump faults alerted within 15 minutes; supply forecast within ±15% of actual use</a:t>
            </a:r>
          </a:p>
          <a:p>
            <a:pPr marL="508000" indent="-228600">
              <a:spcAft>
                <a:spcPts val="2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400" b="1" dirty="0">
                <a:solidFill>
                  <a:schemeClr val="accent2"/>
                </a:solidFill>
              </a:rPr>
              <a:t>Usability &amp; cost: </a:t>
            </a:r>
            <a:r>
              <a:rPr lang="en-US" sz="1400" dirty="0">
                <a:solidFill>
                  <a:schemeClr val="tx1"/>
                </a:solidFill>
              </a:rPr>
              <a:t>node cost ≤ ₹4,000, set-up in under 30 minutes, most pilot farmers rate reports 'clear'</a:t>
            </a:r>
          </a:p>
        </p:txBody>
      </p:sp>
    </p:spTree>
    <p:extLst>
      <p:ext uri="{BB962C8B-B14F-4D97-AF65-F5344CB8AC3E}">
        <p14:creationId xmlns:p14="http://schemas.microsoft.com/office/powerpoint/2010/main" val="1373589242"/>
      </p:ext>
    </p:extLst>
  </p:cSld>
  <p:clrMapOvr>
    <a:masterClrMapping/>
  </p:clrMapOvr>
</p:sld>
</file>

<file path=ppt/theme/theme1.xml><?xml version="1.0" encoding="utf-8"?>
<a:theme xmlns:a="http://schemas.openxmlformats.org/drawingml/2006/main" name="Genesis Ideathon [1791568925584]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16AD0A2-CFEF-45C6-8350-24A26769BDC6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264add00-5f80-40f0-b549-14c7b4966e8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97AC1D3-3D69-4014-A941-82812BC46F3C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f1ba1b80-f0b3-4c08-b3fb-af9be476e6c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2163</Words>
  <Application>Microsoft Office PowerPoint</Application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 [1791568925584]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Moulik Gupta</cp:lastModifiedBy>
  <cp:revision>8</cp:revision>
  <dcterms:created xsi:type="dcterms:W3CDTF">2026-10-07T15:27:40Z</dcterms:created>
  <dcterms:modified xsi:type="dcterms:W3CDTF">2026-10-09T18:12:01Z</dcterms:modified>
</cp:coreProperties>
</file>