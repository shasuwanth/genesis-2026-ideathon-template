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DCA2F0B-186B-2EE8-9A34-E1F578F7487D}">
          <p14:sldIdLst>
            <p14:sldId id="256"/>
            <p14:sldId id="257"/>
          </p14:sldIdLst>
        </p14:section>
        <p14:section name="Problem" id="{859D0DE2-5DD7-4932-BE4D-7A6CCAD03718}">
          <p14:sldIdLst>
            <p14:sldId id="258"/>
            <p14:sldId id="259"/>
            <p14:sldId id="260"/>
          </p14:sldIdLst>
        </p14:section>
        <p14:section name="Solution" id="{191C492D-0630-80B8-3DAF-25F157599B2B}">
          <p14:sldIdLst>
            <p14:sldId id="261"/>
            <p14:sldId id="262"/>
            <p14:sldId id="263"/>
          </p14:sldIdLst>
        </p14:section>
        <p14:section name="Delivery" id="{6AFEDE1A-5043-FBF8-358A-78C162354F58}">
          <p14:sldIdLst>
            <p14:sldId id="264"/>
            <p14:sldId id="265"/>
          </p14:sldIdLst>
        </p14:section>
        <p14:section name="Use Cases" id="{1D3BD958-3782-8E0D-170C-724DB3F16E53}">
          <p14:sldIdLst>
            <p14:sldId id="266"/>
            <p14:sldId id="267"/>
            <p14:sldId id="268"/>
            <p14:sldId id="269"/>
          </p14:sldIdLst>
        </p14:section>
        <p14:section name="Impact" id="{80687F50-39D9-4FAF-4164-24BF2E7C745B}">
          <p14:sldIdLst>
            <p14:sldId id="270"/>
            <p14:sldId id="271"/>
          </p14:sldIdLst>
        </p14:section>
        <p14:section name="Team" id="{2DC52A64-27B5-B17A-92A9-0C4B1E38F78A}">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14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6795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Comet 502, Domain 5: Food Security, Agriculture and Rural Transformation. Our project is FloraVision, a buyer–seller marketplace where small farmers sell their harvest before they sow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sections. The heart of the talk is the marketplace: how buyers commit before planting and how money is protected for both sides.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in one breath: farmers plant before they know who will buy or at what price, so agents set the terms at harvest. Buyers have the mirror problem: they cannot commit early safely. 86% of about 146 million holdings are under 2 hectares (Agriculture Census 2015-16).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users are small farmers and FPOs; buyers are institutional kitchens and retailers. Root cause: demand is invisible at planting and there is no safe way to promise a deal. Evidence: more buyer competition raised farm-gate prices by about 6.4% per standard deviation (Chatterjee 2023).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each approach. Agents give credit and cash. eNAM works at harvest. Contract-farming gains are uneven and non-compliance is significant. Price apps alone did not raise average prices. Our gap: a small farmer cannot know before planting that a buyer has committed with the money protected.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FloraVision is a marketplace first. Walk the six steps: post, plan, accept, grow, deliver, settle. The buyer's advance sits in escrow and is released in stages against check-ins. Farm-help tools exist to make that sale safe; Leaf Doctor photo diagnosis arrives in Phase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marketplace that runs today: the server holds the escrow and applies the fair-price formula; the phone never talks to the AI or the payment rail directly. Bottom row is Phase 2: sensors send readings through a shared village gateway to our AI, which plans irrigation and runs Leaf Doctor; the farmer gets alerts and the buyer sees crop status.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differences: demand before planting, escrow released against proof, and a reliability score. The price formula protects the farmer on the downside and shares the upside, which removes the main reason to side-sell.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works today, so the next step is a pilot, not a prototype. We scale in gated phases: marketplace first, then sensors, smart irrigation and Leaf Doctor in Phase 2, then managed net-house farms. Each risk has a specific control.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costs almost nothing to build because it is software on any Android phone. Phase 2 hardware is financed from the sales it helps secure, plus subsidies. The farmer pays nothing; the buyer pays a small fee for certainty. All numbers are planning estimates.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buyer is our own hostel mess. The mess commits before planting, its advance is protected in escrow, and it releases payment only after checking the delivery.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farmer side of the same order. Early advance releases replace the quick cash an agent would give, and the price formula shares any market rise with the farmer.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band is what makes an early promise fair in both directions. The floor protects the farmer, the ceiling protects the buyer, and sharing the rise removes the incentive to side-sell.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are how small farmers reach large buyers. Phase 2 adds shared sensors, smart irrigation and Leaf Doctor so the group can deliver the grade it promised.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for both sides, wider impact on prices, waste and water, and three pilot targets we will be measured on: at least 80% of committed orders delivered and settled, payment within 24 hours, and every settled order at or above the floor price.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SDG 2.3 is about doubling the incomes of small-scale food producers, including through access to markets: that is our core. SDG 12.3 is halving food waste and reducing food loss. SDG 6.4 is water-use efficiency, which our Phase 2 irrigation addresses.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owned one part: ML, backend, app and UX, and field research.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FloraVision: grow right, sell sure.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_TITLE">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118872"/>
          </a:xfrm>
          <a:prstGeom prst="rect">
            <a:avLst/>
          </a:prstGeom>
          <a:solidFill>
            <a:schemeClr val="tx2"/>
          </a:solidFill>
          <a:ln/>
        </p:spPr>
      </p:sp>
      <p:pic>
        <p:nvPicPr>
          <p:cNvPr id="3" name="Image 0" descr="/tmp/claude-0/-home-claude/c7b856b8-7d2b-5901-b766-bbf10c4f5436/scratchpad/scripts/amrita.png"/>
          <p:cNvPicPr>
            <a:picLocks noChangeAspect="1"/>
          </p:cNvPicPr>
          <p:nvPr/>
        </p:nvPicPr>
        <p:blipFill>
          <a:blip r:embed="rId2"/>
          <a:stretch>
            <a:fillRect/>
          </a:stretch>
        </p:blipFill>
        <p:spPr>
          <a:xfrm>
            <a:off x="1719072" y="749808"/>
            <a:ext cx="2194560" cy="907284"/>
          </a:xfrm>
          <a:prstGeom prst="rect">
            <a:avLst/>
          </a:prstGeom>
        </p:spPr>
      </p:pic>
      <p:pic>
        <p:nvPicPr>
          <p:cNvPr id="4" name="Image 1" descr="/tmp/claude-0/-home-claude/c7b856b8-7d2b-5901-b766-bbf10c4f5436/scratchpad/scripts/iic.png"/>
          <p:cNvPicPr>
            <a:picLocks noChangeAspect="1"/>
          </p:cNvPicPr>
          <p:nvPr/>
        </p:nvPicPr>
        <p:blipFill>
          <a:blip r:embed="rId3"/>
          <a:stretch>
            <a:fillRect/>
          </a:stretch>
        </p:blipFill>
        <p:spPr>
          <a:xfrm>
            <a:off x="4434840" y="822960"/>
            <a:ext cx="1783080" cy="763670"/>
          </a:xfrm>
          <a:prstGeom prst="rect">
            <a:avLst/>
          </a:prstGeom>
        </p:spPr>
      </p:pic>
      <p:pic>
        <p:nvPicPr>
          <p:cNvPr id="5" name="Image 2" descr="/tmp/claude-0/-home-claude/c7b856b8-7d2b-5901-b766-bbf10c4f5436/scratchpad/scripts/genesis.png"/>
          <p:cNvPicPr>
            <a:picLocks noChangeAspect="1"/>
          </p:cNvPicPr>
          <p:nvPr/>
        </p:nvPicPr>
        <p:blipFill>
          <a:blip r:embed="rId4"/>
          <a:stretch>
            <a:fillRect/>
          </a:stretch>
        </p:blipFill>
        <p:spPr>
          <a:xfrm>
            <a:off x="6812280" y="786384"/>
            <a:ext cx="548640" cy="723519"/>
          </a:xfrm>
          <a:prstGeom prst="rect">
            <a:avLst/>
          </a:prstGeom>
        </p:spPr>
      </p:pic>
      <p:sp>
        <p:nvSpPr>
          <p:cNvPr id="6" name="Shape 1"/>
          <p:cNvSpPr/>
          <p:nvPr/>
        </p:nvSpPr>
        <p:spPr>
          <a:xfrm>
            <a:off x="630936" y="1920240"/>
            <a:ext cx="7882128" cy="18288"/>
          </a:xfrm>
          <a:prstGeom prst="rect">
            <a:avLst/>
          </a:prstGeom>
          <a:solidFill>
            <a:schemeClr val="bg2"/>
          </a:solidFill>
          <a:ln/>
        </p:spPr>
      </p:sp>
      <p:sp>
        <p:nvSpPr>
          <p:cNvPr id="7" name="Shape 2"/>
          <p:cNvSpPr/>
          <p:nvPr/>
        </p:nvSpPr>
        <p:spPr>
          <a:xfrm>
            <a:off x="630936" y="2395728"/>
            <a:ext cx="1737360" cy="73152"/>
          </a:xfrm>
          <a:prstGeom prst="rect">
            <a:avLst/>
          </a:prstGeom>
          <a:solidFill>
            <a:schemeClr val="accent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_OUTLINE">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625450"/>
          </a:xfrm>
          <a:prstGeom prst="rect">
            <a:avLst/>
          </a:prstGeom>
          <a:solidFill>
            <a:schemeClr val="bg2"/>
          </a:solidFill>
          <a:ln/>
        </p:spPr>
      </p:sp>
      <p:sp>
        <p:nvSpPr>
          <p:cNvPr id="3" name="Shape 1"/>
          <p:cNvSpPr/>
          <p:nvPr/>
        </p:nvSpPr>
        <p:spPr>
          <a:xfrm>
            <a:off x="0" y="625450"/>
            <a:ext cx="9144000" cy="36576"/>
          </a:xfrm>
          <a:prstGeom prst="rect">
            <a:avLst/>
          </a:prstGeom>
          <a:solidFill>
            <a:schemeClr val="accent1"/>
          </a:solidFill>
          <a:ln/>
        </p:spPr>
      </p:sp>
      <p:sp>
        <p:nvSpPr>
          <p:cNvPr id="4" name="Text 2"/>
          <p:cNvSpPr>
            <a:spLocks noGrp="1"/>
          </p:cNvSpPr>
          <p:nvPr>
            <p:ph type="title" idx="102" hasCustomPrompt="1"/>
          </p:nvPr>
        </p:nvSpPr>
        <p:spPr>
          <a:xfrm>
            <a:off x="548640" y="54864"/>
            <a:ext cx="7498080" cy="530352"/>
          </a:xfrm>
          <a:prstGeom prst="rect">
            <a:avLst/>
          </a:prstGeom>
          <a:noFill/>
          <a:ln/>
        </p:spPr>
        <p:txBody>
          <a:bodyPr wrap="square" rtlCol="0"/>
          <a:lstStyle>
            <a:lvl1pPr marL="0" indent="0" algn="l">
              <a:buNone/>
              <a:defRPr lang="en-US" sz="2400" b="1" dirty="0">
                <a:solidFill>
                  <a:schemeClr val="tx2"/>
                </a:solidFill>
              </a:defRPr>
            </a:lvl1pPr>
          </a:lstStyle>
          <a:p>
            <a:pPr marL="0" indent="0" algn="l">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ENESIS_CONTEN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625450"/>
          </a:xfrm>
          <a:prstGeom prst="rect">
            <a:avLst/>
          </a:prstGeom>
          <a:solidFill>
            <a:schemeClr val="bg2"/>
          </a:solidFill>
          <a:ln/>
        </p:spPr>
      </p:sp>
      <p:sp>
        <p:nvSpPr>
          <p:cNvPr id="3" name="Shape 1"/>
          <p:cNvSpPr/>
          <p:nvPr/>
        </p:nvSpPr>
        <p:spPr>
          <a:xfrm>
            <a:off x="0" y="625450"/>
            <a:ext cx="9144000" cy="36576"/>
          </a:xfrm>
          <a:prstGeom prst="rect">
            <a:avLst/>
          </a:prstGeom>
          <a:solidFill>
            <a:schemeClr val="accent1"/>
          </a:solidFill>
          <a:ln/>
        </p:spPr>
      </p:sp>
      <p:pic>
        <p:nvPicPr>
          <p:cNvPr id="4" name="Image 0" descr="/tmp/claude-0/-home-claude/c7b856b8-7d2b-5901-b766-bbf10c4f5436/scratchpad/scripts/genesis.png"/>
          <p:cNvPicPr>
            <a:picLocks noChangeAspect="1"/>
          </p:cNvPicPr>
          <p:nvPr/>
        </p:nvPicPr>
        <p:blipFill>
          <a:blip r:embed="rId2"/>
          <a:stretch>
            <a:fillRect/>
          </a:stretch>
        </p:blipFill>
        <p:spPr>
          <a:xfrm>
            <a:off x="8247888" y="73152"/>
            <a:ext cx="365760" cy="482346"/>
          </a:xfrm>
          <a:prstGeom prst="rect">
            <a:avLst/>
          </a:prstGeom>
        </p:spPr>
      </p:pic>
      <p:sp>
        <p:nvSpPr>
          <p:cNvPr id="5" name="Shape 2"/>
          <p:cNvSpPr/>
          <p:nvPr/>
        </p:nvSpPr>
        <p:spPr>
          <a:xfrm>
            <a:off x="0" y="6611112"/>
            <a:ext cx="9144000" cy="246888"/>
          </a:xfrm>
          <a:prstGeom prst="rect">
            <a:avLst/>
          </a:prstGeom>
          <a:solidFill>
            <a:schemeClr val="bg2"/>
          </a:solidFill>
          <a:ln/>
        </p:spPr>
      </p:sp>
      <p:sp>
        <p:nvSpPr>
          <p:cNvPr id="6" name="Text 3"/>
          <p:cNvSpPr/>
          <p:nvPr/>
        </p:nvSpPr>
        <p:spPr>
          <a:xfrm>
            <a:off x="548640" y="6611112"/>
            <a:ext cx="4572000" cy="246888"/>
          </a:xfrm>
          <a:prstGeom prst="rect">
            <a:avLst/>
          </a:prstGeom>
          <a:noFill/>
          <a:ln/>
        </p:spPr>
        <p:txBody>
          <a:bodyPr wrap="square" lIns="0" tIns="0" rIns="0" bIns="0" rtlCol="0" anchor="ctr"/>
          <a:lstStyle/>
          <a:p>
            <a:pPr marL="0" indent="0">
              <a:buNone/>
            </a:pPr>
            <a:r>
              <a:rPr lang="en-US" sz="900" b="1" dirty="0">
                <a:solidFill>
                  <a:schemeClr val="tx2"/>
                </a:solidFill>
              </a:rPr>
              <a:t>GEN26-A0H-I169 | Comet 502</a:t>
            </a:r>
            <a:endParaRPr lang="en-US" sz="900" dirty="0"/>
          </a:p>
        </p:txBody>
      </p:sp>
      <p:sp>
        <p:nvSpPr>
          <p:cNvPr id="7" name="Text 4"/>
          <p:cNvSpPr/>
          <p:nvPr/>
        </p:nvSpPr>
        <p:spPr>
          <a:xfrm>
            <a:off x="4937760" y="6611112"/>
            <a:ext cx="3657600" cy="246888"/>
          </a:xfrm>
          <a:prstGeom prst="rect">
            <a:avLst/>
          </a:prstGeom>
          <a:noFill/>
          <a:ln/>
        </p:spPr>
        <p:txBody>
          <a:bodyPr wrap="square" lIns="0" tIns="0" rIns="0" bIns="0" rtlCol="0" anchor="ctr"/>
          <a:lstStyle/>
          <a:p>
            <a:pPr marL="0" indent="0" algn="r">
              <a:buNone/>
            </a:pPr>
            <a:r>
              <a:rPr lang="en-US" sz="900" b="1" dirty="0">
                <a:solidFill>
                  <a:schemeClr val="tx2"/>
                </a:solidFill>
              </a:rPr>
              <a:t>11th October 2026</a:t>
            </a:r>
            <a:endParaRPr lang="en-US" sz="900" dirty="0"/>
          </a:p>
        </p:txBody>
      </p:sp>
      <p:sp>
        <p:nvSpPr>
          <p:cNvPr id="8" name="Text 5"/>
          <p:cNvSpPr>
            <a:spLocks noGrp="1"/>
          </p:cNvSpPr>
          <p:nvPr>
            <p:ph type="title" idx="106" hasCustomPrompt="1"/>
          </p:nvPr>
        </p:nvSpPr>
        <p:spPr>
          <a:xfrm>
            <a:off x="548640" y="54864"/>
            <a:ext cx="7498080" cy="530352"/>
          </a:xfrm>
          <a:prstGeom prst="rect">
            <a:avLst/>
          </a:prstGeom>
          <a:noFill/>
          <a:ln/>
        </p:spPr>
        <p:txBody>
          <a:bodyPr wrap="square" rtlCol="0"/>
          <a:lstStyle>
            <a:lvl1pPr marL="0" indent="0" algn="l">
              <a:buNone/>
              <a:defRPr lang="en-US" sz="2400" b="1" dirty="0">
                <a:solidFill>
                  <a:schemeClr val="tx2"/>
                </a:solidFill>
              </a:defRPr>
            </a:lvl1pPr>
          </a:lstStyle>
          <a:p>
            <a:pPr marL="0" indent="0" algn="l">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k title"/>
          <p:cNvSpPr txBox="1"/>
          <p:nvPr/>
        </p:nvSpPr>
        <p:spPr>
          <a:xfrm>
            <a:off x="630936" y="2578608"/>
            <a:ext cx="7863840" cy="457200"/>
          </a:xfrm>
          <a:prstGeom prst="rect">
            <a:avLst/>
          </a:prstGeom>
          <a:noFill/>
          <a:ln/>
        </p:spPr>
        <p:txBody>
          <a:bodyPr wrap="square" lIns="0" tIns="0" rIns="0" bIns="0" rtlCol="0" anchor="ctr"/>
          <a:lstStyle/>
          <a:p>
            <a:pPr marL="0" indent="0">
              <a:buNone/>
            </a:pPr>
            <a:r>
              <a:rPr lang="en-US" sz="2600" b="1" dirty="0">
                <a:solidFill>
                  <a:schemeClr val="tx2"/>
                </a:solidFill>
              </a:rPr>
              <a:t>Genesis Ideathon: Final Presentation</a:t>
            </a:r>
            <a:endParaRPr lang="en-US" sz="2600" dirty="0"/>
          </a:p>
        </p:txBody>
      </p:sp>
      <p:sp>
        <p:nvSpPr>
          <p:cNvPr id="3" name="team box"/>
          <p:cNvSpPr/>
          <p:nvPr/>
        </p:nvSpPr>
        <p:spPr>
          <a:xfrm>
            <a:off x="630936" y="3246120"/>
            <a:ext cx="7882128" cy="1965960"/>
          </a:xfrm>
          <a:prstGeom prst="roundRect">
            <a:avLst>
              <a:gd name="adj" fmla="val 4651"/>
            </a:avLst>
          </a:prstGeom>
          <a:solidFill>
            <a:schemeClr val="bg2"/>
          </a:solidFill>
          <a:ln w="12700">
            <a:solidFill>
              <a:schemeClr val="bg2"/>
            </a:solidFill>
            <a:prstDash val="solid"/>
          </a:ln>
        </p:spPr>
      </p:sp>
      <p:sp>
        <p:nvSpPr>
          <p:cNvPr id="4" name="team box edge"/>
          <p:cNvSpPr/>
          <p:nvPr/>
        </p:nvSpPr>
        <p:spPr>
          <a:xfrm>
            <a:off x="630936" y="3246120"/>
            <a:ext cx="82296" cy="1965960"/>
          </a:xfrm>
          <a:prstGeom prst="rect">
            <a:avLst/>
          </a:prstGeom>
          <a:solidFill>
            <a:schemeClr val="accent1"/>
          </a:solidFill>
          <a:ln w="12700">
            <a:solidFill>
              <a:schemeClr val="accent1"/>
            </a:solidFill>
            <a:prstDash val="solid"/>
          </a:ln>
        </p:spPr>
      </p:sp>
      <p:sp>
        <p:nvSpPr>
          <p:cNvPr id="5" name="team details"/>
          <p:cNvSpPr txBox="1"/>
          <p:nvPr/>
        </p:nvSpPr>
        <p:spPr>
          <a:xfrm>
            <a:off x="960120" y="3337560"/>
            <a:ext cx="7406640" cy="1783080"/>
          </a:xfrm>
          <a:prstGeom prst="rect">
            <a:avLst/>
          </a:prstGeom>
          <a:noFill/>
          <a:ln/>
        </p:spPr>
        <p:txBody>
          <a:bodyPr wrap="square" lIns="0" tIns="0" rIns="0" bIns="0" rtlCol="0" anchor="ctr"/>
          <a:lstStyle/>
          <a:p>
            <a:pPr marL="0" indent="0">
              <a:spcAft>
                <a:spcPts val="800"/>
              </a:spcAft>
              <a:buNone/>
            </a:pPr>
            <a:r>
              <a:rPr lang="en-US" sz="1800" dirty="0">
                <a:solidFill>
                  <a:schemeClr val="tx1"/>
                </a:solidFill>
              </a:rPr>
              <a:t>Team ID: </a:t>
            </a:r>
            <a:r>
              <a:rPr lang="en-US" sz="1800" i="1" dirty="0">
                <a:solidFill>
                  <a:schemeClr val="tx1"/>
                </a:solidFill>
              </a:rPr>
              <a:t>GEN26-A0H-I169</a:t>
            </a:r>
            <a:endParaRPr lang="en-US" sz="1800" dirty="0"/>
          </a:p>
          <a:p>
            <a:pPr marL="0" indent="0">
              <a:spcAft>
                <a:spcPts val="800"/>
              </a:spcAft>
              <a:buNone/>
            </a:pPr>
            <a:r>
              <a:rPr lang="en-US" sz="1800" dirty="0">
                <a:solidFill>
                  <a:schemeClr val="tx1"/>
                </a:solidFill>
              </a:rPr>
              <a:t>Team Name: </a:t>
            </a:r>
            <a:r>
              <a:rPr lang="en-US" sz="1800" i="1" dirty="0">
                <a:solidFill>
                  <a:schemeClr val="tx1"/>
                </a:solidFill>
              </a:rPr>
              <a:t>Comet 502</a:t>
            </a:r>
            <a:endParaRPr lang="en-US" sz="1800" dirty="0"/>
          </a:p>
          <a:p>
            <a:pPr marL="0" indent="0">
              <a:spcAft>
                <a:spcPts val="800"/>
              </a:spcAft>
              <a:buNone/>
            </a:pPr>
            <a:r>
              <a:rPr lang="en-US" sz="1800" dirty="0">
                <a:solidFill>
                  <a:schemeClr val="tx1"/>
                </a:solidFill>
              </a:rPr>
              <a:t>Domain: </a:t>
            </a:r>
            <a:r>
              <a:rPr lang="en-US" sz="1800" i="1" dirty="0">
                <a:solidFill>
                  <a:schemeClr val="tx1"/>
                </a:solidFill>
              </a:rPr>
              <a:t>Food Security, Agriculture &amp; Rural Transformation</a:t>
            </a:r>
            <a:endParaRPr lang="en-US" sz="1800" dirty="0"/>
          </a:p>
          <a:p>
            <a:pPr marL="0" indent="0">
              <a:spcAft>
                <a:spcPts val="800"/>
              </a:spcAft>
              <a:buNone/>
            </a:pPr>
            <a:r>
              <a:rPr lang="en-US" sz="1800" dirty="0">
                <a:solidFill>
                  <a:schemeClr val="tx1"/>
                </a:solidFill>
              </a:rPr>
              <a:t>Project: </a:t>
            </a:r>
            <a:r>
              <a:rPr lang="en-US" sz="1800" i="1" dirty="0">
                <a:solidFill>
                  <a:schemeClr val="tx1"/>
                </a:solidFill>
              </a:rPr>
              <a:t>FloraVision — Grow right. Sell sure.</a:t>
            </a:r>
            <a:endParaRPr lang="en-US" sz="1800" dirty="0"/>
          </a:p>
        </p:txBody>
      </p:sp>
      <p:sp>
        <p:nvSpPr>
          <p:cNvPr id="6" name="campus"/>
          <p:cNvSpPr txBox="1"/>
          <p:nvPr/>
        </p:nvSpPr>
        <p:spPr>
          <a:xfrm>
            <a:off x="630936" y="5532120"/>
            <a:ext cx="4937760" cy="365760"/>
          </a:xfrm>
          <a:prstGeom prst="rect">
            <a:avLst/>
          </a:prstGeom>
          <a:noFill/>
          <a:ln/>
        </p:spPr>
        <p:txBody>
          <a:bodyPr wrap="square" lIns="0" tIns="0" rIns="0" bIns="0" rtlCol="0" anchor="ctr"/>
          <a:lstStyle/>
          <a:p>
            <a:pPr marL="0" indent="0">
              <a:buNone/>
            </a:pPr>
            <a:r>
              <a:rPr lang="en-US" sz="1500" dirty="0">
                <a:solidFill>
                  <a:schemeClr val="accent1"/>
                </a:solidFill>
              </a:rPr>
              <a:t>Amrita Vishwa Vidyapeetham, Coimbatore Campus</a:t>
            </a:r>
            <a:endParaRPr lang="en-US" sz="1500" dirty="0"/>
          </a:p>
        </p:txBody>
      </p:sp>
      <p:sp>
        <p:nvSpPr>
          <p:cNvPr id="7" name="date"/>
          <p:cNvSpPr txBox="1"/>
          <p:nvPr/>
        </p:nvSpPr>
        <p:spPr>
          <a:xfrm>
            <a:off x="5577840" y="5532120"/>
            <a:ext cx="2935224" cy="365760"/>
          </a:xfrm>
          <a:prstGeom prst="rect">
            <a:avLst/>
          </a:prstGeom>
          <a:noFill/>
          <a:ln/>
        </p:spPr>
        <p:txBody>
          <a:bodyPr wrap="square" lIns="0" tIns="0" rIns="0" bIns="0" rtlCol="0" anchor="ctr"/>
          <a:lstStyle/>
          <a:p>
            <a:pPr marL="0" indent="0" algn="r">
              <a:buNone/>
            </a:pPr>
            <a:r>
              <a:rPr lang="en-US" sz="1500" b="1" dirty="0">
                <a:solidFill>
                  <a:schemeClr val="tx1"/>
                </a:solidFill>
              </a:rPr>
              <a:t>Date: </a:t>
            </a:r>
            <a:r>
              <a:rPr lang="en-US" sz="1500" dirty="0">
                <a:solidFill>
                  <a:schemeClr val="tx1"/>
                </a:solidFill>
              </a:rPr>
              <a:t>11th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Presentation Outline</a:t>
            </a:r>
            <a:endParaRPr lang="en-US" sz="2400" dirty="0"/>
          </a:p>
        </p:txBody>
      </p:sp>
      <p:sp>
        <p:nvSpPr>
          <p:cNvPr id="3" name="outline left"/>
          <p:cNvSpPr txBox="1"/>
          <p:nvPr/>
        </p:nvSpPr>
        <p:spPr>
          <a:xfrm>
            <a:off x="630936" y="2331720"/>
            <a:ext cx="3931920" cy="2377440"/>
          </a:xfrm>
          <a:prstGeom prst="rect">
            <a:avLst/>
          </a:prstGeom>
          <a:noFill/>
          <a:ln/>
        </p:spPr>
        <p:txBody>
          <a:bodyPr wrap="square" lIns="0" tIns="0" rIns="0" bIns="0" rtlCol="0" anchor="t"/>
          <a:lstStyle/>
          <a:p>
            <a:pPr marL="0" indent="0">
              <a:spcAft>
                <a:spcPts val="600"/>
              </a:spcAft>
              <a:buNone/>
            </a:pPr>
            <a:r>
              <a:rPr lang="en-US" sz="1800" dirty="0">
                <a:solidFill>
                  <a:schemeClr val="tx2"/>
                </a:solidFill>
              </a:rPr>
              <a:t>1.  Problem Statement</a:t>
            </a:r>
            <a:endParaRPr lang="en-US" sz="1800" dirty="0"/>
          </a:p>
          <a:p>
            <a:pPr marL="0" indent="0">
              <a:spcAft>
                <a:spcPts val="600"/>
              </a:spcAft>
              <a:buNone/>
            </a:pPr>
            <a:r>
              <a:rPr lang="en-US" sz="1800" dirty="0">
                <a:solidFill>
                  <a:schemeClr val="tx2"/>
                </a:solidFill>
              </a:rPr>
              <a:t>2.  Problem Understanding</a:t>
            </a:r>
            <a:endParaRPr lang="en-US" sz="1800" dirty="0"/>
          </a:p>
          <a:p>
            <a:pPr marL="0" indent="0">
              <a:spcAft>
                <a:spcPts val="600"/>
              </a:spcAft>
              <a:buNone/>
            </a:pPr>
            <a:r>
              <a:rPr lang="en-US" sz="1800" dirty="0">
                <a:solidFill>
                  <a:schemeClr val="tx2"/>
                </a:solidFill>
              </a:rPr>
              <a:t>3.  Existing Gaps &amp; Challenges</a:t>
            </a:r>
            <a:endParaRPr lang="en-US" sz="1800" dirty="0"/>
          </a:p>
          <a:p>
            <a:pPr marL="0" indent="0">
              <a:spcAft>
                <a:spcPts val="600"/>
              </a:spcAft>
              <a:buNone/>
            </a:pPr>
            <a:r>
              <a:rPr lang="en-US" sz="1800" dirty="0">
                <a:solidFill>
                  <a:schemeClr val="tx2"/>
                </a:solidFill>
              </a:rPr>
              <a:t>4.  Our Proposed Solution</a:t>
            </a:r>
            <a:endParaRPr lang="en-US" sz="1800" dirty="0"/>
          </a:p>
          <a:p>
            <a:pPr marL="0" indent="0">
              <a:spcAft>
                <a:spcPts val="600"/>
              </a:spcAft>
              <a:buNone/>
            </a:pPr>
            <a:r>
              <a:rPr lang="en-US" sz="1800" dirty="0">
                <a:solidFill>
                  <a:schemeClr val="tx2"/>
                </a:solidFill>
              </a:rPr>
              <a:t>5.  Technical Approach</a:t>
            </a:r>
            <a:endParaRPr lang="en-US" sz="1800" dirty="0"/>
          </a:p>
          <a:p>
            <a:pPr marL="0" indent="0">
              <a:spcAft>
                <a:spcPts val="600"/>
              </a:spcAft>
              <a:buNone/>
            </a:pPr>
            <a:r>
              <a:rPr lang="en-US" sz="1800" dirty="0">
                <a:solidFill>
                  <a:schemeClr val="tx2"/>
                </a:solidFill>
              </a:rPr>
              <a:t>6.  Innovation &amp; Uniqueness</a:t>
            </a:r>
            <a:endParaRPr lang="en-US" sz="1800" dirty="0"/>
          </a:p>
        </p:txBody>
      </p:sp>
      <p:sp>
        <p:nvSpPr>
          <p:cNvPr id="4" name="outline right"/>
          <p:cNvSpPr txBox="1"/>
          <p:nvPr/>
        </p:nvSpPr>
        <p:spPr>
          <a:xfrm>
            <a:off x="4709160" y="2331720"/>
            <a:ext cx="3931920" cy="2377440"/>
          </a:xfrm>
          <a:prstGeom prst="rect">
            <a:avLst/>
          </a:prstGeom>
          <a:noFill/>
          <a:ln/>
        </p:spPr>
        <p:txBody>
          <a:bodyPr wrap="square" lIns="0" tIns="0" rIns="0" bIns="0" rtlCol="0" anchor="t"/>
          <a:lstStyle/>
          <a:p>
            <a:pPr marL="0" indent="0">
              <a:spcAft>
                <a:spcPts val="600"/>
              </a:spcAft>
              <a:buNone/>
            </a:pPr>
            <a:r>
              <a:rPr lang="en-US" sz="1800" dirty="0">
                <a:solidFill>
                  <a:schemeClr val="tx2"/>
                </a:solidFill>
              </a:rPr>
              <a:t>7.  Feasibility &amp; Scalability</a:t>
            </a:r>
            <a:endParaRPr lang="en-US" sz="1800" dirty="0"/>
          </a:p>
          <a:p>
            <a:pPr marL="0" indent="0">
              <a:spcAft>
                <a:spcPts val="600"/>
              </a:spcAft>
              <a:buNone/>
            </a:pPr>
            <a:r>
              <a:rPr lang="en-US" sz="1800" dirty="0">
                <a:solidFill>
                  <a:schemeClr val="tx2"/>
                </a:solidFill>
              </a:rPr>
              <a:t>8.  Cost for Product</a:t>
            </a:r>
            <a:endParaRPr lang="en-US" sz="1800" dirty="0"/>
          </a:p>
          <a:p>
            <a:pPr marL="0" indent="0">
              <a:spcAft>
                <a:spcPts val="600"/>
              </a:spcAft>
              <a:buNone/>
            </a:pPr>
            <a:r>
              <a:rPr lang="en-US" sz="1800" dirty="0">
                <a:solidFill>
                  <a:schemeClr val="tx2"/>
                </a:solidFill>
              </a:rPr>
              <a:t>9.  Use Cases</a:t>
            </a:r>
            <a:endParaRPr lang="en-US" sz="1800" dirty="0"/>
          </a:p>
          <a:p>
            <a:pPr marL="0" indent="0">
              <a:spcAft>
                <a:spcPts val="600"/>
              </a:spcAft>
              <a:buNone/>
            </a:pPr>
            <a:r>
              <a:rPr lang="en-US" sz="1800" dirty="0">
                <a:solidFill>
                  <a:schemeClr val="tx2"/>
                </a:solidFill>
              </a:rPr>
              <a:t>10.  Impacts and Benefits</a:t>
            </a:r>
            <a:endParaRPr lang="en-US" sz="1800" dirty="0"/>
          </a:p>
          <a:p>
            <a:pPr marL="0" indent="0">
              <a:spcAft>
                <a:spcPts val="600"/>
              </a:spcAft>
              <a:buNone/>
            </a:pPr>
            <a:r>
              <a:rPr lang="en-US" sz="1800" dirty="0">
                <a:solidFill>
                  <a:schemeClr val="tx2"/>
                </a:solidFill>
              </a:rPr>
              <a:t>11.  Sustainable Development Goals</a:t>
            </a:r>
            <a:endParaRPr lang="en-US" sz="1800" dirty="0"/>
          </a:p>
          <a:p>
            <a:pPr marL="0" indent="0">
              <a:spcAft>
                <a:spcPts val="600"/>
              </a:spcAft>
              <a:buNone/>
            </a:pPr>
            <a:r>
              <a:rPr lang="en-US" sz="1800" dirty="0">
                <a:solidFill>
                  <a:schemeClr val="tx2"/>
                </a:solidFill>
              </a:rPr>
              <a:t>12.  Individual Member Contribution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Problem Statement</a:t>
            </a:r>
            <a:endParaRPr lang="en-US" sz="2400" dirty="0"/>
          </a:p>
        </p:txBody>
      </p:sp>
      <p:sp>
        <p:nvSpPr>
          <p:cNvPr id="3" name="problem box"/>
          <p:cNvSpPr/>
          <p:nvPr/>
        </p:nvSpPr>
        <p:spPr>
          <a:xfrm>
            <a:off x="548640" y="1600200"/>
            <a:ext cx="8046720" cy="2514600"/>
          </a:xfrm>
          <a:prstGeom prst="roundRect">
            <a:avLst>
              <a:gd name="adj" fmla="val 2909"/>
            </a:avLst>
          </a:prstGeom>
          <a:solidFill>
            <a:schemeClr val="bg2"/>
          </a:solidFill>
          <a:ln w="12700">
            <a:solidFill>
              <a:schemeClr val="bg2"/>
            </a:solidFill>
            <a:prstDash val="solid"/>
          </a:ln>
        </p:spPr>
      </p:sp>
      <p:sp>
        <p:nvSpPr>
          <p:cNvPr id="4" name="problem text"/>
          <p:cNvSpPr txBox="1"/>
          <p:nvPr/>
        </p:nvSpPr>
        <p:spPr>
          <a:xfrm>
            <a:off x="822960" y="1600200"/>
            <a:ext cx="7498080" cy="2514600"/>
          </a:xfrm>
          <a:prstGeom prst="rect">
            <a:avLst/>
          </a:prstGeom>
          <a:noFill/>
          <a:ln/>
        </p:spPr>
        <p:txBody>
          <a:bodyPr wrap="square" lIns="0" tIns="0" rIns="0" bIns="0" rtlCol="0" anchor="ctr"/>
          <a:lstStyle/>
          <a:p>
            <a:pPr marL="0" indent="0">
              <a:buNone/>
            </a:pPr>
            <a:r>
              <a:rPr lang="en-US" sz="1800" b="1" dirty="0">
                <a:solidFill>
                  <a:schemeClr val="tx2"/>
                </a:solidFill>
              </a:rPr>
              <a:t>Small farmers plant blind. </a:t>
            </a:r>
            <a:r>
              <a:rPr lang="en-US" sz="1800" dirty="0">
                <a:solidFill>
                  <a:schemeClr val="tx1"/>
                </a:solidFill>
              </a:rPr>
              <a:t>They sow with no confirmed buyer or price, so an agent sets the terms at harvest, when the farmer has the least power. Buyers face the mirror problem: hostel messes, restaurants and retailers cannot commit early without risking their money, so supply stays unreliable.</a:t>
            </a:r>
            <a:endParaRPr lang="en-US" sz="1800" dirty="0"/>
          </a:p>
        </p:txBody>
      </p:sp>
      <p:sp>
        <p:nvSpPr>
          <p:cNvPr id="5" name="holding stat"/>
          <p:cNvSpPr txBox="1"/>
          <p:nvPr/>
        </p:nvSpPr>
        <p:spPr>
          <a:xfrm>
            <a:off x="548640" y="4434840"/>
            <a:ext cx="8046720" cy="1737360"/>
          </a:xfrm>
          <a:prstGeom prst="rect">
            <a:avLst/>
          </a:prstGeom>
          <a:noFill/>
          <a:ln/>
        </p:spPr>
        <p:txBody>
          <a:bodyPr wrap="square" lIns="0" tIns="0" rIns="0" bIns="0" rtlCol="0" anchor="t"/>
          <a:lstStyle/>
          <a:p>
            <a:pPr marL="0" indent="0">
              <a:buNone/>
            </a:pPr>
            <a:r>
              <a:rPr lang="en-US" sz="4000" b="1" dirty="0">
                <a:solidFill>
                  <a:schemeClr val="accent1"/>
                </a:solidFill>
              </a:rPr>
              <a:t>86%</a:t>
            </a:r>
            <a:endParaRPr lang="en-US" sz="4000" dirty="0"/>
          </a:p>
          <a:p>
            <a:pPr marL="0" indent="0">
              <a:buNone/>
            </a:pPr>
            <a:r>
              <a:rPr lang="en-US" sz="1500" dirty="0">
                <a:solidFill>
                  <a:schemeClr val="tx1"/>
                </a:solidFill>
              </a:rPr>
              <a:t>of India's ~146 million farm holdings are under 2 hectares: many small lots, and no single seller with bargaining power.</a:t>
            </a:r>
            <a:endParaRPr lang="en-US" sz="4000" dirty="0"/>
          </a:p>
          <a:p>
            <a:pPr marL="0" indent="0">
              <a:buNone/>
            </a:pPr>
            <a:r>
              <a:rPr lang="en-US" sz="1100" i="1" dirty="0">
                <a:solidFill>
                  <a:schemeClr val="accent5"/>
                </a:solidFill>
              </a:rPr>
              <a:t>Agriculture Census 2015–16</a:t>
            </a:r>
            <a:endParaRPr lang="en-US"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Problem Understanding</a:t>
            </a:r>
            <a:endParaRPr lang="en-US" sz="2400" dirty="0"/>
          </a:p>
        </p:txBody>
      </p:sp>
      <p:sp>
        <p:nvSpPr>
          <p:cNvPr id="3" name="bullets 1"/>
          <p:cNvSpPr txBox="1"/>
          <p:nvPr/>
        </p:nvSpPr>
        <p:spPr>
          <a:xfrm>
            <a:off x="548640" y="1234440"/>
            <a:ext cx="8046720" cy="5029200"/>
          </a:xfrm>
          <a:prstGeom prst="rect">
            <a:avLst/>
          </a:prstGeom>
          <a:noFill/>
          <a:ln/>
        </p:spPr>
        <p:txBody>
          <a:bodyPr wrap="square" lIns="0" tIns="0" rIns="0" bIns="0" rtlCol="0" anchor="ctr"/>
          <a:lstStyle/>
          <a:p>
            <a:pPr marL="279400" indent="-279400">
              <a:spcAft>
                <a:spcPts val="1800"/>
              </a:spcAft>
              <a:buClr>
                <a:schemeClr val="accent1"/>
              </a:buClr>
              <a:buSzPct val="70000"/>
              <a:buChar char="■"/>
            </a:pPr>
            <a:r>
              <a:rPr lang="en-US" sz="1700" b="1" dirty="0">
                <a:solidFill>
                  <a:schemeClr val="tx2"/>
                </a:solidFill>
              </a:rPr>
              <a:t>Who experiences it: </a:t>
            </a:r>
            <a:r>
              <a:rPr lang="en-US" sz="1700" dirty="0">
                <a:solidFill>
                  <a:schemeClr val="tx1"/>
                </a:solidFill>
              </a:rPr>
              <a:t>Small and marginal farmers growing vegetables and other perishables, and the farmer groups (FPOs) that sell together. On the other side: hostel messes, restaurants, retailers and processors.</a:t>
            </a:r>
            <a:endParaRPr lang="en-US" sz="1700" dirty="0"/>
          </a:p>
          <a:p>
            <a:pPr marL="279400" indent="-279400">
              <a:spcAft>
                <a:spcPts val="1800"/>
              </a:spcAft>
              <a:buClr>
                <a:schemeClr val="accent1"/>
              </a:buClr>
              <a:buSzPct val="70000"/>
              <a:buChar char="■"/>
            </a:pPr>
            <a:r>
              <a:rPr lang="en-US" sz="1700" b="1" dirty="0">
                <a:solidFill>
                  <a:schemeClr val="tx2"/>
                </a:solidFill>
              </a:rPr>
              <a:t>What causes it: </a:t>
            </a:r>
            <a:r>
              <a:rPr lang="en-US" sz="1700" dirty="0">
                <a:solidFill>
                  <a:schemeClr val="tx1"/>
                </a:solidFill>
              </a:rPr>
              <a:t>Demand is invisible when farmers plant. Agents supply credit, cash and pick-up that nobody else does, and there is no trusted way to guarantee a deal between strangers.</a:t>
            </a:r>
            <a:endParaRPr lang="en-US" sz="1700" dirty="0"/>
          </a:p>
          <a:p>
            <a:pPr marL="279400" indent="-279400">
              <a:spcAft>
                <a:spcPts val="1800"/>
              </a:spcAft>
              <a:buClr>
                <a:schemeClr val="accent1"/>
              </a:buClr>
              <a:buSzPct val="70000"/>
              <a:buChar char="■"/>
            </a:pPr>
            <a:r>
              <a:rPr lang="en-US" sz="1700" b="1" dirty="0">
                <a:solidFill>
                  <a:schemeClr val="tx2"/>
                </a:solidFill>
              </a:rPr>
              <a:t>How it affects them: </a:t>
            </a:r>
            <a:r>
              <a:rPr lang="en-US" sz="1700" dirty="0">
                <a:solidFill>
                  <a:schemeClr val="tx1"/>
                </a:solidFill>
              </a:rPr>
              <a:t>Low farm-gate prices, gluts and wasted produce for farmers; unreliable supply and grade for buyers. More competing buyers lift farm-gate prices by about 6.4% (Chatterjee, QJE 2023).</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Existing Gaps &amp; Challenges</a:t>
            </a:r>
            <a:endParaRPr lang="en-US" sz="2400" dirty="0"/>
          </a:p>
        </p:txBody>
      </p:sp>
      <p:sp>
        <p:nvSpPr>
          <p:cNvPr id="3" name="bullets 2"/>
          <p:cNvSpPr txBox="1"/>
          <p:nvPr/>
        </p:nvSpPr>
        <p:spPr>
          <a:xfrm>
            <a:off x="548640" y="1097280"/>
            <a:ext cx="8046720" cy="4114800"/>
          </a:xfrm>
          <a:prstGeom prst="rect">
            <a:avLst/>
          </a:prstGeom>
          <a:noFill/>
          <a:ln/>
        </p:spPr>
        <p:txBody>
          <a:bodyPr wrap="square" lIns="0" tIns="0" rIns="0" bIns="0" rtlCol="0" anchor="ctr"/>
          <a:lstStyle/>
          <a:p>
            <a:pPr marL="279400" indent="-279400">
              <a:spcAft>
                <a:spcPts val="1800"/>
              </a:spcAft>
              <a:buClr>
                <a:schemeClr val="accent1"/>
              </a:buClr>
              <a:buSzPct val="70000"/>
              <a:buChar char="■"/>
            </a:pPr>
            <a:r>
              <a:rPr lang="en-US" sz="1700" b="1" dirty="0">
                <a:solidFill>
                  <a:schemeClr val="tx2"/>
                </a:solidFill>
              </a:rPr>
              <a:t>Agents and mandi auctions: </a:t>
            </a:r>
            <a:r>
              <a:rPr lang="en-US" sz="1700" dirty="0">
                <a:solidFill>
                  <a:schemeClr val="tx1"/>
                </a:solidFill>
              </a:rPr>
              <a:t>the price is set at harvest, and middlemen keep most of the margin (Mitra et al., 2018).</a:t>
            </a:r>
            <a:endParaRPr lang="en-US" sz="1700" dirty="0"/>
          </a:p>
          <a:p>
            <a:pPr marL="279400" indent="-279400">
              <a:spcAft>
                <a:spcPts val="1800"/>
              </a:spcAft>
              <a:buClr>
                <a:schemeClr val="accent1"/>
              </a:buClr>
              <a:buSzPct val="70000"/>
              <a:buChar char="■"/>
            </a:pPr>
            <a:r>
              <a:rPr lang="en-US" sz="1700" b="1" dirty="0">
                <a:solidFill>
                  <a:schemeClr val="tx2"/>
                </a:solidFill>
              </a:rPr>
              <a:t>eNAM and price apps: </a:t>
            </a:r>
            <a:r>
              <a:rPr lang="en-US" sz="1700" dirty="0">
                <a:solidFill>
                  <a:schemeClr val="tx1"/>
                </a:solidFill>
              </a:rPr>
              <a:t>eNAM bidding starts only after produce reaches the mandi; telling farmers wholesale prices alone did not raise average farm-gate prices (Chaudhary &amp; Suri, 2022; Mitra et al., 2018).</a:t>
            </a:r>
            <a:endParaRPr lang="en-US" sz="1700" dirty="0"/>
          </a:p>
          <a:p>
            <a:pPr marL="279400" indent="-279400">
              <a:spcAft>
                <a:spcPts val="1800"/>
              </a:spcAft>
              <a:buClr>
                <a:schemeClr val="accent1"/>
              </a:buClr>
              <a:buSzPct val="70000"/>
              <a:buChar char="■"/>
            </a:pPr>
            <a:r>
              <a:rPr lang="en-US" sz="1700" b="1" dirty="0">
                <a:solidFill>
                  <a:schemeClr val="tx2"/>
                </a:solidFill>
              </a:rPr>
              <a:t>Main unsolved challenge: </a:t>
            </a:r>
            <a:r>
              <a:rPr lang="en-US" sz="1700" dirty="0">
                <a:solidFill>
                  <a:schemeClr val="tx1"/>
                </a:solidFill>
              </a:rPr>
              <a:t>contract farming exists, but non-compliance and side-selling are significant (Barrett et al., 2012). No affordable way exists for a small farmer to know, before planting, that a buyer has committed and the money is protected.</a:t>
            </a:r>
            <a:endParaRPr lang="en-US" sz="1700" dirty="0"/>
          </a:p>
        </p:txBody>
      </p:sp>
      <p:sp>
        <p:nvSpPr>
          <p:cNvPr id="4" name="gap callout"/>
          <p:cNvSpPr/>
          <p:nvPr/>
        </p:nvSpPr>
        <p:spPr>
          <a:xfrm>
            <a:off x="548640" y="5440680"/>
            <a:ext cx="8046720" cy="868680"/>
          </a:xfrm>
          <a:prstGeom prst="roundRect">
            <a:avLst>
              <a:gd name="adj" fmla="val 8421"/>
            </a:avLst>
          </a:prstGeom>
          <a:solidFill>
            <a:schemeClr val="bg2"/>
          </a:solidFill>
          <a:ln w="12700">
            <a:solidFill>
              <a:schemeClr val="bg2"/>
            </a:solidFill>
            <a:prstDash val="solid"/>
          </a:ln>
        </p:spPr>
      </p:sp>
      <p:sp>
        <p:nvSpPr>
          <p:cNvPr id="5" name="gap callout text"/>
          <p:cNvSpPr txBox="1"/>
          <p:nvPr/>
        </p:nvSpPr>
        <p:spPr>
          <a:xfrm>
            <a:off x="777240" y="5440680"/>
            <a:ext cx="7589520" cy="868680"/>
          </a:xfrm>
          <a:prstGeom prst="rect">
            <a:avLst/>
          </a:prstGeom>
          <a:noFill/>
          <a:ln/>
        </p:spPr>
        <p:txBody>
          <a:bodyPr wrap="square" lIns="0" tIns="0" rIns="0" bIns="0" rtlCol="0" anchor="ctr"/>
          <a:lstStyle/>
          <a:p>
            <a:pPr marL="0" indent="0">
              <a:buNone/>
            </a:pPr>
            <a:r>
              <a:rPr lang="en-US" sz="1500" b="1" i="1" dirty="0">
                <a:solidFill>
                  <a:schemeClr val="tx2"/>
                </a:solidFill>
              </a:rPr>
              <a:t>The hard part isn't matching buyers and sellers. It's making a promise before planting safe for both sides.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Our Proposed Solution</a:t>
            </a:r>
            <a:endParaRPr lang="en-US" sz="2400" dirty="0"/>
          </a:p>
        </p:txBody>
      </p:sp>
      <p:sp>
        <p:nvSpPr>
          <p:cNvPr id="3" name="bullets 3"/>
          <p:cNvSpPr txBox="1"/>
          <p:nvPr/>
        </p:nvSpPr>
        <p:spPr>
          <a:xfrm>
            <a:off x="548640" y="1005840"/>
            <a:ext cx="8046720" cy="1417320"/>
          </a:xfrm>
          <a:prstGeom prst="rect">
            <a:avLst/>
          </a:prstGeom>
          <a:noFill/>
          <a:ln/>
        </p:spPr>
        <p:txBody>
          <a:bodyPr wrap="square" lIns="0" tIns="0" rIns="0" bIns="0" rtlCol="0" anchor="t"/>
          <a:lstStyle/>
          <a:p>
            <a:pPr marL="279400" indent="-279400">
              <a:spcAft>
                <a:spcPts val="1000"/>
              </a:spcAft>
              <a:buClr>
                <a:schemeClr val="accent1"/>
              </a:buClr>
              <a:buSzPct val="70000"/>
              <a:buChar char="■"/>
            </a:pPr>
            <a:r>
              <a:rPr lang="en-US" sz="1700" b="1" dirty="0">
                <a:solidFill>
                  <a:schemeClr val="tx2"/>
                </a:solidFill>
              </a:rPr>
              <a:t>Core idea: </a:t>
            </a:r>
            <a:r>
              <a:rPr lang="en-US" sz="1700" dirty="0">
                <a:solidFill>
                  <a:schemeClr val="tx1"/>
                </a:solidFill>
              </a:rPr>
              <a:t>FloraVision, a buyer–seller marketplace app where the harvest is pre-sold before the farmer sows.</a:t>
            </a:r>
            <a:endParaRPr lang="en-US" sz="1700" dirty="0"/>
          </a:p>
          <a:p>
            <a:pPr marL="279400" indent="-279400">
              <a:spcAft>
                <a:spcPts val="1000"/>
              </a:spcAft>
              <a:buClr>
                <a:schemeClr val="accent1"/>
              </a:buClr>
              <a:buSzPct val="70000"/>
              <a:buChar char="■"/>
            </a:pPr>
            <a:r>
              <a:rPr lang="en-US" sz="1700" b="1" dirty="0">
                <a:solidFill>
                  <a:schemeClr val="tx2"/>
                </a:solidFill>
              </a:rPr>
              <a:t>How it works: </a:t>
            </a:r>
            <a:r>
              <a:rPr lang="en-US" sz="1700" dirty="0">
                <a:solidFill>
                  <a:schemeClr val="tx1"/>
                </a:solidFill>
              </a:rPr>
              <a:t>six steps, with money held in escrow until delivery:</a:t>
            </a:r>
            <a:endParaRPr lang="en-US" sz="1700" dirty="0"/>
          </a:p>
        </p:txBody>
      </p:sp>
      <p:sp>
        <p:nvSpPr>
          <p:cNvPr id="4" name="step Post"/>
          <p:cNvSpPr/>
          <p:nvPr/>
        </p:nvSpPr>
        <p:spPr>
          <a:xfrm>
            <a:off x="548640" y="2514600"/>
            <a:ext cx="1188720" cy="1051560"/>
          </a:xfrm>
          <a:prstGeom prst="roundRect">
            <a:avLst>
              <a:gd name="adj" fmla="val 6957"/>
            </a:avLst>
          </a:prstGeom>
          <a:solidFill>
            <a:schemeClr val="accent1"/>
          </a:solidFill>
          <a:ln w="12700">
            <a:solidFill>
              <a:schemeClr val="accent1"/>
            </a:solidFill>
            <a:prstDash val="solid"/>
          </a:ln>
        </p:spPr>
      </p:sp>
      <p:sp>
        <p:nvSpPr>
          <p:cNvPr id="5" name="step text 4"/>
          <p:cNvSpPr txBox="1"/>
          <p:nvPr/>
        </p:nvSpPr>
        <p:spPr>
          <a:xfrm>
            <a:off x="548640" y="2514600"/>
            <a:ext cx="1188720" cy="1051560"/>
          </a:xfrm>
          <a:prstGeom prst="rect">
            <a:avLst/>
          </a:prstGeom>
          <a:noFill/>
          <a:ln/>
        </p:spPr>
        <p:txBody>
          <a:bodyPr wrap="square" lIns="50800" tIns="50800" rIns="50800" bIns="50800" rtlCol="0" anchor="ctr"/>
          <a:lstStyle/>
          <a:p>
            <a:pPr marL="0" indent="0" algn="ctr">
              <a:buNone/>
            </a:pPr>
            <a:r>
              <a:rPr lang="en-US" sz="1300" b="1" dirty="0">
                <a:solidFill>
                  <a:schemeClr val="bg1"/>
                </a:solidFill>
              </a:rPr>
              <a:t>1. Post</a:t>
            </a:r>
            <a:endParaRPr lang="en-US" sz="1300" dirty="0"/>
          </a:p>
          <a:p>
            <a:pPr marL="0" indent="0" algn="ctr">
              <a:buNone/>
            </a:pPr>
            <a:r>
              <a:rPr lang="en-US" sz="1050" dirty="0">
                <a:solidFill>
                  <a:schemeClr val="bg1"/>
                </a:solidFill>
              </a:rPr>
              <a:t>Buyer posts demand + 20% advance</a:t>
            </a:r>
            <a:endParaRPr lang="en-US" sz="1300" dirty="0"/>
          </a:p>
        </p:txBody>
      </p:sp>
      <p:sp>
        <p:nvSpPr>
          <p:cNvPr id="6" name="arrow 5"/>
          <p:cNvSpPr/>
          <p:nvPr/>
        </p:nvSpPr>
        <p:spPr>
          <a:xfrm>
            <a:off x="1755648" y="3040380"/>
            <a:ext cx="146304" cy="0"/>
          </a:xfrm>
          <a:prstGeom prst="line">
            <a:avLst/>
          </a:prstGeom>
          <a:noFill/>
          <a:ln w="19050">
            <a:solidFill>
              <a:schemeClr val="accent1"/>
            </a:solidFill>
            <a:prstDash val="solid"/>
            <a:tailEnd type="triangle"/>
          </a:ln>
        </p:spPr>
      </p:sp>
      <p:sp>
        <p:nvSpPr>
          <p:cNvPr id="7" name="step Plan"/>
          <p:cNvSpPr/>
          <p:nvPr/>
        </p:nvSpPr>
        <p:spPr>
          <a:xfrm>
            <a:off x="1920240" y="2514600"/>
            <a:ext cx="1188720" cy="1051560"/>
          </a:xfrm>
          <a:prstGeom prst="roundRect">
            <a:avLst>
              <a:gd name="adj" fmla="val 6957"/>
            </a:avLst>
          </a:prstGeom>
          <a:solidFill>
            <a:schemeClr val="bg2"/>
          </a:solidFill>
          <a:ln w="12700">
            <a:solidFill>
              <a:schemeClr val="bg2"/>
            </a:solidFill>
            <a:prstDash val="solid"/>
          </a:ln>
        </p:spPr>
      </p:sp>
      <p:sp>
        <p:nvSpPr>
          <p:cNvPr id="8" name="step text 6"/>
          <p:cNvSpPr txBox="1"/>
          <p:nvPr/>
        </p:nvSpPr>
        <p:spPr>
          <a:xfrm>
            <a:off x="1920240" y="2514600"/>
            <a:ext cx="1188720" cy="1051560"/>
          </a:xfrm>
          <a:prstGeom prst="rect">
            <a:avLst/>
          </a:prstGeom>
          <a:noFill/>
          <a:ln/>
        </p:spPr>
        <p:txBody>
          <a:bodyPr wrap="square" lIns="50800" tIns="50800" rIns="50800" bIns="50800" rtlCol="0" anchor="ctr"/>
          <a:lstStyle/>
          <a:p>
            <a:pPr marL="0" indent="0" algn="ctr">
              <a:buNone/>
            </a:pPr>
            <a:r>
              <a:rPr lang="en-US" sz="1300" b="1" dirty="0">
                <a:solidFill>
                  <a:schemeClr val="tx2"/>
                </a:solidFill>
              </a:rPr>
              <a:t>2. Plan</a:t>
            </a:r>
            <a:endParaRPr lang="en-US" sz="1300" dirty="0"/>
          </a:p>
          <a:p>
            <a:pPr marL="0" indent="0" algn="ctr">
              <a:buNone/>
            </a:pPr>
            <a:r>
              <a:rPr lang="en-US" sz="1050" dirty="0">
                <a:solidFill>
                  <a:schemeClr val="tx1"/>
                </a:solidFill>
              </a:rPr>
              <a:t>Farmer sees open demand</a:t>
            </a:r>
            <a:endParaRPr lang="en-US" sz="1300" dirty="0"/>
          </a:p>
        </p:txBody>
      </p:sp>
      <p:sp>
        <p:nvSpPr>
          <p:cNvPr id="9" name="arrow 7"/>
          <p:cNvSpPr/>
          <p:nvPr/>
        </p:nvSpPr>
        <p:spPr>
          <a:xfrm>
            <a:off x="3127248" y="3040380"/>
            <a:ext cx="146304" cy="0"/>
          </a:xfrm>
          <a:prstGeom prst="line">
            <a:avLst/>
          </a:prstGeom>
          <a:noFill/>
          <a:ln w="19050">
            <a:solidFill>
              <a:schemeClr val="accent1"/>
            </a:solidFill>
            <a:prstDash val="solid"/>
            <a:tailEnd type="triangle"/>
          </a:ln>
        </p:spPr>
      </p:sp>
      <p:sp>
        <p:nvSpPr>
          <p:cNvPr id="10" name="step Accept"/>
          <p:cNvSpPr/>
          <p:nvPr/>
        </p:nvSpPr>
        <p:spPr>
          <a:xfrm>
            <a:off x="3291840" y="2514600"/>
            <a:ext cx="1188720" cy="1051560"/>
          </a:xfrm>
          <a:prstGeom prst="roundRect">
            <a:avLst>
              <a:gd name="adj" fmla="val 6957"/>
            </a:avLst>
          </a:prstGeom>
          <a:solidFill>
            <a:schemeClr val="bg2"/>
          </a:solidFill>
          <a:ln w="12700">
            <a:solidFill>
              <a:schemeClr val="bg2"/>
            </a:solidFill>
            <a:prstDash val="solid"/>
          </a:ln>
        </p:spPr>
      </p:sp>
      <p:sp>
        <p:nvSpPr>
          <p:cNvPr id="11" name="step text 8"/>
          <p:cNvSpPr txBox="1"/>
          <p:nvPr/>
        </p:nvSpPr>
        <p:spPr>
          <a:xfrm>
            <a:off x="3291840" y="2514600"/>
            <a:ext cx="1188720" cy="1051560"/>
          </a:xfrm>
          <a:prstGeom prst="rect">
            <a:avLst/>
          </a:prstGeom>
          <a:noFill/>
          <a:ln/>
        </p:spPr>
        <p:txBody>
          <a:bodyPr wrap="square" lIns="50800" tIns="50800" rIns="50800" bIns="50800" rtlCol="0" anchor="ctr"/>
          <a:lstStyle/>
          <a:p>
            <a:pPr marL="0" indent="0" algn="ctr">
              <a:buNone/>
            </a:pPr>
            <a:r>
              <a:rPr lang="en-US" sz="1300" b="1" dirty="0">
                <a:solidFill>
                  <a:schemeClr val="tx2"/>
                </a:solidFill>
              </a:rPr>
              <a:t>3. Accept</a:t>
            </a:r>
            <a:endParaRPr lang="en-US" sz="1300" dirty="0"/>
          </a:p>
          <a:p>
            <a:pPr marL="0" indent="0" algn="ctr">
              <a:buNone/>
            </a:pPr>
            <a:r>
              <a:rPr lang="en-US" sz="1050" dirty="0">
                <a:solidFill>
                  <a:schemeClr val="tx1"/>
                </a:solidFill>
              </a:rPr>
              <a:t>Price band locked</a:t>
            </a:r>
            <a:endParaRPr lang="en-US" sz="1300" dirty="0"/>
          </a:p>
        </p:txBody>
      </p:sp>
      <p:sp>
        <p:nvSpPr>
          <p:cNvPr id="12" name="arrow 9"/>
          <p:cNvSpPr/>
          <p:nvPr/>
        </p:nvSpPr>
        <p:spPr>
          <a:xfrm>
            <a:off x="4498848" y="3040380"/>
            <a:ext cx="146304" cy="0"/>
          </a:xfrm>
          <a:prstGeom prst="line">
            <a:avLst/>
          </a:prstGeom>
          <a:noFill/>
          <a:ln w="19050">
            <a:solidFill>
              <a:schemeClr val="accent1"/>
            </a:solidFill>
            <a:prstDash val="solid"/>
            <a:tailEnd type="triangle"/>
          </a:ln>
        </p:spPr>
      </p:sp>
      <p:sp>
        <p:nvSpPr>
          <p:cNvPr id="13" name="step Grow"/>
          <p:cNvSpPr/>
          <p:nvPr/>
        </p:nvSpPr>
        <p:spPr>
          <a:xfrm>
            <a:off x="4663440" y="2514600"/>
            <a:ext cx="1188720" cy="1051560"/>
          </a:xfrm>
          <a:prstGeom prst="roundRect">
            <a:avLst>
              <a:gd name="adj" fmla="val 6957"/>
            </a:avLst>
          </a:prstGeom>
          <a:solidFill>
            <a:schemeClr val="bg2"/>
          </a:solidFill>
          <a:ln w="12700">
            <a:solidFill>
              <a:schemeClr val="bg2"/>
            </a:solidFill>
            <a:prstDash val="solid"/>
          </a:ln>
        </p:spPr>
      </p:sp>
      <p:sp>
        <p:nvSpPr>
          <p:cNvPr id="14" name="step text 10"/>
          <p:cNvSpPr txBox="1"/>
          <p:nvPr/>
        </p:nvSpPr>
        <p:spPr>
          <a:xfrm>
            <a:off x="4663440" y="2514600"/>
            <a:ext cx="1188720" cy="1051560"/>
          </a:xfrm>
          <a:prstGeom prst="rect">
            <a:avLst/>
          </a:prstGeom>
          <a:noFill/>
          <a:ln/>
        </p:spPr>
        <p:txBody>
          <a:bodyPr wrap="square" lIns="50800" tIns="50800" rIns="50800" bIns="50800" rtlCol="0" anchor="ctr"/>
          <a:lstStyle/>
          <a:p>
            <a:pPr marL="0" indent="0" algn="ctr">
              <a:buNone/>
            </a:pPr>
            <a:r>
              <a:rPr lang="en-US" sz="1300" b="1" dirty="0">
                <a:solidFill>
                  <a:schemeClr val="tx2"/>
                </a:solidFill>
              </a:rPr>
              <a:t>4. Grow</a:t>
            </a:r>
            <a:endParaRPr lang="en-US" sz="1300" dirty="0"/>
          </a:p>
          <a:p>
            <a:pPr marL="0" indent="0" algn="ctr">
              <a:buNone/>
            </a:pPr>
            <a:r>
              <a:rPr lang="en-US" sz="1050" dirty="0">
                <a:solidFill>
                  <a:schemeClr val="tx1"/>
                </a:solidFill>
              </a:rPr>
              <a:t>Photo check-ins release money</a:t>
            </a:r>
            <a:endParaRPr lang="en-US" sz="1300" dirty="0"/>
          </a:p>
        </p:txBody>
      </p:sp>
      <p:sp>
        <p:nvSpPr>
          <p:cNvPr id="15" name="arrow 11"/>
          <p:cNvSpPr/>
          <p:nvPr/>
        </p:nvSpPr>
        <p:spPr>
          <a:xfrm>
            <a:off x="5870448" y="3040380"/>
            <a:ext cx="146304" cy="0"/>
          </a:xfrm>
          <a:prstGeom prst="line">
            <a:avLst/>
          </a:prstGeom>
          <a:noFill/>
          <a:ln w="19050">
            <a:solidFill>
              <a:schemeClr val="accent1"/>
            </a:solidFill>
            <a:prstDash val="solid"/>
            <a:tailEnd type="triangle"/>
          </a:ln>
        </p:spPr>
      </p:sp>
      <p:sp>
        <p:nvSpPr>
          <p:cNvPr id="16" name="step Deliver"/>
          <p:cNvSpPr/>
          <p:nvPr/>
        </p:nvSpPr>
        <p:spPr>
          <a:xfrm>
            <a:off x="6035040" y="2514600"/>
            <a:ext cx="1188720" cy="1051560"/>
          </a:xfrm>
          <a:prstGeom prst="roundRect">
            <a:avLst>
              <a:gd name="adj" fmla="val 6957"/>
            </a:avLst>
          </a:prstGeom>
          <a:solidFill>
            <a:schemeClr val="bg2"/>
          </a:solidFill>
          <a:ln w="12700">
            <a:solidFill>
              <a:schemeClr val="bg2"/>
            </a:solidFill>
            <a:prstDash val="solid"/>
          </a:ln>
        </p:spPr>
      </p:sp>
      <p:sp>
        <p:nvSpPr>
          <p:cNvPr id="17" name="step text 12"/>
          <p:cNvSpPr txBox="1"/>
          <p:nvPr/>
        </p:nvSpPr>
        <p:spPr>
          <a:xfrm>
            <a:off x="6035040" y="2514600"/>
            <a:ext cx="1188720" cy="1051560"/>
          </a:xfrm>
          <a:prstGeom prst="rect">
            <a:avLst/>
          </a:prstGeom>
          <a:noFill/>
          <a:ln/>
        </p:spPr>
        <p:txBody>
          <a:bodyPr wrap="square" lIns="50800" tIns="50800" rIns="50800" bIns="50800" rtlCol="0" anchor="ctr"/>
          <a:lstStyle/>
          <a:p>
            <a:pPr marL="0" indent="0" algn="ctr">
              <a:buNone/>
            </a:pPr>
            <a:r>
              <a:rPr lang="en-US" sz="1300" b="1" dirty="0">
                <a:solidFill>
                  <a:schemeClr val="tx2"/>
                </a:solidFill>
              </a:rPr>
              <a:t>5. Deliver</a:t>
            </a:r>
            <a:endParaRPr lang="en-US" sz="1300" dirty="0"/>
          </a:p>
          <a:p>
            <a:pPr marL="0" indent="0" algn="ctr">
              <a:buNone/>
            </a:pPr>
            <a:r>
              <a:rPr lang="en-US" sz="1050" dirty="0">
                <a:solidFill>
                  <a:schemeClr val="tx1"/>
                </a:solidFill>
              </a:rPr>
              <a:t>Both confirm qty and grade</a:t>
            </a:r>
            <a:endParaRPr lang="en-US" sz="1300" dirty="0"/>
          </a:p>
        </p:txBody>
      </p:sp>
      <p:sp>
        <p:nvSpPr>
          <p:cNvPr id="18" name="arrow 13"/>
          <p:cNvSpPr/>
          <p:nvPr/>
        </p:nvSpPr>
        <p:spPr>
          <a:xfrm>
            <a:off x="7242048" y="3040380"/>
            <a:ext cx="146304" cy="0"/>
          </a:xfrm>
          <a:prstGeom prst="line">
            <a:avLst/>
          </a:prstGeom>
          <a:noFill/>
          <a:ln w="19050">
            <a:solidFill>
              <a:schemeClr val="accent1"/>
            </a:solidFill>
            <a:prstDash val="solid"/>
            <a:tailEnd type="triangle"/>
          </a:ln>
        </p:spPr>
      </p:sp>
      <p:sp>
        <p:nvSpPr>
          <p:cNvPr id="19" name="step Settle"/>
          <p:cNvSpPr/>
          <p:nvPr/>
        </p:nvSpPr>
        <p:spPr>
          <a:xfrm>
            <a:off x="7406640" y="2514600"/>
            <a:ext cx="1188720" cy="1051560"/>
          </a:xfrm>
          <a:prstGeom prst="roundRect">
            <a:avLst>
              <a:gd name="adj" fmla="val 6957"/>
            </a:avLst>
          </a:prstGeom>
          <a:solidFill>
            <a:schemeClr val="bg2"/>
          </a:solidFill>
          <a:ln w="12700">
            <a:solidFill>
              <a:schemeClr val="bg2"/>
            </a:solidFill>
            <a:prstDash val="solid"/>
          </a:ln>
        </p:spPr>
      </p:sp>
      <p:sp>
        <p:nvSpPr>
          <p:cNvPr id="20" name="step text 14"/>
          <p:cNvSpPr txBox="1"/>
          <p:nvPr/>
        </p:nvSpPr>
        <p:spPr>
          <a:xfrm>
            <a:off x="7406640" y="2514600"/>
            <a:ext cx="1188720" cy="1051560"/>
          </a:xfrm>
          <a:prstGeom prst="rect">
            <a:avLst/>
          </a:prstGeom>
          <a:noFill/>
          <a:ln/>
        </p:spPr>
        <p:txBody>
          <a:bodyPr wrap="square" lIns="50800" tIns="50800" rIns="50800" bIns="50800" rtlCol="0" anchor="ctr"/>
          <a:lstStyle/>
          <a:p>
            <a:pPr marL="0" indent="0" algn="ctr">
              <a:buNone/>
            </a:pPr>
            <a:r>
              <a:rPr lang="en-US" sz="1300" b="1" dirty="0">
                <a:solidFill>
                  <a:schemeClr val="tx2"/>
                </a:solidFill>
              </a:rPr>
              <a:t>6. Settle</a:t>
            </a:r>
            <a:endParaRPr lang="en-US" sz="1300" dirty="0"/>
          </a:p>
          <a:p>
            <a:pPr marL="0" indent="0" algn="ctr">
              <a:buNone/>
            </a:pPr>
            <a:r>
              <a:rPr lang="en-US" sz="1050" dirty="0">
                <a:solidFill>
                  <a:schemeClr val="tx1"/>
                </a:solidFill>
              </a:rPr>
              <a:t>Paid in 24 h; trust score</a:t>
            </a:r>
            <a:endParaRPr lang="en-US" sz="1300" dirty="0"/>
          </a:p>
        </p:txBody>
      </p:sp>
      <p:sp>
        <p:nvSpPr>
          <p:cNvPr id="21" name="bullets 15"/>
          <p:cNvSpPr txBox="1"/>
          <p:nvPr/>
        </p:nvSpPr>
        <p:spPr>
          <a:xfrm>
            <a:off x="548640" y="3840480"/>
            <a:ext cx="8046720" cy="2560320"/>
          </a:xfrm>
          <a:prstGeom prst="rect">
            <a:avLst/>
          </a:prstGeom>
          <a:noFill/>
          <a:ln/>
        </p:spPr>
        <p:txBody>
          <a:bodyPr wrap="square" lIns="0" tIns="0" rIns="0" bIns="0" rtlCol="0" anchor="t"/>
          <a:lstStyle/>
          <a:p>
            <a:pPr marL="279400" indent="-279400">
              <a:spcAft>
                <a:spcPts val="1200"/>
              </a:spcAft>
              <a:buClr>
                <a:schemeClr val="accent1"/>
              </a:buClr>
              <a:buSzPct val="70000"/>
              <a:buChar char="■"/>
            </a:pPr>
            <a:r>
              <a:rPr lang="en-US" sz="1600" b="1" dirty="0">
                <a:solidFill>
                  <a:schemeClr val="tx2"/>
                </a:solidFill>
              </a:rPr>
              <a:t>Main value: </a:t>
            </a:r>
            <a:r>
              <a:rPr lang="en-US" sz="1600" dirty="0">
                <a:solidFill>
                  <a:schemeClr val="tx1"/>
                </a:solidFill>
              </a:rPr>
              <a:t>farmers know their buyer and a fair price before planting and are paid within 24 hours; buyers get dependable supply of the grade they ordered.</a:t>
            </a:r>
            <a:endParaRPr lang="en-US" sz="1600" dirty="0"/>
          </a:p>
          <a:p>
            <a:pPr marL="279400" indent="-279400">
              <a:spcAft>
                <a:spcPts val="1200"/>
              </a:spcAft>
              <a:buClr>
                <a:schemeClr val="accent1"/>
              </a:buClr>
              <a:buSzPct val="70000"/>
              <a:buChar char="■"/>
            </a:pPr>
            <a:r>
              <a:rPr lang="en-US" sz="1600" b="1" dirty="0">
                <a:solidFill>
                  <a:schemeClr val="tx2"/>
                </a:solidFill>
              </a:rPr>
              <a:t>Around the market: </a:t>
            </a:r>
            <a:r>
              <a:rPr lang="en-US" sz="1600" dirty="0">
                <a:solidFill>
                  <a:schemeClr val="tx1"/>
                </a:solidFill>
              </a:rPr>
              <a:t>a Tamil, voice-first chat helper, a demand-aware crop planner and weather alerts (Phase 1). Leaf Doctor and smart irrigation follow in Phase 2.</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Technical Approach</a:t>
            </a:r>
            <a:endParaRPr lang="en-US" sz="2400" dirty="0"/>
          </a:p>
        </p:txBody>
      </p:sp>
      <p:sp>
        <p:nvSpPr>
          <p:cNvPr id="3" name="diagram frame"/>
          <p:cNvSpPr/>
          <p:nvPr/>
        </p:nvSpPr>
        <p:spPr>
          <a:xfrm>
            <a:off x="548640" y="868680"/>
            <a:ext cx="8046720" cy="2468880"/>
          </a:xfrm>
          <a:prstGeom prst="roundRect">
            <a:avLst>
              <a:gd name="adj" fmla="val 2963"/>
            </a:avLst>
          </a:prstGeom>
          <a:solidFill>
            <a:schemeClr val="accent3"/>
          </a:solidFill>
          <a:ln w="15875">
            <a:solidFill>
              <a:schemeClr val="accent1"/>
            </a:solidFill>
            <a:prstDash val="dash"/>
          </a:ln>
        </p:spPr>
      </p:sp>
      <p:sp>
        <p:nvSpPr>
          <p:cNvPr id="4" name="flow label 16"/>
          <p:cNvSpPr txBox="1"/>
          <p:nvPr/>
        </p:nvSpPr>
        <p:spPr>
          <a:xfrm>
            <a:off x="731520" y="960120"/>
            <a:ext cx="7680960" cy="237744"/>
          </a:xfrm>
          <a:prstGeom prst="rect">
            <a:avLst/>
          </a:prstGeom>
          <a:noFill/>
          <a:ln/>
        </p:spPr>
        <p:txBody>
          <a:bodyPr wrap="square" lIns="0" tIns="0" rIns="0" bIns="0" rtlCol="0" anchor="ctr"/>
          <a:lstStyle/>
          <a:p>
            <a:pPr marL="0" indent="0">
              <a:buNone/>
            </a:pPr>
            <a:r>
              <a:rPr lang="en-US" sz="1100" b="1" dirty="0">
                <a:solidFill>
                  <a:schemeClr val="accent1"/>
                </a:solidFill>
              </a:rPr>
              <a:t>Phase 1 · Marketplace (built)</a:t>
            </a:r>
            <a:endParaRPr lang="en-US" sz="1100" dirty="0"/>
          </a:p>
        </p:txBody>
      </p:sp>
      <p:sp>
        <p:nvSpPr>
          <p:cNvPr id="5" name="flow Buyer app"/>
          <p:cNvSpPr/>
          <p:nvPr/>
        </p:nvSpPr>
        <p:spPr>
          <a:xfrm>
            <a:off x="731520" y="1234440"/>
            <a:ext cx="1331366" cy="713232"/>
          </a:xfrm>
          <a:prstGeom prst="roundRect">
            <a:avLst>
              <a:gd name="adj" fmla="val 10256"/>
            </a:avLst>
          </a:prstGeom>
          <a:solidFill>
            <a:schemeClr val="bg2"/>
          </a:solidFill>
          <a:ln w="12700">
            <a:solidFill>
              <a:schemeClr val="bg2"/>
            </a:solidFill>
            <a:prstDash val="solid"/>
          </a:ln>
        </p:spPr>
      </p:sp>
      <p:sp>
        <p:nvSpPr>
          <p:cNvPr id="6" name="flow text 17"/>
          <p:cNvSpPr txBox="1"/>
          <p:nvPr/>
        </p:nvSpPr>
        <p:spPr>
          <a:xfrm>
            <a:off x="731520" y="1234440"/>
            <a:ext cx="1331366" cy="713232"/>
          </a:xfrm>
          <a:prstGeom prst="rect">
            <a:avLst/>
          </a:prstGeom>
          <a:noFill/>
          <a:ln/>
        </p:spPr>
        <p:txBody>
          <a:bodyPr wrap="square" lIns="38100" tIns="38100" rIns="38100" bIns="38100" rtlCol="0" anchor="ctr"/>
          <a:lstStyle/>
          <a:p>
            <a:pPr marL="0" indent="0" algn="ctr">
              <a:buNone/>
            </a:pPr>
            <a:r>
              <a:rPr lang="en-US" sz="1100" b="1" dirty="0">
                <a:solidFill>
                  <a:schemeClr val="tx2"/>
                </a:solidFill>
              </a:rPr>
              <a:t>Buyer app</a:t>
            </a:r>
            <a:endParaRPr lang="en-US" sz="1100" dirty="0"/>
          </a:p>
          <a:p>
            <a:pPr marL="0" indent="0" algn="ctr">
              <a:buNone/>
            </a:pPr>
            <a:r>
              <a:rPr lang="en-US" sz="950" dirty="0">
                <a:solidFill>
                  <a:schemeClr val="tx1"/>
                </a:solidFill>
              </a:rPr>
              <a:t>Posts demand + advance</a:t>
            </a:r>
            <a:endParaRPr lang="en-US" sz="1100" dirty="0"/>
          </a:p>
        </p:txBody>
      </p:sp>
      <p:sp>
        <p:nvSpPr>
          <p:cNvPr id="7" name="arrow 18"/>
          <p:cNvSpPr/>
          <p:nvPr/>
        </p:nvSpPr>
        <p:spPr>
          <a:xfrm>
            <a:off x="2090318" y="1591056"/>
            <a:ext cx="201168" cy="0"/>
          </a:xfrm>
          <a:prstGeom prst="line">
            <a:avLst/>
          </a:prstGeom>
          <a:noFill/>
          <a:ln w="19050">
            <a:solidFill>
              <a:schemeClr val="accent1"/>
            </a:solidFill>
            <a:prstDash val="solid"/>
            <a:tailEnd type="triangle"/>
          </a:ln>
        </p:spPr>
      </p:sp>
      <p:sp>
        <p:nvSpPr>
          <p:cNvPr id="8" name="flow FloraVision server"/>
          <p:cNvSpPr/>
          <p:nvPr/>
        </p:nvSpPr>
        <p:spPr>
          <a:xfrm>
            <a:off x="2318918" y="1234440"/>
            <a:ext cx="1331366" cy="713232"/>
          </a:xfrm>
          <a:prstGeom prst="roundRect">
            <a:avLst>
              <a:gd name="adj" fmla="val 10256"/>
            </a:avLst>
          </a:prstGeom>
          <a:solidFill>
            <a:schemeClr val="accent1"/>
          </a:solidFill>
          <a:ln w="12700">
            <a:solidFill>
              <a:schemeClr val="accent1"/>
            </a:solidFill>
            <a:prstDash val="solid"/>
          </a:ln>
        </p:spPr>
      </p:sp>
      <p:sp>
        <p:nvSpPr>
          <p:cNvPr id="9" name="flow text 19"/>
          <p:cNvSpPr txBox="1"/>
          <p:nvPr/>
        </p:nvSpPr>
        <p:spPr>
          <a:xfrm>
            <a:off x="2318918" y="1234440"/>
            <a:ext cx="1331366" cy="713232"/>
          </a:xfrm>
          <a:prstGeom prst="rect">
            <a:avLst/>
          </a:prstGeom>
          <a:noFill/>
          <a:ln/>
        </p:spPr>
        <p:txBody>
          <a:bodyPr wrap="square" lIns="38100" tIns="38100" rIns="38100" bIns="38100" rtlCol="0" anchor="ctr"/>
          <a:lstStyle/>
          <a:p>
            <a:pPr marL="0" indent="0" algn="ctr">
              <a:buNone/>
            </a:pPr>
            <a:r>
              <a:rPr lang="en-US" sz="1100" b="1" dirty="0">
                <a:solidFill>
                  <a:schemeClr val="bg1"/>
                </a:solidFill>
              </a:rPr>
              <a:t>FloraVision server</a:t>
            </a:r>
            <a:endParaRPr lang="en-US" sz="1100" dirty="0"/>
          </a:p>
          <a:p>
            <a:pPr marL="0" indent="0" algn="ctr">
              <a:buNone/>
            </a:pPr>
            <a:r>
              <a:rPr lang="en-US" sz="950" dirty="0">
                <a:solidFill>
                  <a:schemeClr val="bg1"/>
                </a:solidFill>
              </a:rPr>
              <a:t>Escrow, fair-price formula</a:t>
            </a:r>
            <a:endParaRPr lang="en-US" sz="1100" dirty="0"/>
          </a:p>
        </p:txBody>
      </p:sp>
      <p:sp>
        <p:nvSpPr>
          <p:cNvPr id="10" name="arrow 20"/>
          <p:cNvSpPr/>
          <p:nvPr/>
        </p:nvSpPr>
        <p:spPr>
          <a:xfrm>
            <a:off x="3677717" y="1591056"/>
            <a:ext cx="201168" cy="0"/>
          </a:xfrm>
          <a:prstGeom prst="line">
            <a:avLst/>
          </a:prstGeom>
          <a:noFill/>
          <a:ln w="19050">
            <a:solidFill>
              <a:schemeClr val="accent1"/>
            </a:solidFill>
            <a:prstDash val="solid"/>
            <a:tailEnd type="triangle"/>
          </a:ln>
        </p:spPr>
      </p:sp>
      <p:sp>
        <p:nvSpPr>
          <p:cNvPr id="11" name="flow Farmer app"/>
          <p:cNvSpPr/>
          <p:nvPr/>
        </p:nvSpPr>
        <p:spPr>
          <a:xfrm>
            <a:off x="3906317" y="1234440"/>
            <a:ext cx="1331366" cy="713232"/>
          </a:xfrm>
          <a:prstGeom prst="roundRect">
            <a:avLst>
              <a:gd name="adj" fmla="val 10256"/>
            </a:avLst>
          </a:prstGeom>
          <a:solidFill>
            <a:schemeClr val="bg2"/>
          </a:solidFill>
          <a:ln w="12700">
            <a:solidFill>
              <a:schemeClr val="bg2"/>
            </a:solidFill>
            <a:prstDash val="solid"/>
          </a:ln>
        </p:spPr>
      </p:sp>
      <p:sp>
        <p:nvSpPr>
          <p:cNvPr id="12" name="flow text 21"/>
          <p:cNvSpPr txBox="1"/>
          <p:nvPr/>
        </p:nvSpPr>
        <p:spPr>
          <a:xfrm>
            <a:off x="3906317" y="1234440"/>
            <a:ext cx="1331366" cy="713232"/>
          </a:xfrm>
          <a:prstGeom prst="rect">
            <a:avLst/>
          </a:prstGeom>
          <a:noFill/>
          <a:ln/>
        </p:spPr>
        <p:txBody>
          <a:bodyPr wrap="square" lIns="38100" tIns="38100" rIns="38100" bIns="38100" rtlCol="0" anchor="ctr"/>
          <a:lstStyle/>
          <a:p>
            <a:pPr marL="0" indent="0" algn="ctr">
              <a:buNone/>
            </a:pPr>
            <a:r>
              <a:rPr lang="en-US" sz="1100" b="1" dirty="0">
                <a:solidFill>
                  <a:schemeClr val="tx2"/>
                </a:solidFill>
              </a:rPr>
              <a:t>Farmer app</a:t>
            </a:r>
            <a:endParaRPr lang="en-US" sz="1100" dirty="0"/>
          </a:p>
          <a:p>
            <a:pPr marL="0" indent="0" algn="ctr">
              <a:buNone/>
            </a:pPr>
            <a:r>
              <a:rPr lang="en-US" sz="950" dirty="0">
                <a:solidFill>
                  <a:schemeClr val="tx1"/>
                </a:solidFill>
              </a:rPr>
              <a:t>Accepts, photo check-ins</a:t>
            </a:r>
            <a:endParaRPr lang="en-US" sz="1100" dirty="0"/>
          </a:p>
        </p:txBody>
      </p:sp>
      <p:sp>
        <p:nvSpPr>
          <p:cNvPr id="13" name="arrow 22"/>
          <p:cNvSpPr/>
          <p:nvPr/>
        </p:nvSpPr>
        <p:spPr>
          <a:xfrm>
            <a:off x="5265115" y="1591056"/>
            <a:ext cx="201168" cy="0"/>
          </a:xfrm>
          <a:prstGeom prst="line">
            <a:avLst/>
          </a:prstGeom>
          <a:noFill/>
          <a:ln w="19050">
            <a:solidFill>
              <a:schemeClr val="accent1"/>
            </a:solidFill>
            <a:prstDash val="solid"/>
            <a:tailEnd type="triangle"/>
          </a:ln>
        </p:spPr>
      </p:sp>
      <p:sp>
        <p:nvSpPr>
          <p:cNvPr id="14" name="flow Escrow release"/>
          <p:cNvSpPr/>
          <p:nvPr/>
        </p:nvSpPr>
        <p:spPr>
          <a:xfrm>
            <a:off x="5493715" y="1234440"/>
            <a:ext cx="1331366" cy="713232"/>
          </a:xfrm>
          <a:prstGeom prst="roundRect">
            <a:avLst>
              <a:gd name="adj" fmla="val 10256"/>
            </a:avLst>
          </a:prstGeom>
          <a:solidFill>
            <a:schemeClr val="bg2"/>
          </a:solidFill>
          <a:ln w="12700">
            <a:solidFill>
              <a:schemeClr val="bg2"/>
            </a:solidFill>
            <a:prstDash val="solid"/>
          </a:ln>
        </p:spPr>
      </p:sp>
      <p:sp>
        <p:nvSpPr>
          <p:cNvPr id="15" name="flow text 23"/>
          <p:cNvSpPr txBox="1"/>
          <p:nvPr/>
        </p:nvSpPr>
        <p:spPr>
          <a:xfrm>
            <a:off x="5493715" y="1234440"/>
            <a:ext cx="1331366" cy="713232"/>
          </a:xfrm>
          <a:prstGeom prst="rect">
            <a:avLst/>
          </a:prstGeom>
          <a:noFill/>
          <a:ln/>
        </p:spPr>
        <p:txBody>
          <a:bodyPr wrap="square" lIns="38100" tIns="38100" rIns="38100" bIns="38100" rtlCol="0" anchor="ctr"/>
          <a:lstStyle/>
          <a:p>
            <a:pPr marL="0" indent="0" algn="ctr">
              <a:buNone/>
            </a:pPr>
            <a:r>
              <a:rPr lang="en-US" sz="1100" b="1" dirty="0">
                <a:solidFill>
                  <a:schemeClr val="tx2"/>
                </a:solidFill>
              </a:rPr>
              <a:t>Escrow release</a:t>
            </a:r>
            <a:endParaRPr lang="en-US" sz="1100" dirty="0"/>
          </a:p>
          <a:p>
            <a:pPr marL="0" indent="0" algn="ctr">
              <a:buNone/>
            </a:pPr>
            <a:r>
              <a:rPr lang="en-US" sz="950" dirty="0">
                <a:solidFill>
                  <a:schemeClr val="tx1"/>
                </a:solidFill>
              </a:rPr>
              <a:t>Paid in stages</a:t>
            </a:r>
            <a:endParaRPr lang="en-US" sz="1100" dirty="0"/>
          </a:p>
        </p:txBody>
      </p:sp>
      <p:sp>
        <p:nvSpPr>
          <p:cNvPr id="16" name="arrow 24"/>
          <p:cNvSpPr/>
          <p:nvPr/>
        </p:nvSpPr>
        <p:spPr>
          <a:xfrm>
            <a:off x="6852514" y="1591056"/>
            <a:ext cx="201168" cy="0"/>
          </a:xfrm>
          <a:prstGeom prst="line">
            <a:avLst/>
          </a:prstGeom>
          <a:noFill/>
          <a:ln w="19050">
            <a:solidFill>
              <a:schemeClr val="accent1"/>
            </a:solidFill>
            <a:prstDash val="solid"/>
            <a:tailEnd type="triangle"/>
          </a:ln>
        </p:spPr>
      </p:sp>
      <p:sp>
        <p:nvSpPr>
          <p:cNvPr id="17" name="flow Settlement"/>
          <p:cNvSpPr/>
          <p:nvPr/>
        </p:nvSpPr>
        <p:spPr>
          <a:xfrm>
            <a:off x="7081114" y="1234440"/>
            <a:ext cx="1331366" cy="713232"/>
          </a:xfrm>
          <a:prstGeom prst="roundRect">
            <a:avLst>
              <a:gd name="adj" fmla="val 10256"/>
            </a:avLst>
          </a:prstGeom>
          <a:solidFill>
            <a:schemeClr val="bg2"/>
          </a:solidFill>
          <a:ln w="12700">
            <a:solidFill>
              <a:schemeClr val="bg2"/>
            </a:solidFill>
            <a:prstDash val="solid"/>
          </a:ln>
        </p:spPr>
      </p:sp>
      <p:sp>
        <p:nvSpPr>
          <p:cNvPr id="18" name="flow text 25"/>
          <p:cNvSpPr txBox="1"/>
          <p:nvPr/>
        </p:nvSpPr>
        <p:spPr>
          <a:xfrm>
            <a:off x="7081114" y="1234440"/>
            <a:ext cx="1331366" cy="713232"/>
          </a:xfrm>
          <a:prstGeom prst="rect">
            <a:avLst/>
          </a:prstGeom>
          <a:noFill/>
          <a:ln/>
        </p:spPr>
        <p:txBody>
          <a:bodyPr wrap="square" lIns="38100" tIns="38100" rIns="38100" bIns="38100" rtlCol="0" anchor="ctr"/>
          <a:lstStyle/>
          <a:p>
            <a:pPr marL="0" indent="0" algn="ctr">
              <a:buNone/>
            </a:pPr>
            <a:r>
              <a:rPr lang="en-US" sz="1100" b="1" dirty="0">
                <a:solidFill>
                  <a:schemeClr val="tx2"/>
                </a:solidFill>
              </a:rPr>
              <a:t>Settlement</a:t>
            </a:r>
            <a:endParaRPr lang="en-US" sz="1100" dirty="0"/>
          </a:p>
          <a:p>
            <a:pPr marL="0" indent="0" algn="ctr">
              <a:buNone/>
            </a:pPr>
            <a:r>
              <a:rPr lang="en-US" sz="950" dirty="0">
                <a:solidFill>
                  <a:schemeClr val="tx1"/>
                </a:solidFill>
              </a:rPr>
              <a:t>24 h payout, trust score</a:t>
            </a:r>
            <a:endParaRPr lang="en-US" sz="1100" dirty="0"/>
          </a:p>
        </p:txBody>
      </p:sp>
      <p:sp>
        <p:nvSpPr>
          <p:cNvPr id="19" name="flow label 26"/>
          <p:cNvSpPr txBox="1"/>
          <p:nvPr/>
        </p:nvSpPr>
        <p:spPr>
          <a:xfrm>
            <a:off x="731520" y="2148840"/>
            <a:ext cx="7680960" cy="237744"/>
          </a:xfrm>
          <a:prstGeom prst="rect">
            <a:avLst/>
          </a:prstGeom>
          <a:noFill/>
          <a:ln/>
        </p:spPr>
        <p:txBody>
          <a:bodyPr wrap="square" lIns="0" tIns="0" rIns="0" bIns="0" rtlCol="0" anchor="ctr"/>
          <a:lstStyle/>
          <a:p>
            <a:pPr marL="0" indent="0">
              <a:buNone/>
            </a:pPr>
            <a:r>
              <a:rPr lang="en-US" sz="1100" b="1" dirty="0">
                <a:solidFill>
                  <a:schemeClr val="accent1"/>
                </a:solidFill>
              </a:rPr>
              <a:t>Phase 2 · Automation + Leaf Doctor (one-way data flow)</a:t>
            </a:r>
            <a:endParaRPr lang="en-US" sz="1100" dirty="0"/>
          </a:p>
        </p:txBody>
      </p:sp>
      <p:sp>
        <p:nvSpPr>
          <p:cNvPr id="20" name="flow Field sensors"/>
          <p:cNvSpPr/>
          <p:nvPr/>
        </p:nvSpPr>
        <p:spPr>
          <a:xfrm>
            <a:off x="731520" y="2423160"/>
            <a:ext cx="1331366" cy="713232"/>
          </a:xfrm>
          <a:prstGeom prst="roundRect">
            <a:avLst>
              <a:gd name="adj" fmla="val 10256"/>
            </a:avLst>
          </a:prstGeom>
          <a:solidFill>
            <a:schemeClr val="bg2"/>
          </a:solidFill>
          <a:ln w="12700">
            <a:solidFill>
              <a:schemeClr val="bg2"/>
            </a:solidFill>
            <a:prstDash val="solid"/>
          </a:ln>
        </p:spPr>
      </p:sp>
      <p:sp>
        <p:nvSpPr>
          <p:cNvPr id="21" name="flow text 27"/>
          <p:cNvSpPr txBox="1"/>
          <p:nvPr/>
        </p:nvSpPr>
        <p:spPr>
          <a:xfrm>
            <a:off x="731520" y="2423160"/>
            <a:ext cx="1331366" cy="713232"/>
          </a:xfrm>
          <a:prstGeom prst="rect">
            <a:avLst/>
          </a:prstGeom>
          <a:noFill/>
          <a:ln/>
        </p:spPr>
        <p:txBody>
          <a:bodyPr wrap="square" lIns="38100" tIns="38100" rIns="38100" bIns="38100" rtlCol="0" anchor="ctr"/>
          <a:lstStyle/>
          <a:p>
            <a:pPr marL="0" indent="0" algn="ctr">
              <a:buNone/>
            </a:pPr>
            <a:r>
              <a:rPr lang="en-US" sz="1100" b="1" dirty="0">
                <a:solidFill>
                  <a:schemeClr val="tx2"/>
                </a:solidFill>
              </a:rPr>
              <a:t>Field sensors</a:t>
            </a:r>
            <a:endParaRPr lang="en-US" sz="1100" dirty="0"/>
          </a:p>
          <a:p>
            <a:pPr marL="0" indent="0" algn="ctr">
              <a:buNone/>
            </a:pPr>
            <a:r>
              <a:rPr lang="en-US" sz="950" dirty="0">
                <a:solidFill>
                  <a:schemeClr val="tx1"/>
                </a:solidFill>
              </a:rPr>
              <a:t>Soil moisture, flow, weather</a:t>
            </a:r>
            <a:endParaRPr lang="en-US" sz="1100" dirty="0"/>
          </a:p>
        </p:txBody>
      </p:sp>
      <p:sp>
        <p:nvSpPr>
          <p:cNvPr id="22" name="arrow 28"/>
          <p:cNvSpPr/>
          <p:nvPr/>
        </p:nvSpPr>
        <p:spPr>
          <a:xfrm>
            <a:off x="2090318" y="2779776"/>
            <a:ext cx="201168" cy="0"/>
          </a:xfrm>
          <a:prstGeom prst="line">
            <a:avLst/>
          </a:prstGeom>
          <a:noFill/>
          <a:ln w="19050">
            <a:solidFill>
              <a:schemeClr val="accent1"/>
            </a:solidFill>
            <a:prstDash val="solid"/>
            <a:tailEnd type="triangle"/>
          </a:ln>
        </p:spPr>
      </p:sp>
      <p:sp>
        <p:nvSpPr>
          <p:cNvPr id="23" name="flow Village gateway"/>
          <p:cNvSpPr/>
          <p:nvPr/>
        </p:nvSpPr>
        <p:spPr>
          <a:xfrm>
            <a:off x="2318918" y="2423160"/>
            <a:ext cx="1331366" cy="713232"/>
          </a:xfrm>
          <a:prstGeom prst="roundRect">
            <a:avLst>
              <a:gd name="adj" fmla="val 10256"/>
            </a:avLst>
          </a:prstGeom>
          <a:solidFill>
            <a:schemeClr val="bg2"/>
          </a:solidFill>
          <a:ln w="12700">
            <a:solidFill>
              <a:schemeClr val="bg2"/>
            </a:solidFill>
            <a:prstDash val="solid"/>
          </a:ln>
        </p:spPr>
      </p:sp>
      <p:sp>
        <p:nvSpPr>
          <p:cNvPr id="24" name="flow text 29"/>
          <p:cNvSpPr txBox="1"/>
          <p:nvPr/>
        </p:nvSpPr>
        <p:spPr>
          <a:xfrm>
            <a:off x="2318918" y="2423160"/>
            <a:ext cx="1331366" cy="713232"/>
          </a:xfrm>
          <a:prstGeom prst="rect">
            <a:avLst/>
          </a:prstGeom>
          <a:noFill/>
          <a:ln/>
        </p:spPr>
        <p:txBody>
          <a:bodyPr wrap="square" lIns="38100" tIns="38100" rIns="38100" bIns="38100" rtlCol="0" anchor="ctr"/>
          <a:lstStyle/>
          <a:p>
            <a:pPr marL="0" indent="0" algn="ctr">
              <a:buNone/>
            </a:pPr>
            <a:r>
              <a:rPr lang="en-US" sz="1100" b="1" dirty="0">
                <a:solidFill>
                  <a:schemeClr val="tx2"/>
                </a:solidFill>
              </a:rPr>
              <a:t>Village gateway</a:t>
            </a:r>
            <a:endParaRPr lang="en-US" sz="1100" dirty="0"/>
          </a:p>
          <a:p>
            <a:pPr marL="0" indent="0" algn="ctr">
              <a:buNone/>
            </a:pPr>
            <a:r>
              <a:rPr lang="en-US" sz="950" dirty="0">
                <a:solidFill>
                  <a:schemeClr val="tx1"/>
                </a:solidFill>
              </a:rPr>
              <a:t>Sends readings to cloud</a:t>
            </a:r>
            <a:endParaRPr lang="en-US" sz="1100" dirty="0"/>
          </a:p>
        </p:txBody>
      </p:sp>
      <p:sp>
        <p:nvSpPr>
          <p:cNvPr id="25" name="arrow 30"/>
          <p:cNvSpPr/>
          <p:nvPr/>
        </p:nvSpPr>
        <p:spPr>
          <a:xfrm>
            <a:off x="3677717" y="2779776"/>
            <a:ext cx="201168" cy="0"/>
          </a:xfrm>
          <a:prstGeom prst="line">
            <a:avLst/>
          </a:prstGeom>
          <a:noFill/>
          <a:ln w="19050">
            <a:solidFill>
              <a:schemeClr val="accent1"/>
            </a:solidFill>
            <a:prstDash val="solid"/>
            <a:tailEnd type="triangle"/>
          </a:ln>
        </p:spPr>
      </p:sp>
      <p:sp>
        <p:nvSpPr>
          <p:cNvPr id="26" name="flow FloraVision AI"/>
          <p:cNvSpPr/>
          <p:nvPr/>
        </p:nvSpPr>
        <p:spPr>
          <a:xfrm>
            <a:off x="3906317" y="2423160"/>
            <a:ext cx="1331366" cy="713232"/>
          </a:xfrm>
          <a:prstGeom prst="roundRect">
            <a:avLst>
              <a:gd name="adj" fmla="val 10256"/>
            </a:avLst>
          </a:prstGeom>
          <a:solidFill>
            <a:schemeClr val="accent1"/>
          </a:solidFill>
          <a:ln w="12700">
            <a:solidFill>
              <a:schemeClr val="accent1"/>
            </a:solidFill>
            <a:prstDash val="solid"/>
          </a:ln>
        </p:spPr>
      </p:sp>
      <p:sp>
        <p:nvSpPr>
          <p:cNvPr id="27" name="flow text 31"/>
          <p:cNvSpPr txBox="1"/>
          <p:nvPr/>
        </p:nvSpPr>
        <p:spPr>
          <a:xfrm>
            <a:off x="3906317" y="2423160"/>
            <a:ext cx="1331366" cy="713232"/>
          </a:xfrm>
          <a:prstGeom prst="rect">
            <a:avLst/>
          </a:prstGeom>
          <a:noFill/>
          <a:ln/>
        </p:spPr>
        <p:txBody>
          <a:bodyPr wrap="square" lIns="38100" tIns="38100" rIns="38100" bIns="38100" rtlCol="0" anchor="ctr"/>
          <a:lstStyle/>
          <a:p>
            <a:pPr marL="0" indent="0" algn="ctr">
              <a:buNone/>
            </a:pPr>
            <a:r>
              <a:rPr lang="en-US" sz="1100" b="1" dirty="0">
                <a:solidFill>
                  <a:schemeClr val="bg1"/>
                </a:solidFill>
              </a:rPr>
              <a:t>FloraVision AI</a:t>
            </a:r>
            <a:endParaRPr lang="en-US" sz="1100" dirty="0"/>
          </a:p>
          <a:p>
            <a:pPr marL="0" indent="0" algn="ctr">
              <a:buNone/>
            </a:pPr>
            <a:r>
              <a:rPr lang="en-US" sz="950" dirty="0">
                <a:solidFill>
                  <a:schemeClr val="bg1"/>
                </a:solidFill>
              </a:rPr>
              <a:t>Water plan + Leaf Doctor</a:t>
            </a:r>
            <a:endParaRPr lang="en-US" sz="1100" dirty="0"/>
          </a:p>
        </p:txBody>
      </p:sp>
      <p:sp>
        <p:nvSpPr>
          <p:cNvPr id="28" name="arrow 32"/>
          <p:cNvSpPr/>
          <p:nvPr/>
        </p:nvSpPr>
        <p:spPr>
          <a:xfrm>
            <a:off x="5265115" y="2779776"/>
            <a:ext cx="201168" cy="0"/>
          </a:xfrm>
          <a:prstGeom prst="line">
            <a:avLst/>
          </a:prstGeom>
          <a:noFill/>
          <a:ln w="19050">
            <a:solidFill>
              <a:schemeClr val="accent1"/>
            </a:solidFill>
            <a:prstDash val="solid"/>
            <a:tailEnd type="triangle"/>
          </a:ln>
        </p:spPr>
      </p:sp>
      <p:sp>
        <p:nvSpPr>
          <p:cNvPr id="29" name="flow Irrigation"/>
          <p:cNvSpPr/>
          <p:nvPr/>
        </p:nvSpPr>
        <p:spPr>
          <a:xfrm>
            <a:off x="5493715" y="2423160"/>
            <a:ext cx="1331366" cy="713232"/>
          </a:xfrm>
          <a:prstGeom prst="roundRect">
            <a:avLst>
              <a:gd name="adj" fmla="val 10256"/>
            </a:avLst>
          </a:prstGeom>
          <a:solidFill>
            <a:schemeClr val="bg2"/>
          </a:solidFill>
          <a:ln w="12700">
            <a:solidFill>
              <a:schemeClr val="bg2"/>
            </a:solidFill>
            <a:prstDash val="solid"/>
          </a:ln>
        </p:spPr>
      </p:sp>
      <p:sp>
        <p:nvSpPr>
          <p:cNvPr id="30" name="flow text 33"/>
          <p:cNvSpPr txBox="1"/>
          <p:nvPr/>
        </p:nvSpPr>
        <p:spPr>
          <a:xfrm>
            <a:off x="5493715" y="2423160"/>
            <a:ext cx="1331366" cy="713232"/>
          </a:xfrm>
          <a:prstGeom prst="rect">
            <a:avLst/>
          </a:prstGeom>
          <a:noFill/>
          <a:ln/>
        </p:spPr>
        <p:txBody>
          <a:bodyPr wrap="square" lIns="38100" tIns="38100" rIns="38100" bIns="38100" rtlCol="0" anchor="ctr"/>
          <a:lstStyle/>
          <a:p>
            <a:pPr marL="0" indent="0" algn="ctr">
              <a:buNone/>
            </a:pPr>
            <a:r>
              <a:rPr lang="en-US" sz="1100" b="1" dirty="0">
                <a:solidFill>
                  <a:schemeClr val="tx2"/>
                </a:solidFill>
              </a:rPr>
              <a:t>Irrigation</a:t>
            </a:r>
            <a:endParaRPr lang="en-US" sz="1100" dirty="0"/>
          </a:p>
          <a:p>
            <a:pPr marL="0" indent="0" algn="ctr">
              <a:buNone/>
            </a:pPr>
            <a:r>
              <a:rPr lang="en-US" sz="950" dirty="0">
                <a:solidFill>
                  <a:schemeClr val="tx1"/>
                </a:solidFill>
              </a:rPr>
              <a:t>Pump and valves on/off</a:t>
            </a:r>
            <a:endParaRPr lang="en-US" sz="1100" dirty="0"/>
          </a:p>
        </p:txBody>
      </p:sp>
      <p:sp>
        <p:nvSpPr>
          <p:cNvPr id="31" name="arrow 34"/>
          <p:cNvSpPr/>
          <p:nvPr/>
        </p:nvSpPr>
        <p:spPr>
          <a:xfrm>
            <a:off x="6852514" y="2779776"/>
            <a:ext cx="201168" cy="0"/>
          </a:xfrm>
          <a:prstGeom prst="line">
            <a:avLst/>
          </a:prstGeom>
          <a:noFill/>
          <a:ln w="19050">
            <a:solidFill>
              <a:schemeClr val="accent1"/>
            </a:solidFill>
            <a:prstDash val="solid"/>
            <a:tailEnd type="triangle"/>
          </a:ln>
        </p:spPr>
      </p:sp>
      <p:sp>
        <p:nvSpPr>
          <p:cNvPr id="32" name="flow Farmer + buyer"/>
          <p:cNvSpPr/>
          <p:nvPr/>
        </p:nvSpPr>
        <p:spPr>
          <a:xfrm>
            <a:off x="7081114" y="2423160"/>
            <a:ext cx="1331366" cy="713232"/>
          </a:xfrm>
          <a:prstGeom prst="roundRect">
            <a:avLst>
              <a:gd name="adj" fmla="val 10256"/>
            </a:avLst>
          </a:prstGeom>
          <a:solidFill>
            <a:schemeClr val="bg2"/>
          </a:solidFill>
          <a:ln w="12700">
            <a:solidFill>
              <a:schemeClr val="bg2"/>
            </a:solidFill>
            <a:prstDash val="solid"/>
          </a:ln>
        </p:spPr>
      </p:sp>
      <p:sp>
        <p:nvSpPr>
          <p:cNvPr id="33" name="flow text 35"/>
          <p:cNvSpPr txBox="1"/>
          <p:nvPr/>
        </p:nvSpPr>
        <p:spPr>
          <a:xfrm>
            <a:off x="7081114" y="2423160"/>
            <a:ext cx="1331366" cy="713232"/>
          </a:xfrm>
          <a:prstGeom prst="rect">
            <a:avLst/>
          </a:prstGeom>
          <a:noFill/>
          <a:ln/>
        </p:spPr>
        <p:txBody>
          <a:bodyPr wrap="square" lIns="38100" tIns="38100" rIns="38100" bIns="38100" rtlCol="0" anchor="ctr"/>
          <a:lstStyle/>
          <a:p>
            <a:pPr marL="0" indent="0" algn="ctr">
              <a:buNone/>
            </a:pPr>
            <a:r>
              <a:rPr lang="en-US" sz="1100" b="1" dirty="0">
                <a:solidFill>
                  <a:schemeClr val="tx2"/>
                </a:solidFill>
              </a:rPr>
              <a:t>Farmer + buyer</a:t>
            </a:r>
            <a:endParaRPr lang="en-US" sz="1100" dirty="0"/>
          </a:p>
          <a:p>
            <a:pPr marL="0" indent="0" algn="ctr">
              <a:buNone/>
            </a:pPr>
            <a:r>
              <a:rPr lang="en-US" sz="950" dirty="0">
                <a:solidFill>
                  <a:schemeClr val="tx1"/>
                </a:solidFill>
              </a:rPr>
              <a:t>Alerts, crop status</a:t>
            </a:r>
            <a:endParaRPr lang="en-US" sz="1100" dirty="0"/>
          </a:p>
        </p:txBody>
      </p:sp>
      <p:sp>
        <p:nvSpPr>
          <p:cNvPr id="34" name="diagram caption"/>
          <p:cNvSpPr txBox="1"/>
          <p:nvPr/>
        </p:nvSpPr>
        <p:spPr>
          <a:xfrm>
            <a:off x="548640" y="3456432"/>
            <a:ext cx="8046720" cy="594360"/>
          </a:xfrm>
          <a:prstGeom prst="rect">
            <a:avLst/>
          </a:prstGeom>
          <a:noFill/>
          <a:ln/>
        </p:spPr>
        <p:txBody>
          <a:bodyPr wrap="square" lIns="0" tIns="0" rIns="0" bIns="0" rtlCol="0" anchor="ctr"/>
          <a:lstStyle/>
          <a:p>
            <a:pPr marL="0" indent="0" algn="ctr">
              <a:buNone/>
            </a:pPr>
            <a:r>
              <a:rPr lang="en-US" sz="1300" dirty="0">
                <a:solidFill>
                  <a:schemeClr val="tx1"/>
                </a:solidFill>
              </a:rPr>
              <a:t>One backend runs the marketplace today; Phase 2 adds sensors and the Leaf Doctor model at the edge. Data always flows one way: from the field, through the AI, to the farmer and the buyer.</a:t>
            </a:r>
            <a:endParaRPr lang="en-US" sz="1300" dirty="0"/>
          </a:p>
        </p:txBody>
      </p:sp>
      <p:sp>
        <p:nvSpPr>
          <p:cNvPr id="35" name="tech stack box"/>
          <p:cNvSpPr/>
          <p:nvPr/>
        </p:nvSpPr>
        <p:spPr>
          <a:xfrm>
            <a:off x="548640" y="4160520"/>
            <a:ext cx="8046720" cy="2240280"/>
          </a:xfrm>
          <a:prstGeom prst="roundRect">
            <a:avLst>
              <a:gd name="adj" fmla="val 3265"/>
            </a:avLst>
          </a:prstGeom>
          <a:solidFill>
            <a:schemeClr val="bg2"/>
          </a:solidFill>
          <a:ln w="12700">
            <a:solidFill>
              <a:schemeClr val="bg2"/>
            </a:solidFill>
            <a:prstDash val="solid"/>
          </a:ln>
        </p:spPr>
      </p:sp>
      <p:sp>
        <p:nvSpPr>
          <p:cNvPr id="36" name="tech stack heading"/>
          <p:cNvSpPr txBox="1"/>
          <p:nvPr/>
        </p:nvSpPr>
        <p:spPr>
          <a:xfrm>
            <a:off x="777240" y="4251960"/>
            <a:ext cx="7315200" cy="320040"/>
          </a:xfrm>
          <a:prstGeom prst="rect">
            <a:avLst/>
          </a:prstGeom>
          <a:noFill/>
          <a:ln/>
        </p:spPr>
        <p:txBody>
          <a:bodyPr wrap="square" lIns="0" tIns="0" rIns="0" bIns="0" rtlCol="0" anchor="ctr"/>
          <a:lstStyle/>
          <a:p>
            <a:pPr marL="0" indent="0">
              <a:buNone/>
            </a:pPr>
            <a:r>
              <a:rPr lang="en-US" sz="1500" b="1" dirty="0">
                <a:solidFill>
                  <a:schemeClr val="tx1"/>
                </a:solidFill>
              </a:rPr>
              <a:t>Tech Stack</a:t>
            </a:r>
            <a:endParaRPr lang="en-US" sz="1500" dirty="0"/>
          </a:p>
        </p:txBody>
      </p:sp>
      <p:sp>
        <p:nvSpPr>
          <p:cNvPr id="37" name="stack frontend"/>
          <p:cNvSpPr txBox="1"/>
          <p:nvPr/>
        </p:nvSpPr>
        <p:spPr>
          <a:xfrm>
            <a:off x="777240" y="4617720"/>
            <a:ext cx="3749040" cy="822960"/>
          </a:xfrm>
          <a:prstGeom prst="rect">
            <a:avLst/>
          </a:prstGeom>
          <a:noFill/>
          <a:ln/>
        </p:spPr>
        <p:txBody>
          <a:bodyPr wrap="square" lIns="0" tIns="0" rIns="0" bIns="0" rtlCol="0" anchor="t"/>
          <a:lstStyle/>
          <a:p>
            <a:pPr marL="0" indent="0">
              <a:buNone/>
            </a:pPr>
            <a:r>
              <a:rPr lang="en-US" sz="1250" b="1" dirty="0">
                <a:solidFill>
                  <a:schemeClr val="tx1"/>
                </a:solidFill>
              </a:rPr>
              <a:t>Frontend: </a:t>
            </a:r>
            <a:r>
              <a:rPr lang="en-US" sz="1250" dirty="0">
                <a:solidFill>
                  <a:schemeClr val="tx1"/>
                </a:solidFill>
              </a:rPr>
              <a:t>React + Capacitor Android app, 14 languages, works offline</a:t>
            </a:r>
            <a:endParaRPr lang="en-US" sz="1250" dirty="0"/>
          </a:p>
        </p:txBody>
      </p:sp>
      <p:sp>
        <p:nvSpPr>
          <p:cNvPr id="38" name="stack backend"/>
          <p:cNvSpPr txBox="1"/>
          <p:nvPr/>
        </p:nvSpPr>
        <p:spPr>
          <a:xfrm>
            <a:off x="777240" y="5440680"/>
            <a:ext cx="3749040" cy="868680"/>
          </a:xfrm>
          <a:prstGeom prst="rect">
            <a:avLst/>
          </a:prstGeom>
          <a:noFill/>
          <a:ln/>
        </p:spPr>
        <p:txBody>
          <a:bodyPr wrap="square" lIns="0" tIns="0" rIns="0" bIns="0" rtlCol="0" anchor="t"/>
          <a:lstStyle/>
          <a:p>
            <a:pPr marL="0" indent="0">
              <a:buNone/>
            </a:pPr>
            <a:r>
              <a:rPr lang="en-US" sz="1250" b="1" dirty="0">
                <a:solidFill>
                  <a:schemeClr val="tx1"/>
                </a:solidFill>
              </a:rPr>
              <a:t>Backend: </a:t>
            </a:r>
            <a:r>
              <a:rPr lang="en-US" sz="1250" dirty="0">
                <a:solidFill>
                  <a:schemeClr val="tx1"/>
                </a:solidFill>
              </a:rPr>
              <a:t>Node + Express: accounts, escrow, fair-price settlement, planner, AI safety rules</a:t>
            </a:r>
            <a:endParaRPr lang="en-US" sz="1250" dirty="0"/>
          </a:p>
        </p:txBody>
      </p:sp>
      <p:sp>
        <p:nvSpPr>
          <p:cNvPr id="39" name="stack database"/>
          <p:cNvSpPr txBox="1"/>
          <p:nvPr/>
        </p:nvSpPr>
        <p:spPr>
          <a:xfrm>
            <a:off x="4709160" y="4617720"/>
            <a:ext cx="3749040" cy="822960"/>
          </a:xfrm>
          <a:prstGeom prst="rect">
            <a:avLst/>
          </a:prstGeom>
          <a:noFill/>
          <a:ln/>
        </p:spPr>
        <p:txBody>
          <a:bodyPr wrap="square" lIns="0" tIns="0" rIns="0" bIns="0" rtlCol="0" anchor="t"/>
          <a:lstStyle/>
          <a:p>
            <a:pPr marL="0" indent="0">
              <a:buNone/>
            </a:pPr>
            <a:r>
              <a:rPr lang="en-US" sz="1250" b="1" dirty="0">
                <a:solidFill>
                  <a:schemeClr val="tx1"/>
                </a:solidFill>
              </a:rPr>
              <a:t>Database: </a:t>
            </a:r>
            <a:r>
              <a:rPr lang="en-US" sz="1250" dirty="0">
                <a:solidFill>
                  <a:schemeClr val="tx1"/>
                </a:solidFill>
              </a:rPr>
              <a:t>PostgreSQL (users, orders, prices, trust scores)</a:t>
            </a:r>
            <a:endParaRPr lang="en-US" sz="1250" dirty="0"/>
          </a:p>
        </p:txBody>
      </p:sp>
      <p:sp>
        <p:nvSpPr>
          <p:cNvPr id="40" name="stack ai"/>
          <p:cNvSpPr txBox="1"/>
          <p:nvPr/>
        </p:nvSpPr>
        <p:spPr>
          <a:xfrm>
            <a:off x="4709160" y="5440680"/>
            <a:ext cx="3749040" cy="868680"/>
          </a:xfrm>
          <a:prstGeom prst="rect">
            <a:avLst/>
          </a:prstGeom>
          <a:noFill/>
          <a:ln/>
        </p:spPr>
        <p:txBody>
          <a:bodyPr wrap="square" lIns="0" tIns="0" rIns="0" bIns="0" rtlCol="0" anchor="t"/>
          <a:lstStyle/>
          <a:p>
            <a:pPr marL="0" indent="0">
              <a:buNone/>
            </a:pPr>
            <a:r>
              <a:rPr lang="en-US" sz="1250" b="1" dirty="0">
                <a:solidFill>
                  <a:schemeClr val="tx1"/>
                </a:solidFill>
              </a:rPr>
              <a:t>AI/ML, APIs, Hardware: </a:t>
            </a:r>
            <a:r>
              <a:rPr lang="en-US" sz="1250" dirty="0">
                <a:solidFill>
                  <a:schemeClr val="tx1"/>
                </a:solidFill>
              </a:rPr>
              <a:t>Gemini (chat; Leaf Doctor in Phase 2), Open-Meteo weather, licensed UPI escrow; Phase 2 soil probes, flow meters, pump controller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Innovation &amp; Uniqueness</a:t>
            </a:r>
            <a:endParaRPr lang="en-US" sz="2400" dirty="0"/>
          </a:p>
        </p:txBody>
      </p:sp>
      <p:sp>
        <p:nvSpPr>
          <p:cNvPr id="3" name="bullets 36"/>
          <p:cNvSpPr txBox="1"/>
          <p:nvPr/>
        </p:nvSpPr>
        <p:spPr>
          <a:xfrm>
            <a:off x="548640" y="1005840"/>
            <a:ext cx="8046720" cy="3840480"/>
          </a:xfrm>
          <a:prstGeom prst="rect">
            <a:avLst/>
          </a:prstGeom>
          <a:noFill/>
          <a:ln/>
        </p:spPr>
        <p:txBody>
          <a:bodyPr wrap="square" lIns="0" tIns="0" rIns="0" bIns="0" rtlCol="0" anchor="ctr"/>
          <a:lstStyle/>
          <a:p>
            <a:pPr marL="279400" indent="-279400">
              <a:spcAft>
                <a:spcPts val="1600"/>
              </a:spcAft>
              <a:buClr>
                <a:schemeClr val="accent1"/>
              </a:buClr>
              <a:buSzPct val="70000"/>
              <a:buChar char="■"/>
            </a:pPr>
            <a:r>
              <a:rPr lang="en-US" sz="1700" b="1" dirty="0">
                <a:solidFill>
                  <a:schemeClr val="tx2"/>
                </a:solidFill>
              </a:rPr>
              <a:t>What is new: </a:t>
            </a:r>
            <a:r>
              <a:rPr lang="en-US" sz="1700" dirty="0">
                <a:solidFill>
                  <a:schemeClr val="tx1"/>
                </a:solidFill>
              </a:rPr>
              <a:t>demand comes first. Buyers commit and fund an advance before sowing, instead of bidding after harvest.</a:t>
            </a:r>
            <a:endParaRPr lang="en-US" sz="1700" dirty="0"/>
          </a:p>
          <a:p>
            <a:pPr marL="279400" indent="-279400">
              <a:spcAft>
                <a:spcPts val="1600"/>
              </a:spcAft>
              <a:buClr>
                <a:schemeClr val="accent1"/>
              </a:buClr>
              <a:buSzPct val="70000"/>
              <a:buChar char="■"/>
            </a:pPr>
            <a:r>
              <a:rPr lang="en-US" sz="1700" b="1" dirty="0">
                <a:solidFill>
                  <a:schemeClr val="tx2"/>
                </a:solidFill>
              </a:rPr>
              <a:t>Why it suits the problem: </a:t>
            </a:r>
            <a:r>
              <a:rPr lang="en-US" sz="1700" dirty="0">
                <a:solidFill>
                  <a:schemeClr val="tx1"/>
                </a:solidFill>
              </a:rPr>
              <a:t>the advance is held in escrow and released in stages against check-ins, and the fair-price formula shares any market rise, so side-selling pays less.</a:t>
            </a:r>
            <a:endParaRPr lang="en-US" sz="1700" dirty="0"/>
          </a:p>
          <a:p>
            <a:pPr marL="279400" indent="-279400">
              <a:spcAft>
                <a:spcPts val="1600"/>
              </a:spcAft>
              <a:buClr>
                <a:schemeClr val="accent1"/>
              </a:buClr>
              <a:buSzPct val="70000"/>
              <a:buChar char="■"/>
            </a:pPr>
            <a:r>
              <a:rPr lang="en-US" sz="1700" b="1" dirty="0">
                <a:solidFill>
                  <a:schemeClr val="tx2"/>
                </a:solidFill>
              </a:rPr>
              <a:t>Key differentiator: </a:t>
            </a:r>
            <a:r>
              <a:rPr lang="en-US" sz="1700" dirty="0">
                <a:solidFill>
                  <a:schemeClr val="tx1"/>
                </a:solidFill>
              </a:rPr>
              <a:t>a trust score built from every order's delivery and payment record, in a Tamil-first, voice-first app. It makes a pre-planting promise safe for both sides.</a:t>
            </a:r>
            <a:endParaRPr lang="en-US" sz="1700" dirty="0"/>
          </a:p>
        </p:txBody>
      </p:sp>
      <p:sp>
        <p:nvSpPr>
          <p:cNvPr id="4" name="formula box"/>
          <p:cNvSpPr/>
          <p:nvPr/>
        </p:nvSpPr>
        <p:spPr>
          <a:xfrm>
            <a:off x="548640" y="5029200"/>
            <a:ext cx="8046720" cy="1325880"/>
          </a:xfrm>
          <a:prstGeom prst="roundRect">
            <a:avLst>
              <a:gd name="adj" fmla="val 5517"/>
            </a:avLst>
          </a:prstGeom>
          <a:solidFill>
            <a:schemeClr val="bg2"/>
          </a:solidFill>
          <a:ln w="12700">
            <a:solidFill>
              <a:schemeClr val="bg2"/>
            </a:solidFill>
            <a:prstDash val="solid"/>
          </a:ln>
        </p:spPr>
      </p:sp>
      <p:sp>
        <p:nvSpPr>
          <p:cNvPr id="5" name="formula text"/>
          <p:cNvSpPr txBox="1"/>
          <p:nvPr/>
        </p:nvSpPr>
        <p:spPr>
          <a:xfrm>
            <a:off x="777240" y="5029200"/>
            <a:ext cx="7589520" cy="1325880"/>
          </a:xfrm>
          <a:prstGeom prst="rect">
            <a:avLst/>
          </a:prstGeom>
          <a:noFill/>
          <a:ln/>
        </p:spPr>
        <p:txBody>
          <a:bodyPr wrap="square" lIns="0" tIns="0" rIns="0" bIns="0" rtlCol="0" anchor="ctr"/>
          <a:lstStyle/>
          <a:p>
            <a:pPr marL="0" indent="0">
              <a:spcAft>
                <a:spcPts val="400"/>
              </a:spcAft>
              <a:buNone/>
            </a:pPr>
            <a:r>
              <a:rPr lang="en-US" sz="1400" b="1" dirty="0">
                <a:solidFill>
                  <a:schemeClr val="tx2"/>
                </a:solidFill>
              </a:rPr>
              <a:t>Final price = floor + 50% of any market rise, capped at the ceiling</a:t>
            </a:r>
            <a:endParaRPr lang="en-US" sz="1400" dirty="0"/>
          </a:p>
          <a:p>
            <a:pPr marL="0" indent="0">
              <a:spcAft>
                <a:spcPts val="400"/>
              </a:spcAft>
              <a:buNone/>
            </a:pPr>
            <a:r>
              <a:rPr lang="en-US" sz="1400" dirty="0">
                <a:solidFill>
                  <a:schemeClr val="tx1"/>
                </a:solidFill>
              </a:rPr>
              <a:t>Brinjal: floor ₹24, ceiling ₹34. Market ₹28 → ₹24 + ½ × (₹28 − ₹24) = ₹26/kg. Market ₹20 → the farmer still gets ₹24.</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Feasibility &amp; Scalability</a:t>
            </a:r>
            <a:endParaRPr lang="en-US" sz="2400" dirty="0"/>
          </a:p>
        </p:txBody>
      </p:sp>
      <p:sp>
        <p:nvSpPr>
          <p:cNvPr id="3" name="bullets 37"/>
          <p:cNvSpPr txBox="1"/>
          <p:nvPr/>
        </p:nvSpPr>
        <p:spPr>
          <a:xfrm>
            <a:off x="548640" y="914400"/>
            <a:ext cx="8046720" cy="4069080"/>
          </a:xfrm>
          <a:prstGeom prst="rect">
            <a:avLst/>
          </a:prstGeom>
          <a:noFill/>
          <a:ln/>
        </p:spPr>
        <p:txBody>
          <a:bodyPr wrap="square" lIns="0" tIns="0" rIns="0" bIns="0" rtlCol="0" anchor="ctr"/>
          <a:lstStyle/>
          <a:p>
            <a:pPr marL="279400" indent="-279400">
              <a:spcAft>
                <a:spcPts val="1200"/>
              </a:spcAft>
              <a:buClr>
                <a:schemeClr val="accent1"/>
              </a:buClr>
              <a:buSzPct val="70000"/>
              <a:buChar char="■"/>
            </a:pPr>
            <a:r>
              <a:rPr lang="en-US" sz="1500" b="1" dirty="0">
                <a:solidFill>
                  <a:schemeClr val="tx2"/>
                </a:solidFill>
              </a:rPr>
              <a:t>Feasibility: </a:t>
            </a:r>
            <a:r>
              <a:rPr lang="en-US" sz="1500" dirty="0">
                <a:solidFill>
                  <a:schemeClr val="tx1"/>
                </a:solidFill>
              </a:rPr>
              <a:t>Phase 1 is software-only and already running on Android: orders, escrow, fair-price settlement, planner and chat, with 29 server tests. We need one farmer group near Coimbatore (~10 farmers), our hostel mess as first buyer, and a licensed UPI escrow partner.</a:t>
            </a:r>
            <a:endParaRPr lang="en-US" sz="1500" dirty="0"/>
          </a:p>
          <a:p>
            <a:pPr marL="279400" indent="-279400">
              <a:spcAft>
                <a:spcPts val="1200"/>
              </a:spcAft>
              <a:buClr>
                <a:schemeClr val="accent1"/>
              </a:buClr>
              <a:buSzPct val="70000"/>
              <a:buChar char="■"/>
            </a:pPr>
            <a:r>
              <a:rPr lang="en-US" sz="1500" b="1" dirty="0">
                <a:solidFill>
                  <a:schemeClr val="tx2"/>
                </a:solidFill>
              </a:rPr>
              <a:t>Scalability: </a:t>
            </a:r>
            <a:r>
              <a:rPr lang="en-US" sz="1500" dirty="0">
                <a:solidFill>
                  <a:schemeClr val="tx1"/>
                </a:solidFill>
              </a:rPr>
              <a:t>one backend serves every phase; a Phase 2 village gateway is shared by 15–25 farms. Each phase starts only when the previous gate is met.</a:t>
            </a:r>
            <a:endParaRPr lang="en-US" sz="1500" dirty="0"/>
          </a:p>
          <a:p>
            <a:pPr marL="279400" indent="-279400">
              <a:spcAft>
                <a:spcPts val="1200"/>
              </a:spcAft>
              <a:buClr>
                <a:schemeClr val="accent1"/>
              </a:buClr>
              <a:buSzPct val="70000"/>
              <a:buChar char="■"/>
            </a:pPr>
            <a:r>
              <a:rPr lang="en-US" sz="1500" b="1" dirty="0">
                <a:solidFill>
                  <a:schemeClr val="tx2"/>
                </a:solidFill>
              </a:rPr>
              <a:t>Risks: </a:t>
            </a:r>
            <a:r>
              <a:rPr lang="en-US" sz="1500" dirty="0">
                <a:solidFill>
                  <a:schemeClr val="tx1"/>
                </a:solidFill>
              </a:rPr>
              <a:t>side-selling and non-delivery → staged escrow, shared upside, trust score. Payments → a licensed aggregator, so we never hold farmers' money. Wrong AI advice → answer only when confident, else an expert.</a:t>
            </a:r>
            <a:endParaRPr lang="en-US" sz="1500" dirty="0"/>
          </a:p>
        </p:txBody>
      </p:sp>
      <p:sp>
        <p:nvSpPr>
          <p:cNvPr id="4" name="phase 1"/>
          <p:cNvSpPr/>
          <p:nvPr/>
        </p:nvSpPr>
        <p:spPr>
          <a:xfrm>
            <a:off x="548640" y="5120640"/>
            <a:ext cx="2468880" cy="1234440"/>
          </a:xfrm>
          <a:prstGeom prst="roundRect">
            <a:avLst>
              <a:gd name="adj" fmla="val 5926"/>
            </a:avLst>
          </a:prstGeom>
          <a:solidFill>
            <a:schemeClr val="accent1"/>
          </a:solidFill>
          <a:ln w="12700">
            <a:solidFill>
              <a:schemeClr val="accent1"/>
            </a:solidFill>
            <a:prstDash val="solid"/>
          </a:ln>
        </p:spPr>
      </p:sp>
      <p:sp>
        <p:nvSpPr>
          <p:cNvPr id="5" name="phase text 38"/>
          <p:cNvSpPr txBox="1"/>
          <p:nvPr/>
        </p:nvSpPr>
        <p:spPr>
          <a:xfrm>
            <a:off x="685800" y="5120640"/>
            <a:ext cx="2194560" cy="1234440"/>
          </a:xfrm>
          <a:prstGeom prst="rect">
            <a:avLst/>
          </a:prstGeom>
          <a:noFill/>
          <a:ln/>
        </p:spPr>
        <p:txBody>
          <a:bodyPr wrap="square" lIns="0" tIns="0" rIns="0" bIns="0" rtlCol="0" anchor="ctr"/>
          <a:lstStyle/>
          <a:p>
            <a:pPr marL="0" indent="0">
              <a:buNone/>
            </a:pPr>
            <a:r>
              <a:rPr lang="en-US" sz="1100" dirty="0">
                <a:solidFill>
                  <a:schemeClr val="bg1"/>
                </a:solidFill>
              </a:rPr>
              <a:t>Phase 1 · 0–6 mo</a:t>
            </a:r>
            <a:endParaRPr lang="en-US" sz="1100" dirty="0"/>
          </a:p>
          <a:p>
            <a:pPr marL="0" indent="0">
              <a:buNone/>
            </a:pPr>
            <a:r>
              <a:rPr lang="en-US" sz="1500" b="1" dirty="0">
                <a:solidFill>
                  <a:schemeClr val="bg1"/>
                </a:solidFill>
              </a:rPr>
              <a:t>Marketplace</a:t>
            </a:r>
            <a:endParaRPr lang="en-US" sz="1100" dirty="0"/>
          </a:p>
          <a:p>
            <a:pPr marL="0" indent="0">
              <a:buNone/>
            </a:pPr>
            <a:r>
              <a:rPr lang="en-US" sz="1150" dirty="0">
                <a:solidFill>
                  <a:schemeClr val="bg1"/>
                </a:solidFill>
              </a:rPr>
              <a:t>Pre-sold harvest, escrow, chat, planner</a:t>
            </a:r>
            <a:endParaRPr lang="en-US" sz="1100" dirty="0"/>
          </a:p>
        </p:txBody>
      </p:sp>
      <p:sp>
        <p:nvSpPr>
          <p:cNvPr id="6" name="arrow 39"/>
          <p:cNvSpPr/>
          <p:nvPr/>
        </p:nvSpPr>
        <p:spPr>
          <a:xfrm>
            <a:off x="3054096" y="5737860"/>
            <a:ext cx="246888" cy="0"/>
          </a:xfrm>
          <a:prstGeom prst="line">
            <a:avLst/>
          </a:prstGeom>
          <a:noFill/>
          <a:ln w="19050">
            <a:solidFill>
              <a:schemeClr val="accent1"/>
            </a:solidFill>
            <a:prstDash val="solid"/>
            <a:tailEnd type="triangle"/>
          </a:ln>
        </p:spPr>
      </p:sp>
      <p:sp>
        <p:nvSpPr>
          <p:cNvPr id="7" name="phase 2"/>
          <p:cNvSpPr/>
          <p:nvPr/>
        </p:nvSpPr>
        <p:spPr>
          <a:xfrm>
            <a:off x="3337560" y="5120640"/>
            <a:ext cx="2468880" cy="1234440"/>
          </a:xfrm>
          <a:prstGeom prst="roundRect">
            <a:avLst>
              <a:gd name="adj" fmla="val 5926"/>
            </a:avLst>
          </a:prstGeom>
          <a:solidFill>
            <a:schemeClr val="bg2"/>
          </a:solidFill>
          <a:ln w="12700">
            <a:solidFill>
              <a:schemeClr val="bg2"/>
            </a:solidFill>
            <a:prstDash val="solid"/>
          </a:ln>
        </p:spPr>
      </p:sp>
      <p:sp>
        <p:nvSpPr>
          <p:cNvPr id="8" name="phase text 40"/>
          <p:cNvSpPr txBox="1"/>
          <p:nvPr/>
        </p:nvSpPr>
        <p:spPr>
          <a:xfrm>
            <a:off x="3474720" y="5120640"/>
            <a:ext cx="2194560" cy="1234440"/>
          </a:xfrm>
          <a:prstGeom prst="rect">
            <a:avLst/>
          </a:prstGeom>
          <a:noFill/>
          <a:ln/>
        </p:spPr>
        <p:txBody>
          <a:bodyPr wrap="square" lIns="0" tIns="0" rIns="0" bIns="0" rtlCol="0" anchor="ctr"/>
          <a:lstStyle/>
          <a:p>
            <a:pPr marL="0" indent="0">
              <a:buNone/>
            </a:pPr>
            <a:r>
              <a:rPr lang="en-US" sz="1100" dirty="0">
                <a:solidFill>
                  <a:schemeClr val="tx1"/>
                </a:solidFill>
              </a:rPr>
              <a:t>Phase 2 · 6–18 mo</a:t>
            </a:r>
            <a:endParaRPr lang="en-US" sz="1100" dirty="0"/>
          </a:p>
          <a:p>
            <a:pPr marL="0" indent="0">
              <a:buNone/>
            </a:pPr>
            <a:r>
              <a:rPr lang="en-US" sz="1500" b="1" dirty="0">
                <a:solidFill>
                  <a:schemeClr val="tx2"/>
                </a:solidFill>
              </a:rPr>
              <a:t>Smart farm</a:t>
            </a:r>
            <a:endParaRPr lang="en-US" sz="1100" dirty="0"/>
          </a:p>
          <a:p>
            <a:pPr marL="0" indent="0">
              <a:buNone/>
            </a:pPr>
            <a:r>
              <a:rPr lang="en-US" sz="1150" dirty="0">
                <a:solidFill>
                  <a:schemeClr val="tx1"/>
                </a:solidFill>
              </a:rPr>
              <a:t>Sensors, irrigation, Leaf Doctor</a:t>
            </a:r>
            <a:endParaRPr lang="en-US" sz="1100" dirty="0"/>
          </a:p>
        </p:txBody>
      </p:sp>
      <p:sp>
        <p:nvSpPr>
          <p:cNvPr id="9" name="arrow 41"/>
          <p:cNvSpPr/>
          <p:nvPr/>
        </p:nvSpPr>
        <p:spPr>
          <a:xfrm>
            <a:off x="5843016" y="5737860"/>
            <a:ext cx="246888" cy="0"/>
          </a:xfrm>
          <a:prstGeom prst="line">
            <a:avLst/>
          </a:prstGeom>
          <a:noFill/>
          <a:ln w="19050">
            <a:solidFill>
              <a:schemeClr val="accent1"/>
            </a:solidFill>
            <a:prstDash val="solid"/>
            <a:tailEnd type="triangle"/>
          </a:ln>
        </p:spPr>
      </p:sp>
      <p:sp>
        <p:nvSpPr>
          <p:cNvPr id="10" name="phase 3"/>
          <p:cNvSpPr/>
          <p:nvPr/>
        </p:nvSpPr>
        <p:spPr>
          <a:xfrm>
            <a:off x="6126480" y="5120640"/>
            <a:ext cx="2468880" cy="1234440"/>
          </a:xfrm>
          <a:prstGeom prst="roundRect">
            <a:avLst>
              <a:gd name="adj" fmla="val 5926"/>
            </a:avLst>
          </a:prstGeom>
          <a:solidFill>
            <a:schemeClr val="bg2"/>
          </a:solidFill>
          <a:ln w="12700">
            <a:solidFill>
              <a:schemeClr val="bg2"/>
            </a:solidFill>
            <a:prstDash val="solid"/>
          </a:ln>
        </p:spPr>
      </p:sp>
      <p:sp>
        <p:nvSpPr>
          <p:cNvPr id="11" name="phase text 42"/>
          <p:cNvSpPr txBox="1"/>
          <p:nvPr/>
        </p:nvSpPr>
        <p:spPr>
          <a:xfrm>
            <a:off x="6263640" y="5120640"/>
            <a:ext cx="2194560" cy="1234440"/>
          </a:xfrm>
          <a:prstGeom prst="rect">
            <a:avLst/>
          </a:prstGeom>
          <a:noFill/>
          <a:ln/>
        </p:spPr>
        <p:txBody>
          <a:bodyPr wrap="square" lIns="0" tIns="0" rIns="0" bIns="0" rtlCol="0" anchor="ctr"/>
          <a:lstStyle/>
          <a:p>
            <a:pPr marL="0" indent="0">
              <a:buNone/>
            </a:pPr>
            <a:r>
              <a:rPr lang="en-US" sz="1100" dirty="0">
                <a:solidFill>
                  <a:schemeClr val="tx1"/>
                </a:solidFill>
              </a:rPr>
              <a:t>Phase 3 · 18–36 mo</a:t>
            </a:r>
            <a:endParaRPr lang="en-US" sz="1100" dirty="0"/>
          </a:p>
          <a:p>
            <a:pPr marL="0" indent="0">
              <a:buNone/>
            </a:pPr>
            <a:r>
              <a:rPr lang="en-US" sz="1500" b="1" dirty="0">
                <a:solidFill>
                  <a:schemeClr val="tx2"/>
                </a:solidFill>
              </a:rPr>
              <a:t>Managed farm</a:t>
            </a:r>
            <a:endParaRPr lang="en-US" sz="1100" dirty="0"/>
          </a:p>
          <a:p>
            <a:pPr marL="0" indent="0">
              <a:buNone/>
            </a:pPr>
            <a:r>
              <a:rPr lang="en-US" sz="1150" dirty="0">
                <a:solidFill>
                  <a:schemeClr val="tx1"/>
                </a:solidFill>
              </a:rPr>
              <a:t>Net house, auto fertigation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Cost for Product</a:t>
            </a:r>
            <a:endParaRPr lang="en-US" sz="2400" dirty="0"/>
          </a:p>
        </p:txBody>
      </p:sp>
      <p:sp>
        <p:nvSpPr>
          <p:cNvPr id="3" name="bullets 43"/>
          <p:cNvSpPr txBox="1"/>
          <p:nvPr/>
        </p:nvSpPr>
        <p:spPr>
          <a:xfrm>
            <a:off x="548640" y="914400"/>
            <a:ext cx="8046720" cy="3611880"/>
          </a:xfrm>
          <a:prstGeom prst="rect">
            <a:avLst/>
          </a:prstGeom>
          <a:noFill/>
          <a:ln/>
        </p:spPr>
        <p:txBody>
          <a:bodyPr wrap="square" lIns="0" tIns="0" rIns="0" bIns="0" rtlCol="0" anchor="ctr"/>
          <a:lstStyle/>
          <a:p>
            <a:pPr marL="279400" indent="-279400">
              <a:spcAft>
                <a:spcPts val="1400"/>
              </a:spcAft>
              <a:buClr>
                <a:schemeClr val="accent1"/>
              </a:buClr>
              <a:buSzPct val="70000"/>
              <a:buChar char="■"/>
            </a:pPr>
            <a:r>
              <a:rPr lang="en-US" sz="1600" b="1" dirty="0">
                <a:solidFill>
                  <a:schemeClr val="tx2"/>
                </a:solidFill>
              </a:rPr>
              <a:t>Development or hardware cost: </a:t>
            </a:r>
            <a:r>
              <a:rPr lang="en-US" sz="1600" dirty="0">
                <a:solidFill>
                  <a:schemeClr val="tx1"/>
                </a:solidFill>
              </a:rPr>
              <a:t>Phase 1 app: no licence cost (open-source stack, built by the team). Phase 2 kit: about ₹12,000 per farm, repaid from settled sales over two seasons; drip subsidy up to 55% (PMKSY).</a:t>
            </a:r>
            <a:endParaRPr lang="en-US" sz="1600" dirty="0"/>
          </a:p>
          <a:p>
            <a:pPr marL="279400" indent="-279400">
              <a:spcAft>
                <a:spcPts val="1400"/>
              </a:spcAft>
              <a:buClr>
                <a:schemeClr val="accent1"/>
              </a:buClr>
              <a:buSzPct val="70000"/>
              <a:buChar char="■"/>
            </a:pPr>
            <a:r>
              <a:rPr lang="en-US" sz="1600" b="1" dirty="0">
                <a:solidFill>
                  <a:schemeClr val="tx2"/>
                </a:solidFill>
              </a:rPr>
              <a:t>Hosting or maintenance cost: </a:t>
            </a:r>
            <a:r>
              <a:rPr lang="en-US" sz="1600" dirty="0">
                <a:solidFill>
                  <a:schemeClr val="tx1"/>
                </a:solidFill>
              </a:rPr>
              <a:t>cloud server, database, SMS and payment sandbox: about ₹3,000 per month for the pilot.</a:t>
            </a:r>
            <a:endParaRPr lang="en-US" sz="1600" dirty="0"/>
          </a:p>
          <a:p>
            <a:pPr marL="279400" indent="-279400">
              <a:spcAft>
                <a:spcPts val="1400"/>
              </a:spcAft>
              <a:buClr>
                <a:schemeClr val="accent1"/>
              </a:buClr>
              <a:buSzPct val="70000"/>
              <a:buChar char="■"/>
            </a:pPr>
            <a:r>
              <a:rPr lang="en-US" sz="1600" b="1" dirty="0">
                <a:solidFill>
                  <a:schemeClr val="tx2"/>
                </a:solidFill>
              </a:rPr>
              <a:t>Estimated total: </a:t>
            </a:r>
            <a:r>
              <a:rPr lang="en-US" sz="1600" dirty="0">
                <a:solidFill>
                  <a:schemeClr val="tx1"/>
                </a:solidFill>
              </a:rPr>
              <a:t>about ₹30,000 for a one-season software pilot (₹18,000 hosting for 6 months + ₹12,000 field visits and messaging).</a:t>
            </a:r>
            <a:endParaRPr lang="en-US" sz="1600" dirty="0"/>
          </a:p>
        </p:txBody>
      </p:sp>
      <p:sp>
        <p:nvSpPr>
          <p:cNvPr id="4" name="revenue box"/>
          <p:cNvSpPr/>
          <p:nvPr/>
        </p:nvSpPr>
        <p:spPr>
          <a:xfrm>
            <a:off x="548640" y="4663440"/>
            <a:ext cx="8046720" cy="1691640"/>
          </a:xfrm>
          <a:prstGeom prst="roundRect">
            <a:avLst>
              <a:gd name="adj" fmla="val 4324"/>
            </a:avLst>
          </a:prstGeom>
          <a:solidFill>
            <a:schemeClr val="bg2"/>
          </a:solidFill>
          <a:ln w="12700">
            <a:solidFill>
              <a:schemeClr val="bg2"/>
            </a:solidFill>
            <a:prstDash val="solid"/>
          </a:ln>
        </p:spPr>
      </p:sp>
      <p:sp>
        <p:nvSpPr>
          <p:cNvPr id="5" name="revenue text"/>
          <p:cNvSpPr txBox="1"/>
          <p:nvPr/>
        </p:nvSpPr>
        <p:spPr>
          <a:xfrm>
            <a:off x="777240" y="4663440"/>
            <a:ext cx="7589520" cy="1691640"/>
          </a:xfrm>
          <a:prstGeom prst="rect">
            <a:avLst/>
          </a:prstGeom>
          <a:noFill/>
          <a:ln/>
        </p:spPr>
        <p:txBody>
          <a:bodyPr wrap="square" lIns="0" tIns="0" rIns="0" bIns="0" rtlCol="0" anchor="ctr"/>
          <a:lstStyle/>
          <a:p>
            <a:pPr marL="0" indent="0">
              <a:spcAft>
                <a:spcPts val="400"/>
              </a:spcAft>
              <a:buNone/>
            </a:pPr>
            <a:r>
              <a:rPr lang="en-US" sz="1500" b="1" dirty="0">
                <a:solidFill>
                  <a:schemeClr val="tx2"/>
                </a:solidFill>
              </a:rPr>
              <a:t>How it pays for itself</a:t>
            </a:r>
            <a:endParaRPr lang="en-US" sz="1350" dirty="0"/>
          </a:p>
          <a:p>
            <a:pPr marL="0" indent="0">
              <a:spcAft>
                <a:spcPts val="400"/>
              </a:spcAft>
              <a:buNone/>
            </a:pPr>
            <a:r>
              <a:rPr lang="en-US" sz="1350" dirty="0">
                <a:solidFill>
                  <a:schemeClr val="tx1"/>
                </a:solidFill>
              </a:rPr>
              <a:t>Farmers: ₹0 to start.  Buyers: 2–3% fee per order for guaranteed supply and grade.</a:t>
            </a:r>
            <a:endParaRPr lang="en-US" sz="1350" dirty="0"/>
          </a:p>
          <a:p>
            <a:pPr marL="0" indent="0">
              <a:spcAft>
                <a:spcPts val="400"/>
              </a:spcAft>
              <a:buNone/>
            </a:pPr>
            <a:r>
              <a:rPr lang="en-US" sz="1350" dirty="0">
                <a:solidFill>
                  <a:schemeClr val="tx1"/>
                </a:solidFill>
              </a:rPr>
              <a:t>At full scale, one FPO of 100 farmers × 2 orders × ₹30,000 = ₹60 lakh in orders → ₹1.5 lakh at a 2.5% fee.</a:t>
            </a:r>
            <a:endParaRPr lang="en-US" sz="1350" dirty="0"/>
          </a:p>
          <a:p>
            <a:pPr marL="0" indent="0">
              <a:spcAft>
                <a:spcPts val="400"/>
              </a:spcAft>
              <a:buNone/>
            </a:pPr>
            <a:r>
              <a:rPr lang="en-US" sz="1100" i="1" dirty="0">
                <a:solidFill>
                  <a:schemeClr val="accent5"/>
                </a:solidFill>
              </a:rPr>
              <a:t>All figures are planning estimates, to be replaced with pilot data.</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Use Cases </a:t>
            </a:r>
            <a:r>
              <a:rPr lang="en-US" sz="1700" b="1" dirty="0">
                <a:solidFill>
                  <a:schemeClr val="tx2"/>
                </a:solidFill>
              </a:rPr>
              <a:t>(1 of 4): Hostel mess pre-buys vegetables</a:t>
            </a:r>
            <a:endParaRPr lang="en-US" sz="2400" dirty="0"/>
          </a:p>
        </p:txBody>
      </p:sp>
      <p:sp>
        <p:nvSpPr>
          <p:cNvPr id="3" name="use case 1 box"/>
          <p:cNvSpPr/>
          <p:nvPr/>
        </p:nvSpPr>
        <p:spPr>
          <a:xfrm>
            <a:off x="548640" y="960120"/>
            <a:ext cx="8046720" cy="1371600"/>
          </a:xfrm>
          <a:prstGeom prst="roundRect">
            <a:avLst>
              <a:gd name="adj" fmla="val 5333"/>
            </a:avLst>
          </a:prstGeom>
          <a:solidFill>
            <a:schemeClr val="bg2"/>
          </a:solidFill>
          <a:ln w="12700">
            <a:solidFill>
              <a:schemeClr val="bg2"/>
            </a:solidFill>
            <a:prstDash val="solid"/>
          </a:ln>
        </p:spPr>
      </p:sp>
      <p:sp>
        <p:nvSpPr>
          <p:cNvPr id="4" name="use case 1 scenario"/>
          <p:cNvSpPr txBox="1"/>
          <p:nvPr/>
        </p:nvSpPr>
        <p:spPr>
          <a:xfrm>
            <a:off x="777240" y="960120"/>
            <a:ext cx="7589520" cy="1371600"/>
          </a:xfrm>
          <a:prstGeom prst="rect">
            <a:avLst/>
          </a:prstGeom>
          <a:noFill/>
          <a:ln/>
        </p:spPr>
        <p:txBody>
          <a:bodyPr wrap="square" lIns="0" tIns="0" rIns="0" bIns="0" rtlCol="0" anchor="ctr"/>
          <a:lstStyle/>
          <a:p>
            <a:pPr marL="0" indent="0">
              <a:spcAft>
                <a:spcPts val="300"/>
              </a:spcAft>
              <a:buNone/>
            </a:pPr>
            <a:r>
              <a:rPr lang="en-US" sz="1200" b="1" dirty="0">
                <a:solidFill>
                  <a:schemeClr val="accent1"/>
                </a:solidFill>
              </a:rPr>
              <a:t>Use case 1  </a:t>
            </a:r>
            <a:endParaRPr lang="en-US" sz="1500" dirty="0"/>
          </a:p>
          <a:p>
            <a:pPr marL="0" indent="0">
              <a:spcAft>
                <a:spcPts val="300"/>
              </a:spcAft>
              <a:buNone/>
            </a:pPr>
            <a:r>
              <a:rPr lang="en-US" sz="1500" b="1" dirty="0">
                <a:solidFill>
                  <a:schemeClr val="tx2"/>
                </a:solidFill>
              </a:rPr>
              <a:t>User: </a:t>
            </a:r>
            <a:r>
              <a:rPr lang="en-US" sz="1500" dirty="0">
                <a:solidFill>
                  <a:schemeClr val="tx1"/>
                </a:solidFill>
              </a:rPr>
              <a:t>Mess manager at our campus hostel (buyer).</a:t>
            </a:r>
            <a:endParaRPr lang="en-US" sz="1500" dirty="0"/>
          </a:p>
          <a:p>
            <a:pPr marL="0" indent="0">
              <a:spcAft>
                <a:spcPts val="300"/>
              </a:spcAft>
              <a:buNone/>
            </a:pPr>
            <a:r>
              <a:rPr lang="en-US" sz="1500" b="1" dirty="0">
                <a:solidFill>
                  <a:schemeClr val="tx2"/>
                </a:solidFill>
              </a:rPr>
              <a:t>Scenario: </a:t>
            </a:r>
            <a:r>
              <a:rPr lang="en-US" sz="1500" dirty="0">
                <a:solidFill>
                  <a:schemeClr val="tx1"/>
                </a:solidFill>
              </a:rPr>
              <a:t>Needs 100 kg of brinjal every week for the semester, at a steady price and grade.</a:t>
            </a:r>
            <a:endParaRPr lang="en-US" sz="1500" dirty="0"/>
          </a:p>
        </p:txBody>
      </p:sp>
      <p:sp>
        <p:nvSpPr>
          <p:cNvPr id="5" name="bullets 44"/>
          <p:cNvSpPr txBox="1"/>
          <p:nvPr/>
        </p:nvSpPr>
        <p:spPr>
          <a:xfrm>
            <a:off x="548640" y="2560320"/>
            <a:ext cx="8046720" cy="2880360"/>
          </a:xfrm>
          <a:prstGeom prst="rect">
            <a:avLst/>
          </a:prstGeom>
          <a:noFill/>
          <a:ln/>
        </p:spPr>
        <p:txBody>
          <a:bodyPr wrap="square" lIns="0" tIns="0" rIns="0" bIns="0" rtlCol="0" anchor="ctr"/>
          <a:lstStyle/>
          <a:p>
            <a:pPr marL="279400" indent="-279400">
              <a:spcAft>
                <a:spcPts val="1400"/>
              </a:spcAft>
              <a:buClr>
                <a:schemeClr val="accent1"/>
              </a:buClr>
              <a:buSzPct val="70000"/>
              <a:buChar char="■"/>
            </a:pPr>
            <a:r>
              <a:rPr lang="en-US" sz="1600" b="1" dirty="0">
                <a:solidFill>
                  <a:schemeClr val="tx2"/>
                </a:solidFill>
              </a:rPr>
              <a:t>Posts demand: </a:t>
            </a:r>
            <a:r>
              <a:rPr lang="en-US" sz="1600" dirty="0">
                <a:solidFill>
                  <a:schemeClr val="tx1"/>
                </a:solidFill>
              </a:rPr>
              <a:t>floor ₹24, ceiling ₹34 per kg, and pays a ₹480 advance (20%) into escrow.</a:t>
            </a:r>
            <a:endParaRPr lang="en-US" sz="1600" dirty="0"/>
          </a:p>
          <a:p>
            <a:pPr marL="279400" indent="-279400">
              <a:spcAft>
                <a:spcPts val="1400"/>
              </a:spcAft>
              <a:buClr>
                <a:schemeClr val="accent1"/>
              </a:buClr>
              <a:buSzPct val="70000"/>
              <a:buChar char="■"/>
            </a:pPr>
            <a:r>
              <a:rPr lang="en-US" sz="1600" b="1" dirty="0">
                <a:solidFill>
                  <a:schemeClr val="tx2"/>
                </a:solidFill>
              </a:rPr>
              <a:t>Farmer accepts before sowing: </a:t>
            </a:r>
            <a:r>
              <a:rPr lang="en-US" sz="1600" dirty="0">
                <a:solidFill>
                  <a:schemeClr val="tx1"/>
                </a:solidFill>
              </a:rPr>
              <a:t>a farmer near Coimbatore takes the order; sowing and mid-season photos show the crop growing.</a:t>
            </a:r>
            <a:endParaRPr lang="en-US" sz="1600" dirty="0"/>
          </a:p>
          <a:p>
            <a:pPr marL="279400" indent="-279400">
              <a:spcAft>
                <a:spcPts val="1400"/>
              </a:spcAft>
              <a:buClr>
                <a:schemeClr val="accent1"/>
              </a:buClr>
              <a:buSzPct val="70000"/>
              <a:buChar char="■"/>
            </a:pPr>
            <a:r>
              <a:rPr lang="en-US" sz="1600" b="1" dirty="0">
                <a:solidFill>
                  <a:schemeClr val="tx2"/>
                </a:solidFill>
              </a:rPr>
              <a:t>Confirms on delivery: </a:t>
            </a:r>
            <a:r>
              <a:rPr lang="en-US" sz="1600" dirty="0">
                <a:solidFill>
                  <a:schemeClr val="tx1"/>
                </a:solidFill>
              </a:rPr>
              <a:t>money leaves escrow only after the mess confirms quantity and grade.</a:t>
            </a:r>
            <a:endParaRPr lang="en-US" sz="1600" dirty="0"/>
          </a:p>
        </p:txBody>
      </p:sp>
      <p:sp>
        <p:nvSpPr>
          <p:cNvPr id="6" name="outcome 45"/>
          <p:cNvSpPr/>
          <p:nvPr/>
        </p:nvSpPr>
        <p:spPr>
          <a:xfrm>
            <a:off x="548640" y="5596128"/>
            <a:ext cx="8046720" cy="777240"/>
          </a:xfrm>
          <a:prstGeom prst="roundRect">
            <a:avLst>
              <a:gd name="adj" fmla="val 9412"/>
            </a:avLst>
          </a:prstGeom>
          <a:solidFill>
            <a:schemeClr val="accent1"/>
          </a:solidFill>
          <a:ln w="12700">
            <a:solidFill>
              <a:schemeClr val="accent1"/>
            </a:solidFill>
            <a:prstDash val="solid"/>
          </a:ln>
        </p:spPr>
      </p:sp>
      <p:sp>
        <p:nvSpPr>
          <p:cNvPr id="7" name="outcome text 46"/>
          <p:cNvSpPr txBox="1"/>
          <p:nvPr/>
        </p:nvSpPr>
        <p:spPr>
          <a:xfrm>
            <a:off x="731520" y="5596128"/>
            <a:ext cx="7680960" cy="777240"/>
          </a:xfrm>
          <a:prstGeom prst="rect">
            <a:avLst/>
          </a:prstGeom>
          <a:noFill/>
          <a:ln/>
        </p:spPr>
        <p:txBody>
          <a:bodyPr wrap="square" lIns="0" tIns="0" rIns="0" bIns="0" rtlCol="0" anchor="ctr"/>
          <a:lstStyle/>
          <a:p>
            <a:pPr marL="0" indent="0">
              <a:buNone/>
            </a:pPr>
            <a:r>
              <a:rPr lang="en-US" sz="1400" b="1" dirty="0">
                <a:solidFill>
                  <a:schemeClr val="bg1"/>
                </a:solidFill>
              </a:rPr>
              <a:t>Outcome: </a:t>
            </a:r>
            <a:r>
              <a:rPr lang="en-US" sz="1400" dirty="0">
                <a:solidFill>
                  <a:schemeClr val="bg1"/>
                </a:solidFill>
              </a:rPr>
              <a:t>supply locked weeks ahead, with no risk of paying for produce that never arrives.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Use Cases </a:t>
            </a:r>
            <a:r>
              <a:rPr lang="en-US" sz="1700" b="1" dirty="0">
                <a:solidFill>
                  <a:schemeClr val="tx2"/>
                </a:solidFill>
              </a:rPr>
              <a:t>(2 of 4): Small farmer sells before sowing</a:t>
            </a:r>
            <a:endParaRPr lang="en-US" sz="2400" dirty="0"/>
          </a:p>
        </p:txBody>
      </p:sp>
      <p:sp>
        <p:nvSpPr>
          <p:cNvPr id="3" name="use case 2 box"/>
          <p:cNvSpPr/>
          <p:nvPr/>
        </p:nvSpPr>
        <p:spPr>
          <a:xfrm>
            <a:off x="548640" y="960120"/>
            <a:ext cx="8046720" cy="1371600"/>
          </a:xfrm>
          <a:prstGeom prst="roundRect">
            <a:avLst>
              <a:gd name="adj" fmla="val 5333"/>
            </a:avLst>
          </a:prstGeom>
          <a:solidFill>
            <a:schemeClr val="bg2"/>
          </a:solidFill>
          <a:ln w="12700">
            <a:solidFill>
              <a:schemeClr val="bg2"/>
            </a:solidFill>
            <a:prstDash val="solid"/>
          </a:ln>
        </p:spPr>
      </p:sp>
      <p:sp>
        <p:nvSpPr>
          <p:cNvPr id="4" name="use case 2 scenario"/>
          <p:cNvSpPr txBox="1"/>
          <p:nvPr/>
        </p:nvSpPr>
        <p:spPr>
          <a:xfrm>
            <a:off x="777240" y="960120"/>
            <a:ext cx="7589520" cy="1371600"/>
          </a:xfrm>
          <a:prstGeom prst="rect">
            <a:avLst/>
          </a:prstGeom>
          <a:noFill/>
          <a:ln/>
        </p:spPr>
        <p:txBody>
          <a:bodyPr wrap="square" lIns="0" tIns="0" rIns="0" bIns="0" rtlCol="0" anchor="ctr"/>
          <a:lstStyle/>
          <a:p>
            <a:pPr marL="0" indent="0">
              <a:spcAft>
                <a:spcPts val="300"/>
              </a:spcAft>
              <a:buNone/>
            </a:pPr>
            <a:r>
              <a:rPr lang="en-US" sz="1200" b="1" dirty="0">
                <a:solidFill>
                  <a:schemeClr val="accent1"/>
                </a:solidFill>
              </a:rPr>
              <a:t>Use case 2  </a:t>
            </a:r>
            <a:endParaRPr lang="en-US" sz="1500" dirty="0"/>
          </a:p>
          <a:p>
            <a:pPr marL="0" indent="0">
              <a:spcAft>
                <a:spcPts val="300"/>
              </a:spcAft>
              <a:buNone/>
            </a:pPr>
            <a:r>
              <a:rPr lang="en-US" sz="1500" b="1" dirty="0">
                <a:solidFill>
                  <a:schemeClr val="tx2"/>
                </a:solidFill>
              </a:rPr>
              <a:t>User: </a:t>
            </a:r>
            <a:r>
              <a:rPr lang="en-US" sz="1500" dirty="0">
                <a:solidFill>
                  <a:schemeClr val="tx1"/>
                </a:solidFill>
              </a:rPr>
              <a:t>A vegetable farmer with under 2 acres near Coimbatore (seller).</a:t>
            </a:r>
            <a:endParaRPr lang="en-US" sz="1500" dirty="0"/>
          </a:p>
          <a:p>
            <a:pPr marL="0" indent="0">
              <a:spcAft>
                <a:spcPts val="300"/>
              </a:spcAft>
              <a:buNone/>
            </a:pPr>
            <a:r>
              <a:rPr lang="en-US" sz="1500" b="1" dirty="0">
                <a:solidFill>
                  <a:schemeClr val="tx2"/>
                </a:solidFill>
              </a:rPr>
              <a:t>Scenario: </a:t>
            </a:r>
            <a:r>
              <a:rPr lang="en-US" sz="1500" dirty="0">
                <a:solidFill>
                  <a:schemeClr val="tx1"/>
                </a:solidFill>
              </a:rPr>
              <a:t>Usually plants by habit and sells to an agent at harvest, with no price confirmed.</a:t>
            </a:r>
            <a:endParaRPr lang="en-US" sz="1500" dirty="0"/>
          </a:p>
        </p:txBody>
      </p:sp>
      <p:sp>
        <p:nvSpPr>
          <p:cNvPr id="5" name="bullets 47"/>
          <p:cNvSpPr txBox="1"/>
          <p:nvPr/>
        </p:nvSpPr>
        <p:spPr>
          <a:xfrm>
            <a:off x="548640" y="2560320"/>
            <a:ext cx="8046720" cy="2880360"/>
          </a:xfrm>
          <a:prstGeom prst="rect">
            <a:avLst/>
          </a:prstGeom>
          <a:noFill/>
          <a:ln/>
        </p:spPr>
        <p:txBody>
          <a:bodyPr wrap="square" lIns="0" tIns="0" rIns="0" bIns="0" rtlCol="0" anchor="ctr"/>
          <a:lstStyle/>
          <a:p>
            <a:pPr marL="279400" indent="-279400">
              <a:spcAft>
                <a:spcPts val="1400"/>
              </a:spcAft>
              <a:buClr>
                <a:schemeClr val="accent1"/>
              </a:buClr>
              <a:buSzPct val="70000"/>
              <a:buChar char="■"/>
            </a:pPr>
            <a:r>
              <a:rPr lang="en-US" sz="1600" b="1" dirty="0">
                <a:solidFill>
                  <a:schemeClr val="tx2"/>
                </a:solidFill>
              </a:rPr>
              <a:t>Sees real demand: </a:t>
            </a:r>
            <a:r>
              <a:rPr lang="en-US" sz="1600" dirty="0">
                <a:solidFill>
                  <a:schemeClr val="tx1"/>
                </a:solidFill>
              </a:rPr>
              <a:t>opens the app in Tamil, sees open buyer orders; the planner warns which crops risk a glut.</a:t>
            </a:r>
            <a:endParaRPr lang="en-US" sz="1600" dirty="0"/>
          </a:p>
          <a:p>
            <a:pPr marL="279400" indent="-279400">
              <a:spcAft>
                <a:spcPts val="1400"/>
              </a:spcAft>
              <a:buClr>
                <a:schemeClr val="accent1"/>
              </a:buClr>
              <a:buSzPct val="70000"/>
              <a:buChar char="■"/>
            </a:pPr>
            <a:r>
              <a:rPr lang="en-US" sz="1600" b="1" dirty="0">
                <a:solidFill>
                  <a:schemeClr val="tx2"/>
                </a:solidFill>
              </a:rPr>
              <a:t>Gets money while growing: </a:t>
            </a:r>
            <a:r>
              <a:rPr lang="en-US" sz="1600" dirty="0">
                <a:solidFill>
                  <a:schemeClr val="tx1"/>
                </a:solidFill>
              </a:rPr>
              <a:t>accepts the brinjal order; receives ₹192 at the sowing check-in and ₹144 at mid-season.</a:t>
            </a:r>
            <a:endParaRPr lang="en-US" sz="1600" dirty="0"/>
          </a:p>
          <a:p>
            <a:pPr marL="279400" indent="-279400">
              <a:spcAft>
                <a:spcPts val="1400"/>
              </a:spcAft>
              <a:buClr>
                <a:schemeClr val="accent1"/>
              </a:buClr>
              <a:buSzPct val="70000"/>
              <a:buChar char="■"/>
            </a:pPr>
            <a:r>
              <a:rPr lang="en-US" sz="1600" b="1" dirty="0">
                <a:solidFill>
                  <a:schemeClr val="tx2"/>
                </a:solidFill>
              </a:rPr>
              <a:t>Shares the upside: </a:t>
            </a:r>
            <a:r>
              <a:rPr lang="en-US" sz="1600" dirty="0">
                <a:solidFill>
                  <a:schemeClr val="tx1"/>
                </a:solidFill>
              </a:rPr>
              <a:t>the market rises to ₹28, so the farmer is paid ₹26/kg (₹2,600 for 100 kg).</a:t>
            </a:r>
            <a:endParaRPr lang="en-US" sz="1600" dirty="0"/>
          </a:p>
        </p:txBody>
      </p:sp>
      <p:sp>
        <p:nvSpPr>
          <p:cNvPr id="6" name="outcome 48"/>
          <p:cNvSpPr/>
          <p:nvPr/>
        </p:nvSpPr>
        <p:spPr>
          <a:xfrm>
            <a:off x="548640" y="5596128"/>
            <a:ext cx="8046720" cy="777240"/>
          </a:xfrm>
          <a:prstGeom prst="roundRect">
            <a:avLst>
              <a:gd name="adj" fmla="val 9412"/>
            </a:avLst>
          </a:prstGeom>
          <a:solidFill>
            <a:schemeClr val="accent1"/>
          </a:solidFill>
          <a:ln w="12700">
            <a:solidFill>
              <a:schemeClr val="accent1"/>
            </a:solidFill>
            <a:prstDash val="solid"/>
          </a:ln>
        </p:spPr>
      </p:sp>
      <p:sp>
        <p:nvSpPr>
          <p:cNvPr id="7" name="outcome text 49"/>
          <p:cNvSpPr txBox="1"/>
          <p:nvPr/>
        </p:nvSpPr>
        <p:spPr>
          <a:xfrm>
            <a:off x="731520" y="5596128"/>
            <a:ext cx="7680960" cy="777240"/>
          </a:xfrm>
          <a:prstGeom prst="rect">
            <a:avLst/>
          </a:prstGeom>
          <a:noFill/>
          <a:ln/>
        </p:spPr>
        <p:txBody>
          <a:bodyPr wrap="square" lIns="0" tIns="0" rIns="0" bIns="0" rtlCol="0" anchor="ctr"/>
          <a:lstStyle/>
          <a:p>
            <a:pPr marL="0" indent="0">
              <a:buNone/>
            </a:pPr>
            <a:r>
              <a:rPr lang="en-US" sz="1400" b="1" dirty="0">
                <a:solidFill>
                  <a:schemeClr val="bg1"/>
                </a:solidFill>
              </a:rPr>
              <a:t>Outcome: </a:t>
            </a:r>
            <a:r>
              <a:rPr lang="en-US" sz="1400" dirty="0">
                <a:solidFill>
                  <a:schemeClr val="bg1"/>
                </a:solidFill>
              </a:rPr>
              <a:t>a buyer and a fair price before planting, and full payment within 24 hours of delivery.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Use Cases </a:t>
            </a:r>
            <a:r>
              <a:rPr lang="en-US" sz="1700" b="1" dirty="0">
                <a:solidFill>
                  <a:schemeClr val="tx2"/>
                </a:solidFill>
              </a:rPr>
              <a:t>(3 of 4): Restaurant locks a fair price band</a:t>
            </a:r>
            <a:endParaRPr lang="en-US" sz="2400" dirty="0"/>
          </a:p>
        </p:txBody>
      </p:sp>
      <p:sp>
        <p:nvSpPr>
          <p:cNvPr id="3" name="use case 3 box"/>
          <p:cNvSpPr/>
          <p:nvPr/>
        </p:nvSpPr>
        <p:spPr>
          <a:xfrm>
            <a:off x="548640" y="960120"/>
            <a:ext cx="8046720" cy="1371600"/>
          </a:xfrm>
          <a:prstGeom prst="roundRect">
            <a:avLst>
              <a:gd name="adj" fmla="val 5333"/>
            </a:avLst>
          </a:prstGeom>
          <a:solidFill>
            <a:schemeClr val="bg2"/>
          </a:solidFill>
          <a:ln w="12700">
            <a:solidFill>
              <a:schemeClr val="bg2"/>
            </a:solidFill>
            <a:prstDash val="solid"/>
          </a:ln>
        </p:spPr>
      </p:sp>
      <p:sp>
        <p:nvSpPr>
          <p:cNvPr id="4" name="use case 3 scenario"/>
          <p:cNvSpPr txBox="1"/>
          <p:nvPr/>
        </p:nvSpPr>
        <p:spPr>
          <a:xfrm>
            <a:off x="777240" y="960120"/>
            <a:ext cx="7589520" cy="1371600"/>
          </a:xfrm>
          <a:prstGeom prst="rect">
            <a:avLst/>
          </a:prstGeom>
          <a:noFill/>
          <a:ln/>
        </p:spPr>
        <p:txBody>
          <a:bodyPr wrap="square" lIns="0" tIns="0" rIns="0" bIns="0" rtlCol="0" anchor="ctr"/>
          <a:lstStyle/>
          <a:p>
            <a:pPr marL="0" indent="0">
              <a:spcAft>
                <a:spcPts val="300"/>
              </a:spcAft>
              <a:buNone/>
            </a:pPr>
            <a:r>
              <a:rPr lang="en-US" sz="1200" b="1" dirty="0">
                <a:solidFill>
                  <a:schemeClr val="accent1"/>
                </a:solidFill>
              </a:rPr>
              <a:t>Use case 3  </a:t>
            </a:r>
            <a:endParaRPr lang="en-US" sz="1500" dirty="0"/>
          </a:p>
          <a:p>
            <a:pPr marL="0" indent="0">
              <a:spcAft>
                <a:spcPts val="300"/>
              </a:spcAft>
              <a:buNone/>
            </a:pPr>
            <a:r>
              <a:rPr lang="en-US" sz="1500" b="1" dirty="0">
                <a:solidFill>
                  <a:schemeClr val="tx2"/>
                </a:solidFill>
              </a:rPr>
              <a:t>User: </a:t>
            </a:r>
            <a:r>
              <a:rPr lang="en-US" sz="1500" dirty="0">
                <a:solidFill>
                  <a:schemeClr val="tx1"/>
                </a:solidFill>
              </a:rPr>
              <a:t>A restaurant or local retailer (buyer).</a:t>
            </a:r>
            <a:endParaRPr lang="en-US" sz="1500" dirty="0"/>
          </a:p>
          <a:p>
            <a:pPr marL="0" indent="0">
              <a:spcAft>
                <a:spcPts val="300"/>
              </a:spcAft>
              <a:buNone/>
            </a:pPr>
            <a:r>
              <a:rPr lang="en-US" sz="1500" b="1" dirty="0">
                <a:solidFill>
                  <a:schemeClr val="tx2"/>
                </a:solidFill>
              </a:rPr>
              <a:t>Scenario: </a:t>
            </a:r>
            <a:r>
              <a:rPr lang="en-US" sz="1500" dirty="0">
                <a:solidFill>
                  <a:schemeClr val="tx1"/>
                </a:solidFill>
              </a:rPr>
              <a:t>Vegetable prices swing every season. The buyer wants certainty without overpaying; the farmer wants protection from a crash.</a:t>
            </a:r>
            <a:endParaRPr lang="en-US" sz="1500" dirty="0"/>
          </a:p>
        </p:txBody>
      </p:sp>
      <p:sp>
        <p:nvSpPr>
          <p:cNvPr id="5" name="bullets 50"/>
          <p:cNvSpPr txBox="1"/>
          <p:nvPr/>
        </p:nvSpPr>
        <p:spPr>
          <a:xfrm>
            <a:off x="548640" y="2560320"/>
            <a:ext cx="8046720" cy="2880360"/>
          </a:xfrm>
          <a:prstGeom prst="rect">
            <a:avLst/>
          </a:prstGeom>
          <a:noFill/>
          <a:ln/>
        </p:spPr>
        <p:txBody>
          <a:bodyPr wrap="square" lIns="0" tIns="0" rIns="0" bIns="0" rtlCol="0" anchor="ctr"/>
          <a:lstStyle/>
          <a:p>
            <a:pPr marL="279400" indent="-279400">
              <a:spcAft>
                <a:spcPts val="1400"/>
              </a:spcAft>
              <a:buClr>
                <a:schemeClr val="accent1"/>
              </a:buClr>
              <a:buSzPct val="70000"/>
              <a:buChar char="■"/>
            </a:pPr>
            <a:r>
              <a:rPr lang="en-US" sz="1600" b="1" dirty="0">
                <a:solidFill>
                  <a:schemeClr val="tx2"/>
                </a:solidFill>
              </a:rPr>
              <a:t>Prices rise: </a:t>
            </a:r>
            <a:r>
              <a:rPr lang="en-US" sz="1600" dirty="0">
                <a:solidFill>
                  <a:schemeClr val="tx1"/>
                </a:solidFill>
              </a:rPr>
              <a:t>market at ₹28 → final ₹26/kg. Both sides share the gain.</a:t>
            </a:r>
            <a:endParaRPr lang="en-US" sz="1600" dirty="0"/>
          </a:p>
          <a:p>
            <a:pPr marL="279400" indent="-279400">
              <a:spcAft>
                <a:spcPts val="1400"/>
              </a:spcAft>
              <a:buClr>
                <a:schemeClr val="accent1"/>
              </a:buClr>
              <a:buSzPct val="70000"/>
              <a:buChar char="■"/>
            </a:pPr>
            <a:r>
              <a:rPr lang="en-US" sz="1600" b="1" dirty="0">
                <a:solidFill>
                  <a:schemeClr val="tx2"/>
                </a:solidFill>
              </a:rPr>
              <a:t>Prices fall: </a:t>
            </a:r>
            <a:r>
              <a:rPr lang="en-US" sz="1600" dirty="0">
                <a:solidFill>
                  <a:schemeClr val="tx1"/>
                </a:solidFill>
              </a:rPr>
              <a:t>market at ₹20 → the farmer still gets the ₹24 floor.</a:t>
            </a:r>
            <a:endParaRPr lang="en-US" sz="1600" dirty="0"/>
          </a:p>
          <a:p>
            <a:pPr marL="279400" indent="-279400">
              <a:spcAft>
                <a:spcPts val="1400"/>
              </a:spcAft>
              <a:buClr>
                <a:schemeClr val="accent1"/>
              </a:buClr>
              <a:buSzPct val="70000"/>
              <a:buChar char="■"/>
            </a:pPr>
            <a:r>
              <a:rPr lang="en-US" sz="1600" b="1" dirty="0">
                <a:solidFill>
                  <a:schemeClr val="tx2"/>
                </a:solidFill>
              </a:rPr>
              <a:t>Trust builds: </a:t>
            </a:r>
            <a:r>
              <a:rPr lang="en-US" sz="1600" dirty="0">
                <a:solidFill>
                  <a:schemeClr val="tx1"/>
                </a:solidFill>
              </a:rPr>
              <a:t>trust scores update after every order, so reliable buyers and farmers find each other again.</a:t>
            </a:r>
            <a:endParaRPr lang="en-US" sz="1600" dirty="0"/>
          </a:p>
        </p:txBody>
      </p:sp>
      <p:sp>
        <p:nvSpPr>
          <p:cNvPr id="6" name="outcome 51"/>
          <p:cNvSpPr/>
          <p:nvPr/>
        </p:nvSpPr>
        <p:spPr>
          <a:xfrm>
            <a:off x="548640" y="5596128"/>
            <a:ext cx="8046720" cy="777240"/>
          </a:xfrm>
          <a:prstGeom prst="roundRect">
            <a:avLst>
              <a:gd name="adj" fmla="val 9412"/>
            </a:avLst>
          </a:prstGeom>
          <a:solidFill>
            <a:schemeClr val="accent1"/>
          </a:solidFill>
          <a:ln w="12700">
            <a:solidFill>
              <a:schemeClr val="accent1"/>
            </a:solidFill>
            <a:prstDash val="solid"/>
          </a:ln>
        </p:spPr>
      </p:sp>
      <p:sp>
        <p:nvSpPr>
          <p:cNvPr id="7" name="outcome text 52"/>
          <p:cNvSpPr txBox="1"/>
          <p:nvPr/>
        </p:nvSpPr>
        <p:spPr>
          <a:xfrm>
            <a:off x="731520" y="5596128"/>
            <a:ext cx="7680960" cy="777240"/>
          </a:xfrm>
          <a:prstGeom prst="rect">
            <a:avLst/>
          </a:prstGeom>
          <a:noFill/>
          <a:ln/>
        </p:spPr>
        <p:txBody>
          <a:bodyPr wrap="square" lIns="0" tIns="0" rIns="0" bIns="0" rtlCol="0" anchor="ctr"/>
          <a:lstStyle/>
          <a:p>
            <a:pPr marL="0" indent="0">
              <a:buNone/>
            </a:pPr>
            <a:r>
              <a:rPr lang="en-US" sz="1400" b="1" dirty="0">
                <a:solidFill>
                  <a:schemeClr val="bg1"/>
                </a:solidFill>
              </a:rPr>
              <a:t>Outcome: </a:t>
            </a:r>
            <a:r>
              <a:rPr lang="en-US" sz="1400" dirty="0">
                <a:solidFill>
                  <a:schemeClr val="bg1"/>
                </a:solidFill>
              </a:rPr>
              <a:t>predictable costs for the buyer, a protected income for the farmer, and less reason to side-sell.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Use Cases </a:t>
            </a:r>
            <a:r>
              <a:rPr lang="en-US" sz="1700" b="1" dirty="0">
                <a:solidFill>
                  <a:schemeClr val="tx2"/>
                </a:solidFill>
              </a:rPr>
              <a:t>(4 of 4): FPO fills a large order together</a:t>
            </a:r>
            <a:endParaRPr lang="en-US" sz="2400" dirty="0"/>
          </a:p>
        </p:txBody>
      </p:sp>
      <p:sp>
        <p:nvSpPr>
          <p:cNvPr id="3" name="use case 4 box"/>
          <p:cNvSpPr/>
          <p:nvPr/>
        </p:nvSpPr>
        <p:spPr>
          <a:xfrm>
            <a:off x="548640" y="960120"/>
            <a:ext cx="8046720" cy="1371600"/>
          </a:xfrm>
          <a:prstGeom prst="roundRect">
            <a:avLst>
              <a:gd name="adj" fmla="val 5333"/>
            </a:avLst>
          </a:prstGeom>
          <a:solidFill>
            <a:schemeClr val="bg2"/>
          </a:solidFill>
          <a:ln w="12700">
            <a:solidFill>
              <a:schemeClr val="bg2"/>
            </a:solidFill>
            <a:prstDash val="solid"/>
          </a:ln>
        </p:spPr>
      </p:sp>
      <p:sp>
        <p:nvSpPr>
          <p:cNvPr id="4" name="use case 4 scenario"/>
          <p:cNvSpPr txBox="1"/>
          <p:nvPr/>
        </p:nvSpPr>
        <p:spPr>
          <a:xfrm>
            <a:off x="777240" y="960120"/>
            <a:ext cx="7589520" cy="1371600"/>
          </a:xfrm>
          <a:prstGeom prst="rect">
            <a:avLst/>
          </a:prstGeom>
          <a:noFill/>
          <a:ln/>
        </p:spPr>
        <p:txBody>
          <a:bodyPr wrap="square" lIns="0" tIns="0" rIns="0" bIns="0" rtlCol="0" anchor="ctr"/>
          <a:lstStyle/>
          <a:p>
            <a:pPr marL="0" indent="0">
              <a:spcAft>
                <a:spcPts val="300"/>
              </a:spcAft>
              <a:buNone/>
            </a:pPr>
            <a:r>
              <a:rPr lang="en-US" sz="1200" b="1" dirty="0">
                <a:solidFill>
                  <a:schemeClr val="accent1"/>
                </a:solidFill>
              </a:rPr>
              <a:t>Use case 4  </a:t>
            </a:r>
            <a:endParaRPr lang="en-US" sz="1500" dirty="0"/>
          </a:p>
          <a:p>
            <a:pPr marL="0" indent="0">
              <a:spcAft>
                <a:spcPts val="300"/>
              </a:spcAft>
              <a:buNone/>
            </a:pPr>
            <a:r>
              <a:rPr lang="en-US" sz="1500" b="1" dirty="0">
                <a:solidFill>
                  <a:schemeClr val="tx2"/>
                </a:solidFill>
              </a:rPr>
              <a:t>User: </a:t>
            </a:r>
            <a:r>
              <a:rPr lang="en-US" sz="1500" dirty="0">
                <a:solidFill>
                  <a:schemeClr val="tx1"/>
                </a:solidFill>
              </a:rPr>
              <a:t>A farmer producer organisation (FPO) with about 10 member farmers.</a:t>
            </a:r>
            <a:endParaRPr lang="en-US" sz="1500" dirty="0"/>
          </a:p>
          <a:p>
            <a:pPr marL="0" indent="0">
              <a:spcAft>
                <a:spcPts val="300"/>
              </a:spcAft>
              <a:buNone/>
            </a:pPr>
            <a:r>
              <a:rPr lang="en-US" sz="1500" b="1" dirty="0">
                <a:solidFill>
                  <a:schemeClr val="tx2"/>
                </a:solidFill>
              </a:rPr>
              <a:t>Scenario: </a:t>
            </a:r>
            <a:r>
              <a:rPr lang="en-US" sz="1500" dirty="0">
                <a:solidFill>
                  <a:schemeClr val="tx1"/>
                </a:solidFill>
              </a:rPr>
              <a:t>A processor needs 1 tonne a week, far more than any single small farmer can grow.</a:t>
            </a:r>
            <a:endParaRPr lang="en-US" sz="1500" dirty="0"/>
          </a:p>
        </p:txBody>
      </p:sp>
      <p:sp>
        <p:nvSpPr>
          <p:cNvPr id="5" name="bullets 53"/>
          <p:cNvSpPr txBox="1"/>
          <p:nvPr/>
        </p:nvSpPr>
        <p:spPr>
          <a:xfrm>
            <a:off x="548640" y="2560320"/>
            <a:ext cx="8046720" cy="2880360"/>
          </a:xfrm>
          <a:prstGeom prst="rect">
            <a:avLst/>
          </a:prstGeom>
          <a:noFill/>
          <a:ln/>
        </p:spPr>
        <p:txBody>
          <a:bodyPr wrap="square" lIns="0" tIns="0" rIns="0" bIns="0" rtlCol="0" anchor="ctr"/>
          <a:lstStyle/>
          <a:p>
            <a:pPr marL="279400" indent="-279400">
              <a:spcAft>
                <a:spcPts val="1400"/>
              </a:spcAft>
              <a:buClr>
                <a:schemeClr val="accent1"/>
              </a:buClr>
              <a:buSzPct val="70000"/>
              <a:buChar char="■"/>
            </a:pPr>
            <a:r>
              <a:rPr lang="en-US" sz="1600" b="1" dirty="0">
                <a:solidFill>
                  <a:schemeClr val="tx2"/>
                </a:solidFill>
              </a:rPr>
              <a:t>Splits the order: </a:t>
            </a:r>
            <a:r>
              <a:rPr lang="en-US" sz="1600" dirty="0">
                <a:solidFill>
                  <a:schemeClr val="tx1"/>
                </a:solidFill>
              </a:rPr>
              <a:t>the FPO divides it across members' small plots; every check-in and delivery feeds one shared record.</a:t>
            </a:r>
            <a:endParaRPr lang="en-US" sz="1600" dirty="0"/>
          </a:p>
          <a:p>
            <a:pPr marL="279400" indent="-279400">
              <a:spcAft>
                <a:spcPts val="1400"/>
              </a:spcAft>
              <a:buClr>
                <a:schemeClr val="accent1"/>
              </a:buClr>
              <a:buSzPct val="70000"/>
              <a:buChar char="■"/>
            </a:pPr>
            <a:r>
              <a:rPr lang="en-US" sz="1600" b="1" dirty="0">
                <a:solidFill>
                  <a:schemeClr val="tx2"/>
                </a:solidFill>
              </a:rPr>
              <a:t>Phase 2 support: </a:t>
            </a:r>
            <a:r>
              <a:rPr lang="en-US" sz="1600" dirty="0">
                <a:solidFill>
                  <a:schemeClr val="tx1"/>
                </a:solidFill>
              </a:rPr>
              <a:t>a village gateway shared by 15–25 farms runs soil sensors and smart irrigation, and Leaf Doctor helps new members spot disease early.</a:t>
            </a:r>
            <a:endParaRPr lang="en-US" sz="1600" dirty="0"/>
          </a:p>
          <a:p>
            <a:pPr marL="279400" indent="-279400">
              <a:spcAft>
                <a:spcPts val="1400"/>
              </a:spcAft>
              <a:buClr>
                <a:schemeClr val="accent1"/>
              </a:buClr>
              <a:buSzPct val="70000"/>
              <a:buChar char="■"/>
            </a:pPr>
            <a:r>
              <a:rPr lang="en-US" sz="1600" b="1" dirty="0">
                <a:solidFill>
                  <a:schemeClr val="tx2"/>
                </a:solidFill>
              </a:rPr>
              <a:t>Buyer visibility: </a:t>
            </a:r>
            <a:r>
              <a:rPr lang="en-US" sz="1600" dirty="0">
                <a:solidFill>
                  <a:schemeClr val="tx1"/>
                </a:solidFill>
              </a:rPr>
              <a:t>the processor sees crop status before the truck arrives.</a:t>
            </a:r>
            <a:endParaRPr lang="en-US" sz="1600" dirty="0"/>
          </a:p>
        </p:txBody>
      </p:sp>
      <p:sp>
        <p:nvSpPr>
          <p:cNvPr id="6" name="outcome 54"/>
          <p:cNvSpPr/>
          <p:nvPr/>
        </p:nvSpPr>
        <p:spPr>
          <a:xfrm>
            <a:off x="548640" y="5596128"/>
            <a:ext cx="8046720" cy="777240"/>
          </a:xfrm>
          <a:prstGeom prst="roundRect">
            <a:avLst>
              <a:gd name="adj" fmla="val 9412"/>
            </a:avLst>
          </a:prstGeom>
          <a:solidFill>
            <a:schemeClr val="accent1"/>
          </a:solidFill>
          <a:ln w="12700">
            <a:solidFill>
              <a:schemeClr val="accent1"/>
            </a:solidFill>
            <a:prstDash val="solid"/>
          </a:ln>
        </p:spPr>
      </p:sp>
      <p:sp>
        <p:nvSpPr>
          <p:cNvPr id="7" name="outcome text 55"/>
          <p:cNvSpPr txBox="1"/>
          <p:nvPr/>
        </p:nvSpPr>
        <p:spPr>
          <a:xfrm>
            <a:off x="731520" y="5596128"/>
            <a:ext cx="7680960" cy="777240"/>
          </a:xfrm>
          <a:prstGeom prst="rect">
            <a:avLst/>
          </a:prstGeom>
          <a:noFill/>
          <a:ln/>
        </p:spPr>
        <p:txBody>
          <a:bodyPr wrap="square" lIns="0" tIns="0" rIns="0" bIns="0" rtlCol="0" anchor="ctr"/>
          <a:lstStyle/>
          <a:p>
            <a:pPr marL="0" indent="0">
              <a:buNone/>
            </a:pPr>
            <a:r>
              <a:rPr lang="en-US" sz="1400" b="1" dirty="0">
                <a:solidFill>
                  <a:schemeClr val="bg1"/>
                </a:solidFill>
              </a:rPr>
              <a:t>Outcome: </a:t>
            </a:r>
            <a:r>
              <a:rPr lang="en-US" sz="1400" dirty="0">
                <a:solidFill>
                  <a:schemeClr val="bg1"/>
                </a:solidFill>
              </a:rPr>
              <a:t>small lots add up to one large, reliable order, and farmers bargain together.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Impacts and Benefits</a:t>
            </a:r>
            <a:endParaRPr lang="en-US" sz="2400" dirty="0"/>
          </a:p>
        </p:txBody>
      </p:sp>
      <p:sp>
        <p:nvSpPr>
          <p:cNvPr id="3" name="bullets 56"/>
          <p:cNvSpPr txBox="1"/>
          <p:nvPr/>
        </p:nvSpPr>
        <p:spPr>
          <a:xfrm>
            <a:off x="548640" y="914400"/>
            <a:ext cx="8046720" cy="3291840"/>
          </a:xfrm>
          <a:prstGeom prst="rect">
            <a:avLst/>
          </a:prstGeom>
          <a:noFill/>
          <a:ln/>
        </p:spPr>
        <p:txBody>
          <a:bodyPr wrap="square" lIns="0" tIns="0" rIns="0" bIns="0" rtlCol="0" anchor="ctr"/>
          <a:lstStyle/>
          <a:p>
            <a:pPr marL="279400" indent="-279400">
              <a:spcAft>
                <a:spcPts val="1400"/>
              </a:spcAft>
              <a:buClr>
                <a:schemeClr val="accent1"/>
              </a:buClr>
              <a:buSzPct val="70000"/>
              <a:buChar char="■"/>
            </a:pPr>
            <a:r>
              <a:rPr lang="en-US" sz="1600" b="1" dirty="0">
                <a:solidFill>
                  <a:schemeClr val="tx2"/>
                </a:solidFill>
              </a:rPr>
              <a:t>Benefit to the target users: </a:t>
            </a:r>
            <a:r>
              <a:rPr lang="en-US" sz="1600" dirty="0">
                <a:solidFill>
                  <a:schemeClr val="tx1"/>
                </a:solidFill>
              </a:rPr>
              <a:t>farmers know their buyer and price before planting and are paid within 24 hours; buyers get dependable supply of the grade they ordered.</a:t>
            </a:r>
            <a:endParaRPr lang="en-US" sz="1600" dirty="0"/>
          </a:p>
          <a:p>
            <a:pPr marL="279400" indent="-279400">
              <a:spcAft>
                <a:spcPts val="1400"/>
              </a:spcAft>
              <a:buClr>
                <a:schemeClr val="accent1"/>
              </a:buClr>
              <a:buSzPct val="70000"/>
              <a:buChar char="■"/>
            </a:pPr>
            <a:r>
              <a:rPr lang="en-US" sz="1600" b="1" dirty="0">
                <a:solidFill>
                  <a:schemeClr val="tx2"/>
                </a:solidFill>
              </a:rPr>
              <a:t>Social, economic and environmental impact: </a:t>
            </a:r>
            <a:r>
              <a:rPr lang="en-US" sz="1600" dirty="0">
                <a:solidFill>
                  <a:schemeClr val="tx1"/>
                </a:solidFill>
              </a:rPr>
              <a:t>fairer farm-gate prices and less dependence on agents; less produce wasted in gluts; in Phase 2, irrigation that uses only the water the crop needs.</a:t>
            </a:r>
            <a:endParaRPr lang="en-US" sz="1600" dirty="0"/>
          </a:p>
          <a:p>
            <a:pPr marL="279400" indent="-279400">
              <a:spcAft>
                <a:spcPts val="1400"/>
              </a:spcAft>
              <a:buClr>
                <a:schemeClr val="accent1"/>
              </a:buClr>
              <a:buSzPct val="70000"/>
              <a:buChar char="■"/>
            </a:pPr>
            <a:r>
              <a:rPr lang="en-US" sz="1600" b="1" dirty="0">
                <a:solidFill>
                  <a:schemeClr val="tx2"/>
                </a:solidFill>
              </a:rPr>
              <a:t>Expected measurable outcome: </a:t>
            </a:r>
            <a:r>
              <a:rPr lang="en-US" sz="1600" dirty="0">
                <a:solidFill>
                  <a:schemeClr val="tx1"/>
                </a:solidFill>
              </a:rPr>
              <a:t>pilot with about 10 farmers, one crop group and one buyer type over one season.</a:t>
            </a:r>
            <a:endParaRPr lang="en-US" sz="1600" dirty="0"/>
          </a:p>
        </p:txBody>
      </p:sp>
      <p:sp>
        <p:nvSpPr>
          <p:cNvPr id="4" name="impact stat 1"/>
          <p:cNvSpPr/>
          <p:nvPr/>
        </p:nvSpPr>
        <p:spPr>
          <a:xfrm>
            <a:off x="548640" y="4434840"/>
            <a:ext cx="2560320" cy="1920240"/>
          </a:xfrm>
          <a:prstGeom prst="roundRect">
            <a:avLst>
              <a:gd name="adj" fmla="val 3810"/>
            </a:avLst>
          </a:prstGeom>
          <a:solidFill>
            <a:schemeClr val="bg2"/>
          </a:solidFill>
          <a:ln w="12700">
            <a:solidFill>
              <a:schemeClr val="bg2"/>
            </a:solidFill>
            <a:prstDash val="solid"/>
          </a:ln>
        </p:spPr>
      </p:sp>
      <p:sp>
        <p:nvSpPr>
          <p:cNvPr id="5" name="impact text 57"/>
          <p:cNvSpPr txBox="1"/>
          <p:nvPr/>
        </p:nvSpPr>
        <p:spPr>
          <a:xfrm>
            <a:off x="731520" y="4434840"/>
            <a:ext cx="2194560" cy="1920240"/>
          </a:xfrm>
          <a:prstGeom prst="rect">
            <a:avLst/>
          </a:prstGeom>
          <a:noFill/>
          <a:ln/>
        </p:spPr>
        <p:txBody>
          <a:bodyPr wrap="square" lIns="0" tIns="0" rIns="0" bIns="0" rtlCol="0" anchor="ctr"/>
          <a:lstStyle/>
          <a:p>
            <a:pPr marL="0" indent="0">
              <a:buNone/>
            </a:pPr>
            <a:r>
              <a:rPr lang="en-US" sz="3200" b="1" dirty="0">
                <a:solidFill>
                  <a:schemeClr val="accent1"/>
                </a:solidFill>
              </a:rPr>
              <a:t>≥ 80%</a:t>
            </a:r>
            <a:endParaRPr lang="en-US" sz="3200" dirty="0"/>
          </a:p>
          <a:p>
            <a:pPr marL="0" indent="0">
              <a:buNone/>
            </a:pPr>
            <a:r>
              <a:rPr lang="en-US" sz="1350" dirty="0">
                <a:solidFill>
                  <a:schemeClr val="tx1"/>
                </a:solidFill>
              </a:rPr>
              <a:t>of committed orders delivered and settled</a:t>
            </a:r>
            <a:endParaRPr lang="en-US" sz="3200" dirty="0"/>
          </a:p>
        </p:txBody>
      </p:sp>
      <p:sp>
        <p:nvSpPr>
          <p:cNvPr id="6" name="impact stat 2"/>
          <p:cNvSpPr/>
          <p:nvPr/>
        </p:nvSpPr>
        <p:spPr>
          <a:xfrm>
            <a:off x="3291840" y="4434840"/>
            <a:ext cx="2560320" cy="1920240"/>
          </a:xfrm>
          <a:prstGeom prst="roundRect">
            <a:avLst>
              <a:gd name="adj" fmla="val 3810"/>
            </a:avLst>
          </a:prstGeom>
          <a:solidFill>
            <a:schemeClr val="bg2"/>
          </a:solidFill>
          <a:ln w="12700">
            <a:solidFill>
              <a:schemeClr val="bg2"/>
            </a:solidFill>
            <a:prstDash val="solid"/>
          </a:ln>
        </p:spPr>
      </p:sp>
      <p:sp>
        <p:nvSpPr>
          <p:cNvPr id="7" name="impact text 58"/>
          <p:cNvSpPr txBox="1"/>
          <p:nvPr/>
        </p:nvSpPr>
        <p:spPr>
          <a:xfrm>
            <a:off x="3474720" y="4434840"/>
            <a:ext cx="2194560" cy="1920240"/>
          </a:xfrm>
          <a:prstGeom prst="rect">
            <a:avLst/>
          </a:prstGeom>
          <a:noFill/>
          <a:ln/>
        </p:spPr>
        <p:txBody>
          <a:bodyPr wrap="square" lIns="0" tIns="0" rIns="0" bIns="0" rtlCol="0" anchor="ctr"/>
          <a:lstStyle/>
          <a:p>
            <a:pPr marL="0" indent="0">
              <a:buNone/>
            </a:pPr>
            <a:r>
              <a:rPr lang="en-US" sz="3200" b="1" dirty="0">
                <a:solidFill>
                  <a:schemeClr val="accent1"/>
                </a:solidFill>
              </a:rPr>
              <a:t>24 h</a:t>
            </a:r>
            <a:endParaRPr lang="en-US" sz="3200" dirty="0"/>
          </a:p>
          <a:p>
            <a:pPr marL="0" indent="0">
              <a:buNone/>
            </a:pPr>
            <a:r>
              <a:rPr lang="en-US" sz="1350" dirty="0">
                <a:solidFill>
                  <a:schemeClr val="tx1"/>
                </a:solidFill>
              </a:rPr>
              <a:t>from confirmed delivery to payment</a:t>
            </a:r>
            <a:endParaRPr lang="en-US" sz="3200" dirty="0"/>
          </a:p>
        </p:txBody>
      </p:sp>
      <p:sp>
        <p:nvSpPr>
          <p:cNvPr id="8" name="impact stat 3"/>
          <p:cNvSpPr/>
          <p:nvPr/>
        </p:nvSpPr>
        <p:spPr>
          <a:xfrm>
            <a:off x="6035040" y="4434840"/>
            <a:ext cx="2560320" cy="1920240"/>
          </a:xfrm>
          <a:prstGeom prst="roundRect">
            <a:avLst>
              <a:gd name="adj" fmla="val 3810"/>
            </a:avLst>
          </a:prstGeom>
          <a:solidFill>
            <a:schemeClr val="bg2"/>
          </a:solidFill>
          <a:ln w="12700">
            <a:solidFill>
              <a:schemeClr val="bg2"/>
            </a:solidFill>
            <a:prstDash val="solid"/>
          </a:ln>
        </p:spPr>
      </p:sp>
      <p:sp>
        <p:nvSpPr>
          <p:cNvPr id="9" name="impact text 59"/>
          <p:cNvSpPr txBox="1"/>
          <p:nvPr/>
        </p:nvSpPr>
        <p:spPr>
          <a:xfrm>
            <a:off x="6217920" y="4434840"/>
            <a:ext cx="2194560" cy="1920240"/>
          </a:xfrm>
          <a:prstGeom prst="rect">
            <a:avLst/>
          </a:prstGeom>
          <a:noFill/>
          <a:ln/>
        </p:spPr>
        <p:txBody>
          <a:bodyPr wrap="square" lIns="0" tIns="0" rIns="0" bIns="0" rtlCol="0" anchor="ctr"/>
          <a:lstStyle/>
          <a:p>
            <a:pPr marL="0" indent="0">
              <a:buNone/>
            </a:pPr>
            <a:r>
              <a:rPr lang="en-US" sz="3200" b="1" dirty="0">
                <a:solidFill>
                  <a:schemeClr val="accent1"/>
                </a:solidFill>
              </a:rPr>
              <a:t>100%</a:t>
            </a:r>
            <a:endParaRPr lang="en-US" sz="3200" dirty="0"/>
          </a:p>
          <a:p>
            <a:pPr marL="0" indent="0">
              <a:buNone/>
            </a:pPr>
            <a:r>
              <a:rPr lang="en-US" sz="1350" dirty="0">
                <a:solidFill>
                  <a:schemeClr val="tx1"/>
                </a:solidFill>
              </a:rPr>
              <a:t>of settled orders at or above the floor price</a:t>
            </a:r>
            <a:endParaRPr 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Sustainable Development Goals (SDGs)</a:t>
            </a:r>
            <a:endParaRPr lang="en-US" sz="2400" dirty="0"/>
          </a:p>
        </p:txBody>
      </p:sp>
      <p:graphicFrame>
        <p:nvGraphicFramePr>
          <p:cNvPr id="17" name="sdg table"/>
          <p:cNvGraphicFramePr>
            <a:graphicFrameLocks noGrp="1"/>
          </p:cNvGraphicFramePr>
          <p:nvPr>
            <p:extLst>
              <p:ext uri="{D42A27DB-BD31-4B8C-83A1-F6EECF244321}">
                <p14:modId xmlns:p14="http://schemas.microsoft.com/office/powerpoint/2010/main" val="1579011935"/>
              </p:ext>
            </p:extLst>
          </p:nvPr>
        </p:nvGraphicFramePr>
        <p:xfrm>
          <a:off x="548640" y="1554480"/>
          <a:ext cx="8046720" cy="914400"/>
        </p:xfrm>
        <a:graphic>
          <a:graphicData uri="http://schemas.openxmlformats.org/drawingml/2006/table">
            <a:tbl>
              <a:tblPr/>
              <a:tblGrid>
                <a:gridCol w="13258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02920">
                <a:tc>
                  <a:txBody>
                    <a:bodyPr/>
                    <a:lstStyle/>
                    <a:p>
                      <a:pPr marL="0" indent="0">
                        <a:buNone/>
                      </a:pPr>
                      <a:r>
                        <a:rPr lang="en-US" sz="1400" b="1" dirty="0">
                          <a:solidFill>
                            <a:schemeClr val="bg1"/>
                          </a:solidFill>
                        </a:rPr>
                        <a:t>SDG Number</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Target Number</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Goal Name</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Connection</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1005840">
                <a:tc>
                  <a:txBody>
                    <a:bodyPr/>
                    <a:lstStyle/>
                    <a:p>
                      <a:pPr marL="0" indent="0" algn="l">
                        <a:buNone/>
                      </a:pPr>
                      <a:r>
                        <a:rPr lang="en-US" sz="1400" b="1" dirty="0">
                          <a:solidFill>
                            <a:schemeClr val="tx1"/>
                          </a:solidFill>
                        </a:rPr>
                        <a:t>SDG 2</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Target 2.3</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Zero Hunger</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Raises small farmers' incomes through secure access to markets and fair prices</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1005840">
                <a:tc>
                  <a:txBody>
                    <a:bodyPr/>
                    <a:lstStyle/>
                    <a:p>
                      <a:pPr marL="0" indent="0" algn="l">
                        <a:buNone/>
                      </a:pPr>
                      <a:r>
                        <a:rPr lang="en-US" sz="1400" b="1" dirty="0">
                          <a:solidFill>
                            <a:schemeClr val="tx1"/>
                          </a:solidFill>
                        </a:rPr>
                        <a:t>SDG 12</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tc>
                  <a:txBody>
                    <a:bodyPr/>
                    <a:lstStyle/>
                    <a:p>
                      <a:pPr marL="0" indent="0" algn="l">
                        <a:buNone/>
                      </a:pPr>
                      <a:r>
                        <a:rPr lang="en-US" sz="1400" dirty="0">
                          <a:solidFill>
                            <a:schemeClr val="tx1"/>
                          </a:solidFill>
                        </a:rPr>
                        <a:t>Target 12.3</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tc>
                  <a:txBody>
                    <a:bodyPr/>
                    <a:lstStyle/>
                    <a:p>
                      <a:pPr marL="0" indent="0" algn="l">
                        <a:buNone/>
                      </a:pPr>
                      <a:r>
                        <a:rPr lang="en-US" sz="1400" dirty="0">
                          <a:solidFill>
                            <a:schemeClr val="tx1"/>
                          </a:solidFill>
                        </a:rPr>
                        <a:t>Responsible Consumption and Production</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tc>
                  <a:txBody>
                    <a:bodyPr/>
                    <a:lstStyle/>
                    <a:p>
                      <a:pPr marL="0" indent="0" algn="l">
                        <a:buNone/>
                      </a:pPr>
                      <a:r>
                        <a:rPr lang="en-US" sz="1400" dirty="0">
                          <a:solidFill>
                            <a:schemeClr val="tx1"/>
                          </a:solidFill>
                        </a:rPr>
                        <a:t>Demand-led planting and pre-sold harvests cut food loss along the supply chain</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extLst>
                  <a:ext uri="{0D108BD9-81ED-4DB2-BD59-A6C34878D82A}">
                    <a16:rowId xmlns:a16="http://schemas.microsoft.com/office/drawing/2014/main" val="10002"/>
                  </a:ext>
                </a:extLst>
              </a:tr>
              <a:tr h="1005840">
                <a:tc>
                  <a:txBody>
                    <a:bodyPr/>
                    <a:lstStyle/>
                    <a:p>
                      <a:pPr marL="0" indent="0" algn="l">
                        <a:buNone/>
                      </a:pPr>
                      <a:r>
                        <a:rPr lang="en-US" sz="1400" b="1" dirty="0">
                          <a:solidFill>
                            <a:schemeClr val="tx1"/>
                          </a:solidFill>
                        </a:rPr>
                        <a:t>SDG 6</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Target 6.4</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Clean Water and Sanitation</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Phase 2 smart irrigation raises water-use efficiency on farms</a:t>
                      </a:r>
                      <a:endParaRPr lang="en-US" sz="14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Individual Member Contribution</a:t>
            </a:r>
            <a:endParaRPr lang="en-US" sz="2400" dirty="0"/>
          </a:p>
        </p:txBody>
      </p:sp>
      <p:graphicFrame>
        <p:nvGraphicFramePr>
          <p:cNvPr id="18" name="member table"/>
          <p:cNvGraphicFramePr>
            <a:graphicFrameLocks noGrp="1"/>
          </p:cNvGraphicFramePr>
          <p:nvPr>
            <p:extLst>
              <p:ext uri="{D42A27DB-BD31-4B8C-83A1-F6EECF244321}">
                <p14:modId xmlns:p14="http://schemas.microsoft.com/office/powerpoint/2010/main" val="1579011935"/>
              </p:ext>
            </p:extLst>
          </p:nvPr>
        </p:nvGraphicFramePr>
        <p:xfrm>
          <a:off x="822960" y="960120"/>
          <a:ext cx="749808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548640">
                <a:tc>
                  <a:txBody>
                    <a:bodyPr/>
                    <a:lstStyle/>
                    <a:p>
                      <a:pPr marL="0" indent="0">
                        <a:buNone/>
                      </a:pPr>
                      <a:r>
                        <a:rPr lang="en-US" sz="1500" b="1" dirty="0">
                          <a:solidFill>
                            <a:schemeClr val="bg1"/>
                          </a:solidFill>
                        </a:rPr>
                        <a:t>Member</a:t>
                      </a:r>
                      <a:endParaRPr lang="en-US" sz="15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500" b="1" dirty="0">
                          <a:solidFill>
                            <a:schemeClr val="bg1"/>
                          </a:solidFill>
                        </a:rPr>
                        <a:t>Contribution or responsibility</a:t>
                      </a:r>
                      <a:endParaRPr lang="en-US" sz="15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1005840">
                <a:tc>
                  <a:txBody>
                    <a:bodyPr/>
                    <a:lstStyle/>
                    <a:p>
                      <a:pPr marL="0" indent="0" algn="ctr">
                        <a:buNone/>
                      </a:pPr>
                      <a:r>
                        <a:rPr lang="en-US" sz="1500" b="1" dirty="0">
                          <a:solidFill>
                            <a:schemeClr val="tx1"/>
                          </a:solidFill>
                        </a:rPr>
                        <a:t>Shasuwanth Veerasekharan</a:t>
                      </a:r>
                      <a:endParaRPr lang="en-US" sz="15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l">
                        <a:buNone/>
                      </a:pPr>
                      <a:r>
                        <a:rPr lang="en-US" sz="1500" dirty="0">
                          <a:solidFill>
                            <a:schemeClr val="tx1"/>
                          </a:solidFill>
                        </a:rPr>
                        <a:t>ML: AI chat helper, demand-aware crop planner, Leaf Doctor model for Phase 2</a:t>
                      </a:r>
                      <a:endParaRPr lang="en-US" sz="15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1005840">
                <a:tc>
                  <a:txBody>
                    <a:bodyPr/>
                    <a:lstStyle/>
                    <a:p>
                      <a:pPr marL="0" indent="0" algn="ctr">
                        <a:buNone/>
                      </a:pPr>
                      <a:r>
                        <a:rPr lang="en-US" sz="1500" b="1" dirty="0">
                          <a:solidFill>
                            <a:schemeClr val="tx1"/>
                          </a:solidFill>
                        </a:rPr>
                        <a:t>Muhil S</a:t>
                      </a:r>
                      <a:endParaRPr lang="en-US" sz="15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tc>
                  <a:txBody>
                    <a:bodyPr/>
                    <a:lstStyle/>
                    <a:p>
                      <a:pPr marL="0" indent="0" algn="l">
                        <a:buNone/>
                      </a:pPr>
                      <a:r>
                        <a:rPr lang="en-US" sz="1500" dirty="0">
                          <a:solidFill>
                            <a:schemeClr val="tx1"/>
                          </a:solidFill>
                        </a:rPr>
                        <a:t>Backend: marketplace orders, escrow, fair-price settlement, database and APIs</a:t>
                      </a:r>
                      <a:endParaRPr lang="en-US" sz="15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extLst>
                  <a:ext uri="{0D108BD9-81ED-4DB2-BD59-A6C34878D82A}">
                    <a16:rowId xmlns:a16="http://schemas.microsoft.com/office/drawing/2014/main" val="10002"/>
                  </a:ext>
                </a:extLst>
              </a:tr>
              <a:tr h="1005840">
                <a:tc>
                  <a:txBody>
                    <a:bodyPr/>
                    <a:lstStyle/>
                    <a:p>
                      <a:pPr marL="0" indent="0" algn="ctr">
                        <a:buNone/>
                      </a:pPr>
                      <a:r>
                        <a:rPr lang="en-US" sz="1500" b="1" dirty="0">
                          <a:solidFill>
                            <a:schemeClr val="tx1"/>
                          </a:solidFill>
                        </a:rPr>
                        <a:t>Moulik Gupta</a:t>
                      </a:r>
                      <a:endParaRPr lang="en-US" sz="15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marL="0" indent="0" algn="l">
                        <a:buNone/>
                      </a:pPr>
                      <a:r>
                        <a:rPr lang="en-US" sz="1500" dirty="0">
                          <a:solidFill>
                            <a:schemeClr val="tx1"/>
                          </a:solidFill>
                        </a:rPr>
                        <a:t>App and UX: Android app, Tamil and voice-first interface, 14 languages</a:t>
                      </a:r>
                      <a:endParaRPr lang="en-US" sz="15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1005840">
                <a:tc>
                  <a:txBody>
                    <a:bodyPr/>
                    <a:lstStyle/>
                    <a:p>
                      <a:pPr marL="0" indent="0" algn="ctr">
                        <a:buNone/>
                      </a:pPr>
                      <a:r>
                        <a:rPr lang="en-US" sz="1500" b="1" dirty="0">
                          <a:solidFill>
                            <a:schemeClr val="tx1"/>
                          </a:solidFill>
                        </a:rPr>
                        <a:t>Aashman Singh</a:t>
                      </a:r>
                      <a:endParaRPr lang="en-US" sz="15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tc>
                  <a:txBody>
                    <a:bodyPr/>
                    <a:lstStyle/>
                    <a:p>
                      <a:pPr marL="0" indent="0" algn="l">
                        <a:buNone/>
                      </a:pPr>
                      <a:r>
                        <a:rPr lang="en-US" sz="1500" dirty="0">
                          <a:solidFill>
                            <a:schemeClr val="tx1"/>
                          </a:solidFill>
                        </a:rPr>
                        <a:t>Field research: farmer and buyer interviews, pilot FPO and hostel-mess partners</a:t>
                      </a:r>
                      <a:endParaRPr lang="en-US" sz="1500" dirty="0"/>
                    </a:p>
                  </a:txBody>
                  <a:tcPr marL="76200" marR="762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5"/>
          <p:cNvSpPr>
            <a:spLocks noGrp="1"/>
          </p:cNvSpPr>
          <p:nvPr>
            <p:ph type="title" idx="106" hasCustomPrompt="1"/>
          </p:nvPr>
        </p:nvSpPr>
        <p:spPr>
          <a:xfrm>
            <a:off x="548640" y="54864"/>
            <a:ext cx="7498080" cy="530352"/>
          </a:xfrm>
          <a:prstGeom prst="rect">
            <a:avLst/>
          </a:prstGeom>
          <a:noFill/>
          <a:ln/>
        </p:spPr>
        <p:txBody>
          <a:bodyPr wrap="square" lIns="0" tIns="0" rIns="0" bIns="0" rtlCol="0" anchor="ctr"/>
          <a:lstStyle/>
          <a:p>
            <a:pPr marL="0" indent="0" algn="l">
              <a:buNone/>
            </a:pPr>
            <a:r>
              <a:rPr lang="en-US" sz="2400" b="1" dirty="0">
                <a:solidFill>
                  <a:schemeClr val="tx2"/>
                </a:solidFill>
              </a:rPr>
              <a:t>Yukti ID</a:t>
            </a:r>
            <a:endParaRPr lang="en-US" sz="2400" dirty="0"/>
          </a:p>
        </p:txBody>
      </p:sp>
      <p:sp>
        <p:nvSpPr>
          <p:cNvPr id="3" name="yukti frame"/>
          <p:cNvSpPr/>
          <p:nvPr/>
        </p:nvSpPr>
        <p:spPr>
          <a:xfrm>
            <a:off x="1828800" y="2560320"/>
            <a:ext cx="5486400" cy="1645920"/>
          </a:xfrm>
          <a:prstGeom prst="roundRect">
            <a:avLst>
              <a:gd name="adj" fmla="val 6667"/>
            </a:avLst>
          </a:prstGeom>
          <a:solidFill>
            <a:schemeClr val="bg1"/>
          </a:solidFill>
          <a:ln w="25400">
            <a:solidFill>
              <a:schemeClr val="accent1"/>
            </a:solidFill>
            <a:prstDash val="solid"/>
          </a:ln>
        </p:spPr>
      </p:sp>
      <p:sp>
        <p:nvSpPr>
          <p:cNvPr id="4" name="yukti tab"/>
          <p:cNvSpPr/>
          <p:nvPr/>
        </p:nvSpPr>
        <p:spPr>
          <a:xfrm>
            <a:off x="3794760" y="2377440"/>
            <a:ext cx="1554480" cy="365760"/>
          </a:xfrm>
          <a:prstGeom prst="roundRect">
            <a:avLst>
              <a:gd name="adj" fmla="val 25000"/>
            </a:avLst>
          </a:prstGeom>
          <a:solidFill>
            <a:schemeClr val="accent1"/>
          </a:solidFill>
          <a:ln w="12700">
            <a:solidFill>
              <a:schemeClr val="accent1"/>
            </a:solidFill>
            <a:prstDash val="solid"/>
          </a:ln>
        </p:spPr>
      </p:sp>
      <p:sp>
        <p:nvSpPr>
          <p:cNvPr id="5" name="yukti tab text"/>
          <p:cNvSpPr txBox="1"/>
          <p:nvPr/>
        </p:nvSpPr>
        <p:spPr>
          <a:xfrm>
            <a:off x="3794760" y="2377440"/>
            <a:ext cx="1554480" cy="365760"/>
          </a:xfrm>
          <a:prstGeom prst="rect">
            <a:avLst/>
          </a:prstGeom>
          <a:noFill/>
          <a:ln/>
        </p:spPr>
        <p:txBody>
          <a:bodyPr wrap="square" lIns="0" tIns="0" rIns="0" bIns="0" rtlCol="0" anchor="ctr"/>
          <a:lstStyle/>
          <a:p>
            <a:pPr marL="0" indent="0" algn="ctr">
              <a:buNone/>
            </a:pPr>
            <a:r>
              <a:rPr lang="en-US" sz="1400" b="1" dirty="0">
                <a:solidFill>
                  <a:schemeClr val="bg1"/>
                </a:solidFill>
              </a:rPr>
              <a:t>Yukti ID</a:t>
            </a:r>
            <a:endParaRPr lang="en-US" sz="1400" dirty="0"/>
          </a:p>
        </p:txBody>
      </p:sp>
      <p:sp>
        <p:nvSpPr>
          <p:cNvPr id="6" name="yukti id"/>
          <p:cNvSpPr txBox="1"/>
          <p:nvPr/>
        </p:nvSpPr>
        <p:spPr>
          <a:xfrm>
            <a:off x="1828800" y="2788920"/>
            <a:ext cx="5486400" cy="1280160"/>
          </a:xfrm>
          <a:prstGeom prst="rect">
            <a:avLst/>
          </a:prstGeom>
          <a:noFill/>
          <a:ln/>
        </p:spPr>
        <p:txBody>
          <a:bodyPr wrap="square" lIns="0" tIns="0" rIns="0" bIns="0" rtlCol="0" anchor="ctr"/>
          <a:lstStyle/>
          <a:p>
            <a:pPr algn="ctr"/>
            <a:r>
              <a:rPr lang="en-IN" sz="4000" dirty="0"/>
              <a:t>IR2026-1051091</a:t>
            </a:r>
            <a:endParaRPr lang="en-US" sz="4000" dirty="0"/>
          </a:p>
        </p:txBody>
      </p:sp>
    </p:spTree>
  </p:cSld>
  <p:clrMapOvr>
    <a:masterClrMapping/>
  </p:clrMapOvr>
</p:sld>
</file>

<file path=ppt/theme/theme1.xml><?xml version="1.0" encoding="utf-8"?>
<a:theme xmlns:a="http://schemas.openxmlformats.org/drawingml/2006/main" name="Genesis Ideathon">
  <a:themeElements>
    <a:clrScheme name="Genesis Ideathon">
      <a:dk1>
        <a:srgbClr val="1A1A1A"/>
      </a:dk1>
      <a:lt1>
        <a:srgbClr val="FFFFFF"/>
      </a:lt1>
      <a:dk2>
        <a:srgbClr val="164B33"/>
      </a:dk2>
      <a:lt2>
        <a:srgbClr val="E1F1E7"/>
      </a:lt2>
      <a:accent1>
        <a:srgbClr val="236946"/>
      </a:accent1>
      <a:accent2>
        <a:srgbClr val="164B33"/>
      </a:accent2>
      <a:accent3>
        <a:srgbClr val="F2F9F4"/>
      </a:accent3>
      <a:accent4>
        <a:srgbClr val="F0F7F2"/>
      </a:accent4>
      <a:accent5>
        <a:srgbClr val="5E7A6B"/>
      </a:accent5>
      <a:accent6>
        <a:srgbClr val="C7DCCD"/>
      </a:accent6>
      <a:hlink>
        <a:srgbClr val="236946"/>
      </a:hlink>
      <a:folHlink>
        <a:srgbClr val="164B33"/>
      </a:folHlink>
    </a:clrScheme>
    <a:fontScheme name="Genesis Ideath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2845</Words>
  <Application>Microsoft Office PowerPoint</Application>
  <PresentationFormat>On-screen Show (4:3)</PresentationFormat>
  <Paragraphs>216</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Genesis Ideathon</vt:lpstr>
      <vt:lpstr>PowerPoint Presentation</vt:lpstr>
      <vt:lpstr>Presentation Outline</vt:lpstr>
      <vt:lpstr>Problem Statement</vt:lpstr>
      <vt:lpstr>Problem Understanding</vt:lpstr>
      <vt:lpstr>Existing Gaps &amp; Challenges</vt:lpstr>
      <vt:lpstr>Our Proposed Solution</vt:lpstr>
      <vt:lpstr>Technical Approach</vt:lpstr>
      <vt:lpstr>Innovation &amp; Uniqueness</vt:lpstr>
      <vt:lpstr>Feasibility &amp; Scalability</vt:lpstr>
      <vt:lpstr>Cost for Product</vt:lpstr>
      <vt:lpstr>Use Cases (1 of 4): Hostel mess pre-buys vegetables</vt:lpstr>
      <vt:lpstr>Use Cases (2 of 4): Small farmer sells before sowing</vt:lpstr>
      <vt:lpstr>Use Cases (3 of 4): Restaurant locks a fair price band</vt:lpstr>
      <vt:lpstr>Use Cases (4 of 4): FPO fills a large order together</vt:lpstr>
      <vt:lpstr>Impacts and Benefits</vt:lpstr>
      <vt:lpstr>Sustainable Development Goals (SDGs)</vt:lpstr>
      <vt:lpstr>Individual Member Contribution</vt:lpstr>
      <vt:lpstr>Yukti ID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FloraVision – Genesis Ideathon Final Presentation</dc:title>
  <dc:subject>PptxGenJS Presentation</dc:subject>
  <dc:creator>Team Comet 502</dc:creator>
  <cp:lastModifiedBy>shasuwanth veerasekharan</cp:lastModifiedBy>
  <cp:revision>2</cp:revision>
  <dcterms:created xsi:type="dcterms:W3CDTF">2026-10-11T06:56:25Z</dcterms:created>
  <dcterms:modified xsi:type="dcterms:W3CDTF">2026-10-11T07:51:48Z</dcterms:modified>
</cp:coreProperties>
</file>